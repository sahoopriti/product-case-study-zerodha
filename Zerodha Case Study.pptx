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Liter" charset="-122" pitchFamily="34"/>
      <p:regular r:id="rId18"/>
    </p:embeddedFont>
    <p:embeddedFont>
      <p:font typeface="Quattrocento 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c814edbb1040ef9c15827677165c98235a0d5656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3135" b="313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87ED1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D09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543050"/>
            <a:ext cx="1704975" cy="619125"/>
          </a:xfrm>
          <a:custGeom>
            <a:avLst/>
            <a:gdLst/>
            <a:ahLst/>
            <a:cxnLst/>
            <a:rect l="l" t="t" r="r" b="b"/>
            <a:pathLst>
              <a:path w="1704975" h="619125">
                <a:moveTo>
                  <a:pt x="309563" y="0"/>
                </a:moveTo>
                <a:lnTo>
                  <a:pt x="1395413" y="0"/>
                </a:lnTo>
                <a:cubicBezTo>
                  <a:pt x="1566265" y="0"/>
                  <a:pt x="1704975" y="138710"/>
                  <a:pt x="1704975" y="309563"/>
                </a:cubicBezTo>
                <a:lnTo>
                  <a:pt x="1704975" y="309563"/>
                </a:lnTo>
                <a:cubicBezTo>
                  <a:pt x="1704975" y="480415"/>
                  <a:pt x="1566265" y="619125"/>
                  <a:pt x="1395413" y="619125"/>
                </a:cubicBezTo>
                <a:lnTo>
                  <a:pt x="309563" y="619125"/>
                </a:lnTo>
                <a:cubicBezTo>
                  <a:pt x="138710" y="619125"/>
                  <a:pt x="0" y="480415"/>
                  <a:pt x="0" y="309563"/>
                </a:cubicBezTo>
                <a:lnTo>
                  <a:pt x="0" y="309563"/>
                </a:lnTo>
                <a:cubicBezTo>
                  <a:pt x="0" y="138710"/>
                  <a:pt x="138710" y="0"/>
                  <a:pt x="309562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2700">
            <a:solidFill>
              <a:srgbClr val="387ED1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1025" y="16621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/>
              </a:gs>
              <a:gs pos="100000">
                <a:srgbClr val="0056B3"/>
              </a:gs>
            </a:gsLst>
            <a:lin ang="2700000" scaled="1"/>
          </a:gradFill>
          <a:ln/>
        </p:spPr>
      </p:sp>
      <p:sp>
        <p:nvSpPr>
          <p:cNvPr id="6" name="Shape 3"/>
          <p:cNvSpPr/>
          <p:nvPr/>
        </p:nvSpPr>
        <p:spPr>
          <a:xfrm>
            <a:off x="688181" y="17668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1076325" y="1719263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34" kern="0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ZERODHA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471738"/>
            <a:ext cx="7505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Case Study 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Zerodha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414838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India's Investment Landscape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9575" y="51292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11" name="Text 8"/>
          <p:cNvSpPr/>
          <p:nvPr/>
        </p:nvSpPr>
        <p:spPr>
          <a:xfrm>
            <a:off x="647700" y="5091113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2E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36154" y="5186363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13" name="Shape 10"/>
          <p:cNvSpPr/>
          <p:nvPr/>
        </p:nvSpPr>
        <p:spPr>
          <a:xfrm>
            <a:off x="1364754" y="512921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14" name="Text 11"/>
          <p:cNvSpPr/>
          <p:nvPr/>
        </p:nvSpPr>
        <p:spPr>
          <a:xfrm>
            <a:off x="1593354" y="5091113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2E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Analysis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696325" y="1800225"/>
            <a:ext cx="2419350" cy="2419350"/>
          </a:xfrm>
          <a:custGeom>
            <a:avLst/>
            <a:gdLst/>
            <a:ahLst/>
            <a:cxnLst/>
            <a:rect l="l" t="t" r="r" b="b"/>
            <a:pathLst>
              <a:path w="2419350" h="2419350">
                <a:moveTo>
                  <a:pt x="1209675" y="0"/>
                </a:moveTo>
                <a:lnTo>
                  <a:pt x="1209675" y="0"/>
                </a:lnTo>
                <a:cubicBezTo>
                  <a:pt x="1877313" y="0"/>
                  <a:pt x="2419350" y="542037"/>
                  <a:pt x="2419350" y="1209675"/>
                </a:cubicBezTo>
                <a:lnTo>
                  <a:pt x="2419350" y="1209675"/>
                </a:lnTo>
                <a:cubicBezTo>
                  <a:pt x="2419350" y="1877313"/>
                  <a:pt x="1877313" y="2419350"/>
                  <a:pt x="1209675" y="2419350"/>
                </a:cubicBezTo>
                <a:lnTo>
                  <a:pt x="1209675" y="2419350"/>
                </a:lnTo>
                <a:cubicBezTo>
                  <a:pt x="542037" y="2419350"/>
                  <a:pt x="0" y="1877313"/>
                  <a:pt x="0" y="1209675"/>
                </a:cubicBezTo>
                <a:lnTo>
                  <a:pt x="0" y="1209675"/>
                </a:lnTo>
                <a:cubicBezTo>
                  <a:pt x="0" y="542037"/>
                  <a:pt x="542037" y="0"/>
                  <a:pt x="1209675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>
                  <a:alpha val="20000"/>
                </a:srgbClr>
              </a:gs>
              <a:gs pos="100000">
                <a:srgbClr val="00D09C">
                  <a:alpha val="20000"/>
                </a:srgbClr>
              </a:gs>
            </a:gsLst>
            <a:lin ang="2700000" scaled="1"/>
          </a:gradFill>
          <a:ln w="25400">
            <a:solidFill>
              <a:srgbClr val="387ED1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91600" y="209550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914400" y="0"/>
                </a:moveTo>
                <a:lnTo>
                  <a:pt x="914400" y="0"/>
                </a:lnTo>
                <a:cubicBezTo>
                  <a:pt x="1419071" y="0"/>
                  <a:pt x="1828800" y="409729"/>
                  <a:pt x="1828800" y="914400"/>
                </a:cubicBezTo>
                <a:lnTo>
                  <a:pt x="1828800" y="914400"/>
                </a:lnTo>
                <a:cubicBezTo>
                  <a:pt x="1828800" y="1419071"/>
                  <a:pt x="1419071" y="1828800"/>
                  <a:pt x="914400" y="1828800"/>
                </a:cubicBezTo>
                <a:lnTo>
                  <a:pt x="914400" y="1828800"/>
                </a:lnTo>
                <a:cubicBezTo>
                  <a:pt x="409729" y="1828800"/>
                  <a:pt x="0" y="1419071"/>
                  <a:pt x="0" y="914400"/>
                </a:cubicBezTo>
                <a:lnTo>
                  <a:pt x="0" y="914400"/>
                </a:lnTo>
                <a:cubicBezTo>
                  <a:pt x="0" y="409729"/>
                  <a:pt x="409729" y="0"/>
                  <a:pt x="914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/>
              </a:gs>
              <a:gs pos="100000">
                <a:srgbClr val="0056B3"/>
              </a:gs>
            </a:gsLst>
            <a:lin ang="2700000" scaled="1"/>
          </a:gradFill>
          <a:ln/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620250" y="27241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142875" y="357188"/>
                </a:moveTo>
                <a:lnTo>
                  <a:pt x="27347" y="357188"/>
                </a:lnTo>
                <a:cubicBezTo>
                  <a:pt x="-446" y="357188"/>
                  <a:pt x="-17525" y="326938"/>
                  <a:pt x="-3237" y="303051"/>
                </a:cubicBezTo>
                <a:lnTo>
                  <a:pt x="55811" y="204601"/>
                </a:lnTo>
                <a:cubicBezTo>
                  <a:pt x="65522" y="188416"/>
                  <a:pt x="82934" y="178594"/>
                  <a:pt x="101798" y="178594"/>
                </a:cubicBezTo>
                <a:lnTo>
                  <a:pt x="207838" y="178594"/>
                </a:lnTo>
                <a:cubicBezTo>
                  <a:pt x="292782" y="34714"/>
                  <a:pt x="419472" y="27459"/>
                  <a:pt x="504192" y="39849"/>
                </a:cubicBezTo>
                <a:cubicBezTo>
                  <a:pt x="518480" y="41970"/>
                  <a:pt x="529642" y="53132"/>
                  <a:pt x="531651" y="67308"/>
                </a:cubicBezTo>
                <a:cubicBezTo>
                  <a:pt x="544041" y="152028"/>
                  <a:pt x="536786" y="278718"/>
                  <a:pt x="392906" y="363662"/>
                </a:cubicBezTo>
                <a:lnTo>
                  <a:pt x="392906" y="469702"/>
                </a:lnTo>
                <a:cubicBezTo>
                  <a:pt x="392906" y="488566"/>
                  <a:pt x="383084" y="505978"/>
                  <a:pt x="366899" y="515689"/>
                </a:cubicBezTo>
                <a:lnTo>
                  <a:pt x="268449" y="574737"/>
                </a:lnTo>
                <a:cubicBezTo>
                  <a:pt x="244673" y="589025"/>
                  <a:pt x="214313" y="571835"/>
                  <a:pt x="214313" y="544153"/>
                </a:cubicBezTo>
                <a:lnTo>
                  <a:pt x="214313" y="428625"/>
                </a:lnTo>
                <a:cubicBezTo>
                  <a:pt x="214313" y="389223"/>
                  <a:pt x="182277" y="357188"/>
                  <a:pt x="142875" y="357188"/>
                </a:cubicBezTo>
                <a:lnTo>
                  <a:pt x="142763" y="357188"/>
                </a:lnTo>
                <a:close/>
                <a:moveTo>
                  <a:pt x="446484" y="178594"/>
                </a:moveTo>
                <a:cubicBezTo>
                  <a:pt x="446484" y="149023"/>
                  <a:pt x="422477" y="125016"/>
                  <a:pt x="392906" y="125016"/>
                </a:cubicBezTo>
                <a:cubicBezTo>
                  <a:pt x="363336" y="125016"/>
                  <a:pt x="339328" y="149023"/>
                  <a:pt x="339328" y="178594"/>
                </a:cubicBezTo>
                <a:cubicBezTo>
                  <a:pt x="339328" y="208164"/>
                  <a:pt x="363336" y="232172"/>
                  <a:pt x="392906" y="232172"/>
                </a:cubicBezTo>
                <a:cubicBezTo>
                  <a:pt x="422477" y="232172"/>
                  <a:pt x="446484" y="208164"/>
                  <a:pt x="446484" y="1785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10668000" y="1638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D09C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844213" y="1828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71438"/>
                </a:moveTo>
                <a:cubicBezTo>
                  <a:pt x="163547" y="71438"/>
                  <a:pt x="157163" y="65053"/>
                  <a:pt x="157163" y="57150"/>
                </a:cubicBezTo>
                <a:cubicBezTo>
                  <a:pt x="157163" y="49247"/>
                  <a:pt x="163547" y="42863"/>
                  <a:pt x="171450" y="42863"/>
                </a:cubicBezTo>
                <a:lnTo>
                  <a:pt x="242888" y="42863"/>
                </a:lnTo>
                <a:cubicBezTo>
                  <a:pt x="250790" y="42863"/>
                  <a:pt x="257175" y="49247"/>
                  <a:pt x="257175" y="57150"/>
                </a:cubicBezTo>
                <a:lnTo>
                  <a:pt x="257175" y="128588"/>
                </a:lnTo>
                <a:cubicBezTo>
                  <a:pt x="257175" y="136490"/>
                  <a:pt x="250790" y="142875"/>
                  <a:pt x="242888" y="142875"/>
                </a:cubicBezTo>
                <a:cubicBezTo>
                  <a:pt x="234985" y="142875"/>
                  <a:pt x="228600" y="136490"/>
                  <a:pt x="228600" y="128588"/>
                </a:cubicBezTo>
                <a:lnTo>
                  <a:pt x="228600" y="91663"/>
                </a:lnTo>
                <a:lnTo>
                  <a:pt x="152966" y="167298"/>
                </a:lnTo>
                <a:cubicBezTo>
                  <a:pt x="147384" y="172879"/>
                  <a:pt x="138321" y="172879"/>
                  <a:pt x="132740" y="167298"/>
                </a:cubicBezTo>
                <a:lnTo>
                  <a:pt x="85725" y="120238"/>
                </a:lnTo>
                <a:lnTo>
                  <a:pt x="24378" y="181541"/>
                </a:lnTo>
                <a:cubicBezTo>
                  <a:pt x="18797" y="187122"/>
                  <a:pt x="9733" y="187122"/>
                  <a:pt x="4152" y="181541"/>
                </a:cubicBezTo>
                <a:cubicBezTo>
                  <a:pt x="-1429" y="175959"/>
                  <a:pt x="-1429" y="166896"/>
                  <a:pt x="4152" y="161315"/>
                </a:cubicBezTo>
                <a:lnTo>
                  <a:pt x="75590" y="89877"/>
                </a:lnTo>
                <a:cubicBezTo>
                  <a:pt x="81171" y="84296"/>
                  <a:pt x="90234" y="84296"/>
                  <a:pt x="95816" y="89877"/>
                </a:cubicBezTo>
                <a:lnTo>
                  <a:pt x="142875" y="136937"/>
                </a:lnTo>
                <a:lnTo>
                  <a:pt x="208374" y="71438"/>
                </a:lnTo>
                <a:lnTo>
                  <a:pt x="171450" y="714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8539163" y="38528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223838" y="0"/>
                </a:moveTo>
                <a:lnTo>
                  <a:pt x="223838" y="0"/>
                </a:lnTo>
                <a:cubicBezTo>
                  <a:pt x="347377" y="0"/>
                  <a:pt x="447675" y="100298"/>
                  <a:pt x="447675" y="223838"/>
                </a:cubicBezTo>
                <a:lnTo>
                  <a:pt x="447675" y="223838"/>
                </a:lnTo>
                <a:cubicBezTo>
                  <a:pt x="447675" y="347377"/>
                  <a:pt x="347377" y="447675"/>
                  <a:pt x="223838" y="447675"/>
                </a:cubicBezTo>
                <a:lnTo>
                  <a:pt x="223838" y="447675"/>
                </a:lnTo>
                <a:cubicBezTo>
                  <a:pt x="100298" y="447675"/>
                  <a:pt x="0" y="347377"/>
                  <a:pt x="0" y="223838"/>
                </a:cubicBezTo>
                <a:lnTo>
                  <a:pt x="0" y="223838"/>
                </a:lnTo>
                <a:cubicBezTo>
                  <a:pt x="0" y="100298"/>
                  <a:pt x="100298" y="0"/>
                  <a:pt x="22383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387ED1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679656" y="3990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32147"/>
                </a:moveTo>
                <a:lnTo>
                  <a:pt x="42863" y="26789"/>
                </a:lnTo>
                <a:cubicBezTo>
                  <a:pt x="42863" y="11988"/>
                  <a:pt x="71661" y="0"/>
                  <a:pt x="107156" y="0"/>
                </a:cubicBezTo>
                <a:cubicBezTo>
                  <a:pt x="142652" y="0"/>
                  <a:pt x="171450" y="11988"/>
                  <a:pt x="171450" y="26789"/>
                </a:cubicBezTo>
                <a:lnTo>
                  <a:pt x="171450" y="32147"/>
                </a:lnTo>
                <a:cubicBezTo>
                  <a:pt x="171450" y="42394"/>
                  <a:pt x="157620" y="51301"/>
                  <a:pt x="137294" y="55822"/>
                </a:cubicBezTo>
                <a:cubicBezTo>
                  <a:pt x="136490" y="54884"/>
                  <a:pt x="135653" y="53980"/>
                  <a:pt x="134816" y="53143"/>
                </a:cubicBezTo>
                <a:cubicBezTo>
                  <a:pt x="129626" y="48019"/>
                  <a:pt x="122928" y="44135"/>
                  <a:pt x="115930" y="41255"/>
                </a:cubicBezTo>
                <a:cubicBezTo>
                  <a:pt x="101899" y="35395"/>
                  <a:pt x="83615" y="32180"/>
                  <a:pt x="64294" y="32180"/>
                </a:cubicBezTo>
                <a:cubicBezTo>
                  <a:pt x="56960" y="32180"/>
                  <a:pt x="49794" y="32649"/>
                  <a:pt x="42929" y="33553"/>
                </a:cubicBezTo>
                <a:cubicBezTo>
                  <a:pt x="42863" y="33118"/>
                  <a:pt x="42863" y="32649"/>
                  <a:pt x="42863" y="32180"/>
                </a:cubicBezTo>
                <a:close/>
                <a:moveTo>
                  <a:pt x="144661" y="118207"/>
                </a:moveTo>
                <a:lnTo>
                  <a:pt x="144661" y="102736"/>
                </a:lnTo>
                <a:cubicBezTo>
                  <a:pt x="149717" y="101430"/>
                  <a:pt x="154472" y="99890"/>
                  <a:pt x="158792" y="98081"/>
                </a:cubicBezTo>
                <a:cubicBezTo>
                  <a:pt x="163212" y="96240"/>
                  <a:pt x="167532" y="93996"/>
                  <a:pt x="171450" y="91284"/>
                </a:cubicBezTo>
                <a:lnTo>
                  <a:pt x="171450" y="96441"/>
                </a:lnTo>
                <a:cubicBezTo>
                  <a:pt x="171450" y="105415"/>
                  <a:pt x="160902" y="113351"/>
                  <a:pt x="144661" y="118207"/>
                </a:cubicBezTo>
                <a:close/>
                <a:moveTo>
                  <a:pt x="144661" y="86060"/>
                </a:moveTo>
                <a:lnTo>
                  <a:pt x="144661" y="75009"/>
                </a:lnTo>
                <a:cubicBezTo>
                  <a:pt x="144661" y="73502"/>
                  <a:pt x="144527" y="72063"/>
                  <a:pt x="144326" y="70656"/>
                </a:cubicBezTo>
                <a:cubicBezTo>
                  <a:pt x="149516" y="69350"/>
                  <a:pt x="154372" y="67776"/>
                  <a:pt x="158792" y="65901"/>
                </a:cubicBezTo>
                <a:cubicBezTo>
                  <a:pt x="163212" y="64026"/>
                  <a:pt x="167532" y="61816"/>
                  <a:pt x="171450" y="59103"/>
                </a:cubicBezTo>
                <a:lnTo>
                  <a:pt x="171450" y="64260"/>
                </a:lnTo>
                <a:cubicBezTo>
                  <a:pt x="171450" y="73235"/>
                  <a:pt x="160902" y="81171"/>
                  <a:pt x="144661" y="86026"/>
                </a:cubicBezTo>
                <a:close/>
                <a:moveTo>
                  <a:pt x="0" y="80367"/>
                </a:moveTo>
                <a:lnTo>
                  <a:pt x="0" y="75009"/>
                </a:lnTo>
                <a:cubicBezTo>
                  <a:pt x="0" y="60208"/>
                  <a:pt x="28798" y="48220"/>
                  <a:pt x="64294" y="48220"/>
                </a:cubicBezTo>
                <a:cubicBezTo>
                  <a:pt x="99789" y="48220"/>
                  <a:pt x="128588" y="60208"/>
                  <a:pt x="128588" y="75009"/>
                </a:cubicBezTo>
                <a:lnTo>
                  <a:pt x="128588" y="80367"/>
                </a:lnTo>
                <a:cubicBezTo>
                  <a:pt x="128588" y="95168"/>
                  <a:pt x="99789" y="107156"/>
                  <a:pt x="64294" y="107156"/>
                </a:cubicBezTo>
                <a:cubicBezTo>
                  <a:pt x="28798" y="107156"/>
                  <a:pt x="0" y="95168"/>
                  <a:pt x="0" y="80367"/>
                </a:cubicBezTo>
                <a:close/>
                <a:moveTo>
                  <a:pt x="128588" y="112514"/>
                </a:moveTo>
                <a:cubicBezTo>
                  <a:pt x="128588" y="127315"/>
                  <a:pt x="99789" y="139303"/>
                  <a:pt x="64294" y="139303"/>
                </a:cubicBezTo>
                <a:cubicBezTo>
                  <a:pt x="28798" y="139303"/>
                  <a:pt x="0" y="127315"/>
                  <a:pt x="0" y="112514"/>
                </a:cubicBezTo>
                <a:lnTo>
                  <a:pt x="0" y="107357"/>
                </a:lnTo>
                <a:cubicBezTo>
                  <a:pt x="3884" y="110070"/>
                  <a:pt x="8204" y="112280"/>
                  <a:pt x="12658" y="114155"/>
                </a:cubicBezTo>
                <a:cubicBezTo>
                  <a:pt x="26689" y="120015"/>
                  <a:pt x="44972" y="123230"/>
                  <a:pt x="64294" y="123230"/>
                </a:cubicBezTo>
                <a:cubicBezTo>
                  <a:pt x="83615" y="123230"/>
                  <a:pt x="101899" y="119982"/>
                  <a:pt x="115930" y="114155"/>
                </a:cubicBezTo>
                <a:cubicBezTo>
                  <a:pt x="120350" y="112313"/>
                  <a:pt x="124670" y="110070"/>
                  <a:pt x="128588" y="107357"/>
                </a:cubicBezTo>
                <a:lnTo>
                  <a:pt x="128588" y="112514"/>
                </a:lnTo>
                <a:close/>
                <a:moveTo>
                  <a:pt x="128588" y="139504"/>
                </a:moveTo>
                <a:lnTo>
                  <a:pt x="128588" y="144661"/>
                </a:lnTo>
                <a:cubicBezTo>
                  <a:pt x="128588" y="159462"/>
                  <a:pt x="99789" y="171450"/>
                  <a:pt x="64294" y="171450"/>
                </a:cubicBezTo>
                <a:cubicBezTo>
                  <a:pt x="28798" y="171450"/>
                  <a:pt x="0" y="159462"/>
                  <a:pt x="0" y="144661"/>
                </a:cubicBezTo>
                <a:lnTo>
                  <a:pt x="0" y="139504"/>
                </a:lnTo>
                <a:cubicBezTo>
                  <a:pt x="3884" y="142216"/>
                  <a:pt x="8204" y="144427"/>
                  <a:pt x="12658" y="146302"/>
                </a:cubicBezTo>
                <a:cubicBezTo>
                  <a:pt x="26689" y="152162"/>
                  <a:pt x="44972" y="155377"/>
                  <a:pt x="64294" y="155377"/>
                </a:cubicBezTo>
                <a:cubicBezTo>
                  <a:pt x="83615" y="155377"/>
                  <a:pt x="101899" y="152128"/>
                  <a:pt x="115930" y="146302"/>
                </a:cubicBezTo>
                <a:cubicBezTo>
                  <a:pt x="120350" y="144460"/>
                  <a:pt x="124670" y="142216"/>
                  <a:pt x="128588" y="139504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22" name="Text 19"/>
          <p:cNvSpPr/>
          <p:nvPr/>
        </p:nvSpPr>
        <p:spPr>
          <a:xfrm>
            <a:off x="8682186" y="453390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Trading Platform to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677424" y="48006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Wealth Creation Companion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474766"/>
            <a:ext cx="379813" cy="379813"/>
          </a:xfrm>
          <a:custGeom>
            <a:avLst/>
            <a:gdLst/>
            <a:ahLst/>
            <a:cxnLst/>
            <a:rect l="l" t="t" r="r" b="b"/>
            <a:pathLst>
              <a:path w="379813" h="379813">
                <a:moveTo>
                  <a:pt x="75963" y="0"/>
                </a:moveTo>
                <a:lnTo>
                  <a:pt x="303850" y="0"/>
                </a:lnTo>
                <a:cubicBezTo>
                  <a:pt x="345775" y="0"/>
                  <a:pt x="379813" y="34038"/>
                  <a:pt x="379813" y="75963"/>
                </a:cubicBezTo>
                <a:lnTo>
                  <a:pt x="379813" y="303850"/>
                </a:lnTo>
                <a:cubicBezTo>
                  <a:pt x="379813" y="345775"/>
                  <a:pt x="345775" y="379813"/>
                  <a:pt x="303850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3" name="Shape 1"/>
          <p:cNvSpPr/>
          <p:nvPr/>
        </p:nvSpPr>
        <p:spPr>
          <a:xfrm>
            <a:off x="486636" y="579215"/>
            <a:ext cx="170916" cy="170916"/>
          </a:xfrm>
          <a:custGeom>
            <a:avLst/>
            <a:gdLst/>
            <a:ahLst/>
            <a:cxnLst/>
            <a:rect l="l" t="t" r="r" b="b"/>
            <a:pathLst>
              <a:path w="170916" h="170916">
                <a:moveTo>
                  <a:pt x="85458" y="0"/>
                </a:moveTo>
                <a:cubicBezTo>
                  <a:pt x="90365" y="0"/>
                  <a:pt x="94872" y="2704"/>
                  <a:pt x="97208" y="7010"/>
                </a:cubicBezTo>
                <a:lnTo>
                  <a:pt x="169314" y="140538"/>
                </a:lnTo>
                <a:cubicBezTo>
                  <a:pt x="171550" y="144678"/>
                  <a:pt x="171450" y="149685"/>
                  <a:pt x="169046" y="153724"/>
                </a:cubicBezTo>
                <a:cubicBezTo>
                  <a:pt x="166643" y="157763"/>
                  <a:pt x="162270" y="160234"/>
                  <a:pt x="157563" y="160234"/>
                </a:cubicBezTo>
                <a:lnTo>
                  <a:pt x="13353" y="160234"/>
                </a:lnTo>
                <a:cubicBezTo>
                  <a:pt x="8646" y="160234"/>
                  <a:pt x="4306" y="157763"/>
                  <a:pt x="1869" y="153724"/>
                </a:cubicBezTo>
                <a:cubicBezTo>
                  <a:pt x="-567" y="149685"/>
                  <a:pt x="-634" y="144678"/>
                  <a:pt x="1602" y="140538"/>
                </a:cubicBezTo>
                <a:lnTo>
                  <a:pt x="73707" y="7010"/>
                </a:lnTo>
                <a:cubicBezTo>
                  <a:pt x="76044" y="2704"/>
                  <a:pt x="80551" y="0"/>
                  <a:pt x="85458" y="0"/>
                </a:cubicBezTo>
                <a:close/>
                <a:moveTo>
                  <a:pt x="85458" y="56082"/>
                </a:moveTo>
                <a:cubicBezTo>
                  <a:pt x="81018" y="56082"/>
                  <a:pt x="77446" y="59654"/>
                  <a:pt x="77446" y="64093"/>
                </a:cubicBezTo>
                <a:lnTo>
                  <a:pt x="77446" y="101481"/>
                </a:lnTo>
                <a:cubicBezTo>
                  <a:pt x="77446" y="105921"/>
                  <a:pt x="81018" y="109493"/>
                  <a:pt x="85458" y="109493"/>
                </a:cubicBezTo>
                <a:cubicBezTo>
                  <a:pt x="89898" y="109493"/>
                  <a:pt x="93470" y="105921"/>
                  <a:pt x="93470" y="101481"/>
                </a:cubicBezTo>
                <a:lnTo>
                  <a:pt x="93470" y="64093"/>
                </a:lnTo>
                <a:cubicBezTo>
                  <a:pt x="93470" y="59654"/>
                  <a:pt x="89898" y="56082"/>
                  <a:pt x="85458" y="56082"/>
                </a:cubicBezTo>
                <a:close/>
                <a:moveTo>
                  <a:pt x="94371" y="128187"/>
                </a:moveTo>
                <a:cubicBezTo>
                  <a:pt x="94574" y="124879"/>
                  <a:pt x="92924" y="121731"/>
                  <a:pt x="90088" y="120015"/>
                </a:cubicBezTo>
                <a:cubicBezTo>
                  <a:pt x="87252" y="118300"/>
                  <a:pt x="83698" y="118300"/>
                  <a:pt x="80862" y="120015"/>
                </a:cubicBezTo>
                <a:cubicBezTo>
                  <a:pt x="78025" y="121731"/>
                  <a:pt x="76376" y="124879"/>
                  <a:pt x="76578" y="128187"/>
                </a:cubicBezTo>
                <a:cubicBezTo>
                  <a:pt x="76376" y="131495"/>
                  <a:pt x="78025" y="134643"/>
                  <a:pt x="80862" y="136358"/>
                </a:cubicBezTo>
                <a:cubicBezTo>
                  <a:pt x="83698" y="138074"/>
                  <a:pt x="87252" y="138074"/>
                  <a:pt x="90088" y="136358"/>
                </a:cubicBezTo>
                <a:cubicBezTo>
                  <a:pt x="92924" y="134643"/>
                  <a:pt x="94574" y="131495"/>
                  <a:pt x="94371" y="12818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73570" y="379813"/>
            <a:ext cx="342781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spc="60" kern="0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3570" y="607701"/>
            <a:ext cx="3494280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3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India's Investment Paradox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561" y="1106206"/>
            <a:ext cx="6675215" cy="2183925"/>
          </a:xfrm>
          <a:custGeom>
            <a:avLst/>
            <a:gdLst/>
            <a:ahLst/>
            <a:cxnLst/>
            <a:rect l="l" t="t" r="r" b="b"/>
            <a:pathLst>
              <a:path w="6675215" h="2183925">
                <a:moveTo>
                  <a:pt x="113935" y="0"/>
                </a:moveTo>
                <a:lnTo>
                  <a:pt x="6561280" y="0"/>
                </a:lnTo>
                <a:cubicBezTo>
                  <a:pt x="6624204" y="0"/>
                  <a:pt x="6675215" y="51011"/>
                  <a:pt x="6675215" y="113935"/>
                </a:cubicBezTo>
                <a:lnTo>
                  <a:pt x="6675215" y="2069990"/>
                </a:lnTo>
                <a:cubicBezTo>
                  <a:pt x="6675215" y="2132915"/>
                  <a:pt x="6624204" y="2183925"/>
                  <a:pt x="6561280" y="2183925"/>
                </a:cubicBezTo>
                <a:lnTo>
                  <a:pt x="113935" y="2183925"/>
                </a:lnTo>
                <a:cubicBezTo>
                  <a:pt x="51011" y="2183925"/>
                  <a:pt x="0" y="2132915"/>
                  <a:pt x="0" y="2069990"/>
                </a:cubicBezTo>
                <a:lnTo>
                  <a:pt x="0" y="113935"/>
                </a:lnTo>
                <a:cubicBezTo>
                  <a:pt x="0" y="51011"/>
                  <a:pt x="51011" y="0"/>
                  <a:pt x="11393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486" dist="9495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1234" y="1780374"/>
            <a:ext cx="645682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Core 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234" y="2122206"/>
            <a:ext cx="6437832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 has one of the world's largest capital markets, yet </a:t>
            </a:r>
            <a:pPr>
              <a:lnSpc>
                <a:spcPct val="140000"/>
              </a:lnSpc>
            </a:pPr>
            <a:r>
              <a:rPr lang="en-US" sz="1196" b="1" dirty="0">
                <a:solidFill>
                  <a:srgbClr val="387ED1"/>
                </a:solidFill>
                <a:highlight>
                  <a:srgbClr val="387ED1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85-86% of Indians </a:t>
            </a:r>
            <a:pPr>
              <a:lnSpc>
                <a:spcPct val="140000"/>
              </a:lnSpc>
            </a:pPr>
            <a:r>
              <a:rPr lang="en-US" sz="119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 to park their savings in low-return instruments, missing out on wealth creation opportunities.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561" y="3451551"/>
            <a:ext cx="6675215" cy="2183925"/>
          </a:xfrm>
          <a:custGeom>
            <a:avLst/>
            <a:gdLst/>
            <a:ahLst/>
            <a:cxnLst/>
            <a:rect l="l" t="t" r="r" b="b"/>
            <a:pathLst>
              <a:path w="6675215" h="2183925">
                <a:moveTo>
                  <a:pt x="113935" y="0"/>
                </a:moveTo>
                <a:lnTo>
                  <a:pt x="6561280" y="0"/>
                </a:lnTo>
                <a:cubicBezTo>
                  <a:pt x="6624204" y="0"/>
                  <a:pt x="6675215" y="51011"/>
                  <a:pt x="6675215" y="113935"/>
                </a:cubicBezTo>
                <a:lnTo>
                  <a:pt x="6675215" y="2069990"/>
                </a:lnTo>
                <a:cubicBezTo>
                  <a:pt x="6675215" y="2132915"/>
                  <a:pt x="6624204" y="2183925"/>
                  <a:pt x="6561280" y="2183925"/>
                </a:cubicBezTo>
                <a:lnTo>
                  <a:pt x="113935" y="2183925"/>
                </a:lnTo>
                <a:cubicBezTo>
                  <a:pt x="51011" y="2183925"/>
                  <a:pt x="0" y="2132915"/>
                  <a:pt x="0" y="2069990"/>
                </a:cubicBezTo>
                <a:lnTo>
                  <a:pt x="0" y="113935"/>
                </a:lnTo>
                <a:cubicBezTo>
                  <a:pt x="0" y="51011"/>
                  <a:pt x="51011" y="0"/>
                  <a:pt x="11393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486" dist="9495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1234" y="3821869"/>
            <a:ext cx="645682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Inflation Trap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1234" y="4163701"/>
            <a:ext cx="6437832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Despite growing income levels, investors struggle to beat inflation over the long term, resulting in </a:t>
            </a:r>
            <a:pPr>
              <a:lnSpc>
                <a:spcPct val="140000"/>
              </a:lnSpc>
            </a:pPr>
            <a:r>
              <a:rPr lang="en-US" sz="1196" b="1" dirty="0">
                <a:solidFill>
                  <a:srgbClr val="FFA726"/>
                </a:solidFill>
                <a:highlight>
                  <a:srgbClr val="FFA726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wealth erosion </a:t>
            </a:r>
            <a:pPr>
              <a:lnSpc>
                <a:spcPct val="140000"/>
              </a:lnSpc>
            </a:pPr>
            <a:r>
              <a:rPr lang="en-US" sz="119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rather than creation.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234" y="4733421"/>
            <a:ext cx="6361869" cy="531738"/>
          </a:xfrm>
          <a:custGeom>
            <a:avLst/>
            <a:gdLst/>
            <a:ahLst/>
            <a:cxnLst/>
            <a:rect l="l" t="t" r="r" b="b"/>
            <a:pathLst>
              <a:path w="6361869" h="531738">
                <a:moveTo>
                  <a:pt x="75964" y="0"/>
                </a:moveTo>
                <a:lnTo>
                  <a:pt x="6285905" y="0"/>
                </a:lnTo>
                <a:cubicBezTo>
                  <a:pt x="6327859" y="0"/>
                  <a:pt x="6361869" y="34010"/>
                  <a:pt x="6361869" y="75964"/>
                </a:cubicBezTo>
                <a:lnTo>
                  <a:pt x="6361869" y="455774"/>
                </a:lnTo>
                <a:cubicBezTo>
                  <a:pt x="6361869" y="497728"/>
                  <a:pt x="6327859" y="531738"/>
                  <a:pt x="6285905" y="531738"/>
                </a:cubicBezTo>
                <a:lnTo>
                  <a:pt x="75964" y="531738"/>
                </a:lnTo>
                <a:cubicBezTo>
                  <a:pt x="34038" y="531738"/>
                  <a:pt x="0" y="497700"/>
                  <a:pt x="0" y="455774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187" y="4837869"/>
            <a:ext cx="132935" cy="132935"/>
          </a:xfrm>
          <a:custGeom>
            <a:avLst/>
            <a:gdLst/>
            <a:ahLst/>
            <a:cxnLst/>
            <a:rect l="l" t="t" r="r" b="b"/>
            <a:pathLst>
              <a:path w="132935" h="132935">
                <a:moveTo>
                  <a:pt x="66467" y="132935"/>
                </a:moveTo>
                <a:cubicBezTo>
                  <a:pt x="103152" y="132935"/>
                  <a:pt x="132935" y="103152"/>
                  <a:pt x="132935" y="66467"/>
                </a:cubicBezTo>
                <a:cubicBezTo>
                  <a:pt x="132935" y="29783"/>
                  <a:pt x="103152" y="0"/>
                  <a:pt x="66467" y="0"/>
                </a:cubicBezTo>
                <a:cubicBezTo>
                  <a:pt x="29783" y="0"/>
                  <a:pt x="0" y="29783"/>
                  <a:pt x="0" y="66467"/>
                </a:cubicBezTo>
                <a:cubicBezTo>
                  <a:pt x="0" y="103152"/>
                  <a:pt x="29783" y="132935"/>
                  <a:pt x="66467" y="132935"/>
                </a:cubicBezTo>
                <a:close/>
                <a:moveTo>
                  <a:pt x="58159" y="41542"/>
                </a:moveTo>
                <a:cubicBezTo>
                  <a:pt x="58159" y="36957"/>
                  <a:pt x="61882" y="33234"/>
                  <a:pt x="66467" y="33234"/>
                </a:cubicBezTo>
                <a:cubicBezTo>
                  <a:pt x="71053" y="33234"/>
                  <a:pt x="74776" y="36957"/>
                  <a:pt x="74776" y="41542"/>
                </a:cubicBezTo>
                <a:cubicBezTo>
                  <a:pt x="74776" y="46128"/>
                  <a:pt x="71053" y="49850"/>
                  <a:pt x="66467" y="49850"/>
                </a:cubicBezTo>
                <a:cubicBezTo>
                  <a:pt x="61882" y="49850"/>
                  <a:pt x="58159" y="46128"/>
                  <a:pt x="58159" y="41542"/>
                </a:cubicBezTo>
                <a:close/>
                <a:moveTo>
                  <a:pt x="56082" y="58159"/>
                </a:moveTo>
                <a:lnTo>
                  <a:pt x="68544" y="58159"/>
                </a:lnTo>
                <a:cubicBezTo>
                  <a:pt x="71998" y="58159"/>
                  <a:pt x="74776" y="60937"/>
                  <a:pt x="74776" y="64390"/>
                </a:cubicBezTo>
                <a:lnTo>
                  <a:pt x="74776" y="87238"/>
                </a:lnTo>
                <a:lnTo>
                  <a:pt x="76853" y="87238"/>
                </a:lnTo>
                <a:cubicBezTo>
                  <a:pt x="80306" y="87238"/>
                  <a:pt x="83084" y="90016"/>
                  <a:pt x="83084" y="93470"/>
                </a:cubicBezTo>
                <a:cubicBezTo>
                  <a:pt x="83084" y="96923"/>
                  <a:pt x="80306" y="99701"/>
                  <a:pt x="76853" y="99701"/>
                </a:cubicBezTo>
                <a:lnTo>
                  <a:pt x="56082" y="99701"/>
                </a:lnTo>
                <a:cubicBezTo>
                  <a:pt x="52629" y="99701"/>
                  <a:pt x="49850" y="96923"/>
                  <a:pt x="49850" y="93470"/>
                </a:cubicBezTo>
                <a:cubicBezTo>
                  <a:pt x="49850" y="90016"/>
                  <a:pt x="52629" y="87238"/>
                  <a:pt x="56082" y="87238"/>
                </a:cubicBezTo>
                <a:lnTo>
                  <a:pt x="62313" y="87238"/>
                </a:lnTo>
                <a:lnTo>
                  <a:pt x="62313" y="70621"/>
                </a:lnTo>
                <a:lnTo>
                  <a:pt x="56082" y="70621"/>
                </a:lnTo>
                <a:cubicBezTo>
                  <a:pt x="52629" y="70621"/>
                  <a:pt x="49850" y="67843"/>
                  <a:pt x="49850" y="64390"/>
                </a:cubicBezTo>
                <a:cubicBezTo>
                  <a:pt x="49850" y="60937"/>
                  <a:pt x="52629" y="58159"/>
                  <a:pt x="56082" y="58159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14" name="Text 12"/>
          <p:cNvSpPr/>
          <p:nvPr/>
        </p:nvSpPr>
        <p:spPr>
          <a:xfrm>
            <a:off x="844907" y="4809383"/>
            <a:ext cx="6048701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Returns: After inflation, FDs barely preserve purchasing power, while equities historically deliver 12-15% returns.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54875" y="1106206"/>
            <a:ext cx="4548262" cy="2250393"/>
          </a:xfrm>
          <a:custGeom>
            <a:avLst/>
            <a:gdLst/>
            <a:ahLst/>
            <a:cxnLst/>
            <a:rect l="l" t="t" r="r" b="b"/>
            <a:pathLst>
              <a:path w="4548262" h="2250393">
                <a:moveTo>
                  <a:pt x="113937" y="0"/>
                </a:moveTo>
                <a:lnTo>
                  <a:pt x="4434324" y="0"/>
                </a:lnTo>
                <a:cubicBezTo>
                  <a:pt x="4497250" y="0"/>
                  <a:pt x="4548262" y="51011"/>
                  <a:pt x="4548262" y="113937"/>
                </a:cubicBezTo>
                <a:lnTo>
                  <a:pt x="4548262" y="2136455"/>
                </a:lnTo>
                <a:cubicBezTo>
                  <a:pt x="4548262" y="2199381"/>
                  <a:pt x="4497250" y="2250393"/>
                  <a:pt x="4434324" y="2250393"/>
                </a:cubicBezTo>
                <a:lnTo>
                  <a:pt x="113937" y="2250393"/>
                </a:lnTo>
                <a:cubicBezTo>
                  <a:pt x="51011" y="2250393"/>
                  <a:pt x="0" y="2199381"/>
                  <a:pt x="0" y="2136455"/>
                </a:cubicBezTo>
                <a:lnTo>
                  <a:pt x="0" y="113937"/>
                </a:lnTo>
                <a:cubicBezTo>
                  <a:pt x="0" y="51054"/>
                  <a:pt x="51054" y="0"/>
                  <a:pt x="11393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486" dist="9495" dir="540000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11548" y="1262879"/>
            <a:ext cx="432037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Overview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11548" y="1642692"/>
            <a:ext cx="2060486" cy="721645"/>
          </a:xfrm>
          <a:custGeom>
            <a:avLst/>
            <a:gdLst/>
            <a:ahLst/>
            <a:cxnLst/>
            <a:rect l="l" t="t" r="r" b="b"/>
            <a:pathLst>
              <a:path w="2060486" h="721645">
                <a:moveTo>
                  <a:pt x="75960" y="0"/>
                </a:moveTo>
                <a:lnTo>
                  <a:pt x="1984526" y="0"/>
                </a:lnTo>
                <a:cubicBezTo>
                  <a:pt x="2026477" y="0"/>
                  <a:pt x="2060486" y="34009"/>
                  <a:pt x="2060486" y="75960"/>
                </a:cubicBezTo>
                <a:lnTo>
                  <a:pt x="2060486" y="645685"/>
                </a:lnTo>
                <a:cubicBezTo>
                  <a:pt x="2060486" y="687636"/>
                  <a:pt x="2026477" y="721645"/>
                  <a:pt x="1984526" y="721645"/>
                </a:cubicBezTo>
                <a:lnTo>
                  <a:pt x="75960" y="721645"/>
                </a:lnTo>
                <a:cubicBezTo>
                  <a:pt x="34009" y="721645"/>
                  <a:pt x="0" y="687636"/>
                  <a:pt x="0" y="645685"/>
                </a:cubicBezTo>
                <a:lnTo>
                  <a:pt x="0" y="75960"/>
                </a:lnTo>
                <a:cubicBezTo>
                  <a:pt x="0" y="34037"/>
                  <a:pt x="34037" y="0"/>
                  <a:pt x="7596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>
                  <a:alpha val="10000"/>
                </a:srgbClr>
              </a:gs>
              <a:gs pos="100000">
                <a:srgbClr val="387ED1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7468520" y="1756636"/>
            <a:ext cx="1946542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94" b="1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₹280L Cr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2258" y="2060486"/>
            <a:ext cx="189906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Market Cap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85978" y="1642692"/>
            <a:ext cx="2060486" cy="721645"/>
          </a:xfrm>
          <a:custGeom>
            <a:avLst/>
            <a:gdLst/>
            <a:ahLst/>
            <a:cxnLst/>
            <a:rect l="l" t="t" r="r" b="b"/>
            <a:pathLst>
              <a:path w="2060486" h="721645">
                <a:moveTo>
                  <a:pt x="75960" y="0"/>
                </a:moveTo>
                <a:lnTo>
                  <a:pt x="1984526" y="0"/>
                </a:lnTo>
                <a:cubicBezTo>
                  <a:pt x="2026477" y="0"/>
                  <a:pt x="2060486" y="34009"/>
                  <a:pt x="2060486" y="75960"/>
                </a:cubicBezTo>
                <a:lnTo>
                  <a:pt x="2060486" y="645685"/>
                </a:lnTo>
                <a:cubicBezTo>
                  <a:pt x="2060486" y="687636"/>
                  <a:pt x="2026477" y="721645"/>
                  <a:pt x="1984526" y="721645"/>
                </a:cubicBezTo>
                <a:lnTo>
                  <a:pt x="75960" y="721645"/>
                </a:lnTo>
                <a:cubicBezTo>
                  <a:pt x="34009" y="721645"/>
                  <a:pt x="0" y="687636"/>
                  <a:pt x="0" y="645685"/>
                </a:cubicBezTo>
                <a:lnTo>
                  <a:pt x="0" y="75960"/>
                </a:lnTo>
                <a:cubicBezTo>
                  <a:pt x="0" y="34037"/>
                  <a:pt x="34037" y="0"/>
                  <a:pt x="7596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09C">
                  <a:alpha val="10000"/>
                </a:srgbClr>
              </a:gs>
              <a:gs pos="100000">
                <a:srgbClr val="00D09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9642950" y="1756636"/>
            <a:ext cx="1946542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94" b="1" dirty="0">
                <a:solidFill>
                  <a:srgbClr val="00D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₹50L Cr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66688" y="2060486"/>
            <a:ext cx="189906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Mutual Fund AUM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11548" y="2478280"/>
            <a:ext cx="2060486" cy="721645"/>
          </a:xfrm>
          <a:custGeom>
            <a:avLst/>
            <a:gdLst/>
            <a:ahLst/>
            <a:cxnLst/>
            <a:rect l="l" t="t" r="r" b="b"/>
            <a:pathLst>
              <a:path w="2060486" h="721645">
                <a:moveTo>
                  <a:pt x="75960" y="0"/>
                </a:moveTo>
                <a:lnTo>
                  <a:pt x="1984526" y="0"/>
                </a:lnTo>
                <a:cubicBezTo>
                  <a:pt x="2026477" y="0"/>
                  <a:pt x="2060486" y="34009"/>
                  <a:pt x="2060486" y="75960"/>
                </a:cubicBezTo>
                <a:lnTo>
                  <a:pt x="2060486" y="645685"/>
                </a:lnTo>
                <a:cubicBezTo>
                  <a:pt x="2060486" y="687636"/>
                  <a:pt x="2026477" y="721645"/>
                  <a:pt x="1984526" y="721645"/>
                </a:cubicBezTo>
                <a:lnTo>
                  <a:pt x="75960" y="721645"/>
                </a:lnTo>
                <a:cubicBezTo>
                  <a:pt x="34009" y="721645"/>
                  <a:pt x="0" y="687636"/>
                  <a:pt x="0" y="645685"/>
                </a:cubicBezTo>
                <a:lnTo>
                  <a:pt x="0" y="75960"/>
                </a:lnTo>
                <a:cubicBezTo>
                  <a:pt x="0" y="34037"/>
                  <a:pt x="34037" y="0"/>
                  <a:pt x="7596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726">
                  <a:alpha val="10000"/>
                </a:srgbClr>
              </a:gs>
              <a:gs pos="100000">
                <a:srgbClr val="FFA726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7468520" y="2592224"/>
            <a:ext cx="1946542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94" b="1" dirty="0">
                <a:solidFill>
                  <a:srgbClr val="FFA7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6-7%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2258" y="2896075"/>
            <a:ext cx="189906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Inflation Rate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85978" y="2478280"/>
            <a:ext cx="2060486" cy="721645"/>
          </a:xfrm>
          <a:custGeom>
            <a:avLst/>
            <a:gdLst/>
            <a:ahLst/>
            <a:cxnLst/>
            <a:rect l="l" t="t" r="r" b="b"/>
            <a:pathLst>
              <a:path w="2060486" h="721645">
                <a:moveTo>
                  <a:pt x="75960" y="0"/>
                </a:moveTo>
                <a:lnTo>
                  <a:pt x="1984526" y="0"/>
                </a:lnTo>
                <a:cubicBezTo>
                  <a:pt x="2026477" y="0"/>
                  <a:pt x="2060486" y="34009"/>
                  <a:pt x="2060486" y="75960"/>
                </a:cubicBezTo>
                <a:lnTo>
                  <a:pt x="2060486" y="645685"/>
                </a:lnTo>
                <a:cubicBezTo>
                  <a:pt x="2060486" y="687636"/>
                  <a:pt x="2026477" y="721645"/>
                  <a:pt x="1984526" y="721645"/>
                </a:cubicBezTo>
                <a:lnTo>
                  <a:pt x="75960" y="721645"/>
                </a:lnTo>
                <a:cubicBezTo>
                  <a:pt x="34009" y="721645"/>
                  <a:pt x="0" y="687636"/>
                  <a:pt x="0" y="645685"/>
                </a:cubicBezTo>
                <a:lnTo>
                  <a:pt x="0" y="75960"/>
                </a:lnTo>
                <a:cubicBezTo>
                  <a:pt x="0" y="34037"/>
                  <a:pt x="34037" y="0"/>
                  <a:pt x="7596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1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9642950" y="2592224"/>
            <a:ext cx="1946542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9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5-6%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66688" y="2896075"/>
            <a:ext cx="189906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FD Returns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54875" y="3518019"/>
            <a:ext cx="4548262" cy="2117458"/>
          </a:xfrm>
          <a:custGeom>
            <a:avLst/>
            <a:gdLst/>
            <a:ahLst/>
            <a:cxnLst/>
            <a:rect l="l" t="t" r="r" b="b"/>
            <a:pathLst>
              <a:path w="4548262" h="2117458">
                <a:moveTo>
                  <a:pt x="113940" y="0"/>
                </a:moveTo>
                <a:lnTo>
                  <a:pt x="4434321" y="0"/>
                </a:lnTo>
                <a:cubicBezTo>
                  <a:pt x="4497249" y="0"/>
                  <a:pt x="4548262" y="51013"/>
                  <a:pt x="4548262" y="113940"/>
                </a:cubicBezTo>
                <a:lnTo>
                  <a:pt x="4548262" y="2003518"/>
                </a:lnTo>
                <a:cubicBezTo>
                  <a:pt x="4548262" y="2066445"/>
                  <a:pt x="4497249" y="2117458"/>
                  <a:pt x="4434321" y="2117458"/>
                </a:cubicBezTo>
                <a:lnTo>
                  <a:pt x="113940" y="2117458"/>
                </a:lnTo>
                <a:cubicBezTo>
                  <a:pt x="51013" y="2117458"/>
                  <a:pt x="0" y="2066445"/>
                  <a:pt x="0" y="2003518"/>
                </a:cubicBezTo>
                <a:lnTo>
                  <a:pt x="0" y="113940"/>
                </a:lnTo>
                <a:cubicBezTo>
                  <a:pt x="0" y="51055"/>
                  <a:pt x="51055" y="0"/>
                  <a:pt x="11394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486" dist="9495" dir="5400000">
              <a:srgbClr val="000000">
                <a:alpha val="10196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11548" y="3674692"/>
            <a:ext cx="432037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Participation Gap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11548" y="4073495"/>
            <a:ext cx="108246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Investors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19617" y="4054505"/>
            <a:ext cx="408299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~3%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11548" y="4358355"/>
            <a:ext cx="4234916" cy="94953"/>
          </a:xfrm>
          <a:custGeom>
            <a:avLst/>
            <a:gdLst/>
            <a:ahLst/>
            <a:cxnLst/>
            <a:rect l="l" t="t" r="r" b="b"/>
            <a:pathLst>
              <a:path w="4234916" h="94953">
                <a:moveTo>
                  <a:pt x="47477" y="0"/>
                </a:moveTo>
                <a:lnTo>
                  <a:pt x="4187439" y="0"/>
                </a:lnTo>
                <a:cubicBezTo>
                  <a:pt x="4213660" y="0"/>
                  <a:pt x="4234916" y="21256"/>
                  <a:pt x="4234916" y="47477"/>
                </a:cubicBezTo>
                <a:lnTo>
                  <a:pt x="4234916" y="47477"/>
                </a:lnTo>
                <a:cubicBezTo>
                  <a:pt x="4234916" y="73697"/>
                  <a:pt x="4213660" y="94953"/>
                  <a:pt x="4187439" y="94953"/>
                </a:cubicBezTo>
                <a:lnTo>
                  <a:pt x="47477" y="94953"/>
                </a:lnTo>
                <a:cubicBezTo>
                  <a:pt x="21274" y="94953"/>
                  <a:pt x="0" y="73680"/>
                  <a:pt x="0" y="47477"/>
                </a:cubicBezTo>
                <a:lnTo>
                  <a:pt x="0" y="47477"/>
                </a:lnTo>
                <a:cubicBezTo>
                  <a:pt x="0" y="21274"/>
                  <a:pt x="21274" y="0"/>
                  <a:pt x="47477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7411548" y="4358355"/>
            <a:ext cx="123439" cy="94953"/>
          </a:xfrm>
          <a:custGeom>
            <a:avLst/>
            <a:gdLst/>
            <a:ahLst/>
            <a:cxnLst/>
            <a:rect l="l" t="t" r="r" b="b"/>
            <a:pathLst>
              <a:path w="123439" h="94953">
                <a:moveTo>
                  <a:pt x="47477" y="0"/>
                </a:moveTo>
                <a:lnTo>
                  <a:pt x="75963" y="0"/>
                </a:lnTo>
                <a:cubicBezTo>
                  <a:pt x="102183" y="0"/>
                  <a:pt x="123439" y="21256"/>
                  <a:pt x="123439" y="47477"/>
                </a:cubicBezTo>
                <a:lnTo>
                  <a:pt x="123439" y="47477"/>
                </a:lnTo>
                <a:cubicBezTo>
                  <a:pt x="123439" y="73697"/>
                  <a:pt x="102183" y="94953"/>
                  <a:pt x="75963" y="94953"/>
                </a:cubicBezTo>
                <a:lnTo>
                  <a:pt x="47477" y="94953"/>
                </a:lnTo>
                <a:cubicBezTo>
                  <a:pt x="21274" y="94953"/>
                  <a:pt x="0" y="73680"/>
                  <a:pt x="0" y="47477"/>
                </a:cubicBezTo>
                <a:lnTo>
                  <a:pt x="0" y="47477"/>
                </a:lnTo>
                <a:cubicBezTo>
                  <a:pt x="0" y="21274"/>
                  <a:pt x="21274" y="0"/>
                  <a:pt x="47477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35" name="Text 33"/>
          <p:cNvSpPr/>
          <p:nvPr/>
        </p:nvSpPr>
        <p:spPr>
          <a:xfrm>
            <a:off x="7411548" y="4586243"/>
            <a:ext cx="152874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Mutual Fund Investors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07161" y="4567252"/>
            <a:ext cx="72164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00D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~10-12%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11548" y="4871103"/>
            <a:ext cx="4234916" cy="94953"/>
          </a:xfrm>
          <a:custGeom>
            <a:avLst/>
            <a:gdLst/>
            <a:ahLst/>
            <a:cxnLst/>
            <a:rect l="l" t="t" r="r" b="b"/>
            <a:pathLst>
              <a:path w="4234916" h="94953">
                <a:moveTo>
                  <a:pt x="47477" y="0"/>
                </a:moveTo>
                <a:lnTo>
                  <a:pt x="4187439" y="0"/>
                </a:lnTo>
                <a:cubicBezTo>
                  <a:pt x="4213660" y="0"/>
                  <a:pt x="4234916" y="21256"/>
                  <a:pt x="4234916" y="47477"/>
                </a:cubicBezTo>
                <a:lnTo>
                  <a:pt x="4234916" y="47477"/>
                </a:lnTo>
                <a:cubicBezTo>
                  <a:pt x="4234916" y="73697"/>
                  <a:pt x="4213660" y="94953"/>
                  <a:pt x="4187439" y="94953"/>
                </a:cubicBezTo>
                <a:lnTo>
                  <a:pt x="47477" y="94953"/>
                </a:lnTo>
                <a:cubicBezTo>
                  <a:pt x="21274" y="94953"/>
                  <a:pt x="0" y="73680"/>
                  <a:pt x="0" y="47477"/>
                </a:cubicBezTo>
                <a:lnTo>
                  <a:pt x="0" y="47477"/>
                </a:lnTo>
                <a:cubicBezTo>
                  <a:pt x="0" y="21274"/>
                  <a:pt x="21274" y="0"/>
                  <a:pt x="47477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8" name="Shape 36"/>
          <p:cNvSpPr/>
          <p:nvPr/>
        </p:nvSpPr>
        <p:spPr>
          <a:xfrm>
            <a:off x="7411548" y="4871103"/>
            <a:ext cx="512748" cy="94953"/>
          </a:xfrm>
          <a:custGeom>
            <a:avLst/>
            <a:gdLst/>
            <a:ahLst/>
            <a:cxnLst/>
            <a:rect l="l" t="t" r="r" b="b"/>
            <a:pathLst>
              <a:path w="512748" h="94953">
                <a:moveTo>
                  <a:pt x="47477" y="0"/>
                </a:moveTo>
                <a:lnTo>
                  <a:pt x="465271" y="0"/>
                </a:lnTo>
                <a:cubicBezTo>
                  <a:pt x="491492" y="0"/>
                  <a:pt x="512748" y="21256"/>
                  <a:pt x="512748" y="47477"/>
                </a:cubicBezTo>
                <a:lnTo>
                  <a:pt x="512748" y="47477"/>
                </a:lnTo>
                <a:cubicBezTo>
                  <a:pt x="512748" y="73697"/>
                  <a:pt x="491492" y="94953"/>
                  <a:pt x="465271" y="94953"/>
                </a:cubicBezTo>
                <a:lnTo>
                  <a:pt x="47477" y="94953"/>
                </a:lnTo>
                <a:cubicBezTo>
                  <a:pt x="21274" y="94953"/>
                  <a:pt x="0" y="73680"/>
                  <a:pt x="0" y="47477"/>
                </a:cubicBezTo>
                <a:lnTo>
                  <a:pt x="0" y="47477"/>
                </a:lnTo>
                <a:cubicBezTo>
                  <a:pt x="0" y="21274"/>
                  <a:pt x="21274" y="0"/>
                  <a:pt x="47477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39" name="Text 37"/>
          <p:cNvSpPr/>
          <p:nvPr/>
        </p:nvSpPr>
        <p:spPr>
          <a:xfrm>
            <a:off x="7411548" y="5098991"/>
            <a:ext cx="143379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 FDs &amp; Savings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941732" y="5080000"/>
            <a:ext cx="78811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FA7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~85-86%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11548" y="5383850"/>
            <a:ext cx="4234916" cy="94953"/>
          </a:xfrm>
          <a:custGeom>
            <a:avLst/>
            <a:gdLst/>
            <a:ahLst/>
            <a:cxnLst/>
            <a:rect l="l" t="t" r="r" b="b"/>
            <a:pathLst>
              <a:path w="4234916" h="94953">
                <a:moveTo>
                  <a:pt x="47477" y="0"/>
                </a:moveTo>
                <a:lnTo>
                  <a:pt x="4187439" y="0"/>
                </a:lnTo>
                <a:cubicBezTo>
                  <a:pt x="4213660" y="0"/>
                  <a:pt x="4234916" y="21256"/>
                  <a:pt x="4234916" y="47477"/>
                </a:cubicBezTo>
                <a:lnTo>
                  <a:pt x="4234916" y="47477"/>
                </a:lnTo>
                <a:cubicBezTo>
                  <a:pt x="4234916" y="73697"/>
                  <a:pt x="4213660" y="94953"/>
                  <a:pt x="4187439" y="94953"/>
                </a:cubicBezTo>
                <a:lnTo>
                  <a:pt x="47477" y="94953"/>
                </a:lnTo>
                <a:cubicBezTo>
                  <a:pt x="21274" y="94953"/>
                  <a:pt x="0" y="73680"/>
                  <a:pt x="0" y="47477"/>
                </a:cubicBezTo>
                <a:lnTo>
                  <a:pt x="0" y="47477"/>
                </a:lnTo>
                <a:cubicBezTo>
                  <a:pt x="0" y="21274"/>
                  <a:pt x="21274" y="0"/>
                  <a:pt x="47477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2" name="Shape 40"/>
          <p:cNvSpPr/>
          <p:nvPr/>
        </p:nvSpPr>
        <p:spPr>
          <a:xfrm>
            <a:off x="7411548" y="5383850"/>
            <a:ext cx="3646206" cy="94953"/>
          </a:xfrm>
          <a:custGeom>
            <a:avLst/>
            <a:gdLst/>
            <a:ahLst/>
            <a:cxnLst/>
            <a:rect l="l" t="t" r="r" b="b"/>
            <a:pathLst>
              <a:path w="3646206" h="94953">
                <a:moveTo>
                  <a:pt x="47477" y="0"/>
                </a:moveTo>
                <a:lnTo>
                  <a:pt x="3598729" y="0"/>
                </a:lnTo>
                <a:cubicBezTo>
                  <a:pt x="3624950" y="0"/>
                  <a:pt x="3646206" y="21256"/>
                  <a:pt x="3646206" y="47477"/>
                </a:cubicBezTo>
                <a:lnTo>
                  <a:pt x="3646206" y="47477"/>
                </a:lnTo>
                <a:cubicBezTo>
                  <a:pt x="3646206" y="73697"/>
                  <a:pt x="3624950" y="94953"/>
                  <a:pt x="3598729" y="94953"/>
                </a:cubicBezTo>
                <a:lnTo>
                  <a:pt x="47477" y="94953"/>
                </a:lnTo>
                <a:cubicBezTo>
                  <a:pt x="21274" y="94953"/>
                  <a:pt x="0" y="73680"/>
                  <a:pt x="0" y="47477"/>
                </a:cubicBezTo>
                <a:lnTo>
                  <a:pt x="0" y="47477"/>
                </a:lnTo>
                <a:cubicBezTo>
                  <a:pt x="0" y="21274"/>
                  <a:pt x="21274" y="0"/>
                  <a:pt x="47477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43" name="Shape 41"/>
          <p:cNvSpPr/>
          <p:nvPr/>
        </p:nvSpPr>
        <p:spPr>
          <a:xfrm>
            <a:off x="379813" y="5792150"/>
            <a:ext cx="11432374" cy="835589"/>
          </a:xfrm>
          <a:custGeom>
            <a:avLst/>
            <a:gdLst/>
            <a:ahLst/>
            <a:cxnLst/>
            <a:rect l="l" t="t" r="r" b="b"/>
            <a:pathLst>
              <a:path w="11432374" h="835589">
                <a:moveTo>
                  <a:pt x="75963" y="0"/>
                </a:moveTo>
                <a:lnTo>
                  <a:pt x="11356410" y="0"/>
                </a:lnTo>
                <a:cubicBezTo>
                  <a:pt x="11398364" y="0"/>
                  <a:pt x="11432374" y="34010"/>
                  <a:pt x="11432374" y="75963"/>
                </a:cubicBezTo>
                <a:lnTo>
                  <a:pt x="11432374" y="759625"/>
                </a:lnTo>
                <a:cubicBezTo>
                  <a:pt x="11432374" y="801579"/>
                  <a:pt x="11398364" y="835589"/>
                  <a:pt x="11356410" y="835589"/>
                </a:cubicBezTo>
                <a:lnTo>
                  <a:pt x="75963" y="835589"/>
                </a:lnTo>
                <a:cubicBezTo>
                  <a:pt x="34010" y="835589"/>
                  <a:pt x="0" y="801579"/>
                  <a:pt x="0" y="759625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>
                  <a:alpha val="10000"/>
                </a:srgbClr>
              </a:gs>
              <a:gs pos="100000">
                <a:srgbClr val="00D09C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4" name="Shape 42"/>
          <p:cNvSpPr/>
          <p:nvPr/>
        </p:nvSpPr>
        <p:spPr>
          <a:xfrm>
            <a:off x="470019" y="6096000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28486" y="28486"/>
                </a:moveTo>
                <a:cubicBezTo>
                  <a:pt x="28486" y="20608"/>
                  <a:pt x="22121" y="14243"/>
                  <a:pt x="14243" y="14243"/>
                </a:cubicBezTo>
                <a:cubicBezTo>
                  <a:pt x="6365" y="14243"/>
                  <a:pt x="0" y="20608"/>
                  <a:pt x="0" y="28486"/>
                </a:cubicBezTo>
                <a:lnTo>
                  <a:pt x="0" y="178037"/>
                </a:lnTo>
                <a:cubicBezTo>
                  <a:pt x="0" y="197711"/>
                  <a:pt x="15934" y="213645"/>
                  <a:pt x="35607" y="213645"/>
                </a:cubicBezTo>
                <a:lnTo>
                  <a:pt x="213645" y="213645"/>
                </a:lnTo>
                <a:cubicBezTo>
                  <a:pt x="221523" y="213645"/>
                  <a:pt x="227888" y="207280"/>
                  <a:pt x="227888" y="199402"/>
                </a:cubicBezTo>
                <a:cubicBezTo>
                  <a:pt x="227888" y="191524"/>
                  <a:pt x="221523" y="185159"/>
                  <a:pt x="213645" y="185159"/>
                </a:cubicBezTo>
                <a:lnTo>
                  <a:pt x="35607" y="185159"/>
                </a:lnTo>
                <a:cubicBezTo>
                  <a:pt x="31691" y="185159"/>
                  <a:pt x="28486" y="181954"/>
                  <a:pt x="28486" y="178037"/>
                </a:cubicBezTo>
                <a:lnTo>
                  <a:pt x="28486" y="28486"/>
                </a:lnTo>
                <a:close/>
                <a:moveTo>
                  <a:pt x="209461" y="67031"/>
                </a:moveTo>
                <a:cubicBezTo>
                  <a:pt x="215025" y="61467"/>
                  <a:pt x="215025" y="52432"/>
                  <a:pt x="209461" y="46868"/>
                </a:cubicBezTo>
                <a:cubicBezTo>
                  <a:pt x="203897" y="41305"/>
                  <a:pt x="194862" y="41305"/>
                  <a:pt x="189298" y="46868"/>
                </a:cubicBezTo>
                <a:lnTo>
                  <a:pt x="142430" y="93781"/>
                </a:lnTo>
                <a:lnTo>
                  <a:pt x="116882" y="68277"/>
                </a:lnTo>
                <a:cubicBezTo>
                  <a:pt x="111318" y="62714"/>
                  <a:pt x="102282" y="62714"/>
                  <a:pt x="96719" y="68277"/>
                </a:cubicBezTo>
                <a:lnTo>
                  <a:pt x="53990" y="111006"/>
                </a:lnTo>
                <a:cubicBezTo>
                  <a:pt x="48426" y="116570"/>
                  <a:pt x="48426" y="125605"/>
                  <a:pt x="53990" y="131169"/>
                </a:cubicBezTo>
                <a:cubicBezTo>
                  <a:pt x="59554" y="136733"/>
                  <a:pt x="68589" y="136733"/>
                  <a:pt x="74153" y="131169"/>
                </a:cubicBezTo>
                <a:lnTo>
                  <a:pt x="106822" y="98499"/>
                </a:lnTo>
                <a:lnTo>
                  <a:pt x="132371" y="124048"/>
                </a:lnTo>
                <a:cubicBezTo>
                  <a:pt x="137934" y="129611"/>
                  <a:pt x="146970" y="129611"/>
                  <a:pt x="152534" y="124048"/>
                </a:cubicBezTo>
                <a:lnTo>
                  <a:pt x="209505" y="67076"/>
                </a:ln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45" name="Text 43"/>
          <p:cNvSpPr/>
          <p:nvPr/>
        </p:nvSpPr>
        <p:spPr>
          <a:xfrm>
            <a:off x="791228" y="5906093"/>
            <a:ext cx="340882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Wealth Creation Limited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91228" y="6133981"/>
            <a:ext cx="3399327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Despite growing income levels, most Indians miss long-term wealth building opportunities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68298" y="6096000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227888"/>
                </a:moveTo>
                <a:cubicBezTo>
                  <a:pt x="176831" y="227888"/>
                  <a:pt x="227888" y="176831"/>
                  <a:pt x="227888" y="113944"/>
                </a:cubicBezTo>
                <a:cubicBezTo>
                  <a:pt x="227888" y="51057"/>
                  <a:pt x="176831" y="0"/>
                  <a:pt x="113944" y="0"/>
                </a:cubicBezTo>
                <a:cubicBezTo>
                  <a:pt x="51057" y="0"/>
                  <a:pt x="0" y="51057"/>
                  <a:pt x="0" y="113944"/>
                </a:cubicBezTo>
                <a:cubicBezTo>
                  <a:pt x="0" y="176831"/>
                  <a:pt x="51057" y="227888"/>
                  <a:pt x="113944" y="227888"/>
                </a:cubicBezTo>
                <a:close/>
                <a:moveTo>
                  <a:pt x="113944" y="60533"/>
                </a:moveTo>
                <a:cubicBezTo>
                  <a:pt x="119864" y="60533"/>
                  <a:pt x="124626" y="65295"/>
                  <a:pt x="124626" y="71215"/>
                </a:cubicBezTo>
                <a:lnTo>
                  <a:pt x="124626" y="121065"/>
                </a:lnTo>
                <a:cubicBezTo>
                  <a:pt x="124626" y="126985"/>
                  <a:pt x="119864" y="131748"/>
                  <a:pt x="113944" y="131748"/>
                </a:cubicBezTo>
                <a:cubicBezTo>
                  <a:pt x="108024" y="131748"/>
                  <a:pt x="103262" y="126985"/>
                  <a:pt x="103262" y="121065"/>
                </a:cubicBezTo>
                <a:lnTo>
                  <a:pt x="103262" y="71215"/>
                </a:lnTo>
                <a:cubicBezTo>
                  <a:pt x="103262" y="65295"/>
                  <a:pt x="108024" y="60533"/>
                  <a:pt x="113944" y="60533"/>
                </a:cubicBezTo>
                <a:close/>
                <a:moveTo>
                  <a:pt x="102060" y="156673"/>
                </a:moveTo>
                <a:cubicBezTo>
                  <a:pt x="101790" y="152262"/>
                  <a:pt x="103989" y="148065"/>
                  <a:pt x="107771" y="145777"/>
                </a:cubicBezTo>
                <a:cubicBezTo>
                  <a:pt x="111552" y="143490"/>
                  <a:pt x="116291" y="143490"/>
                  <a:pt x="120072" y="145777"/>
                </a:cubicBezTo>
                <a:cubicBezTo>
                  <a:pt x="123854" y="148065"/>
                  <a:pt x="126054" y="152262"/>
                  <a:pt x="125783" y="156673"/>
                </a:cubicBezTo>
                <a:cubicBezTo>
                  <a:pt x="126054" y="161084"/>
                  <a:pt x="123854" y="165281"/>
                  <a:pt x="120072" y="167568"/>
                </a:cubicBezTo>
                <a:cubicBezTo>
                  <a:pt x="116291" y="169856"/>
                  <a:pt x="111552" y="169856"/>
                  <a:pt x="107771" y="167568"/>
                </a:cubicBezTo>
                <a:cubicBezTo>
                  <a:pt x="103989" y="165281"/>
                  <a:pt x="101790" y="161084"/>
                  <a:pt x="102060" y="156673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48" name="Text 46"/>
          <p:cNvSpPr/>
          <p:nvPr/>
        </p:nvSpPr>
        <p:spPr>
          <a:xfrm>
            <a:off x="4604937" y="5906093"/>
            <a:ext cx="338033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Inflation Erosion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604937" y="6133981"/>
            <a:ext cx="3370841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Investors struggle to beat inflation, resulting in negative real returns over time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09605" y="6096000"/>
            <a:ext cx="284860" cy="227888"/>
          </a:xfrm>
          <a:custGeom>
            <a:avLst/>
            <a:gdLst/>
            <a:ahLst/>
            <a:cxnLst/>
            <a:rect l="l" t="t" r="r" b="b"/>
            <a:pathLst>
              <a:path w="284860" h="227888">
                <a:moveTo>
                  <a:pt x="142430" y="7121"/>
                </a:moveTo>
                <a:cubicBezTo>
                  <a:pt x="167978" y="7121"/>
                  <a:pt x="188720" y="27863"/>
                  <a:pt x="188720" y="53411"/>
                </a:cubicBezTo>
                <a:cubicBezTo>
                  <a:pt x="188720" y="78959"/>
                  <a:pt x="167978" y="99701"/>
                  <a:pt x="142430" y="99701"/>
                </a:cubicBezTo>
                <a:cubicBezTo>
                  <a:pt x="116882" y="99701"/>
                  <a:pt x="96140" y="78959"/>
                  <a:pt x="96140" y="53411"/>
                </a:cubicBezTo>
                <a:cubicBezTo>
                  <a:pt x="96140" y="27863"/>
                  <a:pt x="116882" y="7121"/>
                  <a:pt x="142430" y="7121"/>
                </a:cubicBezTo>
                <a:close/>
                <a:moveTo>
                  <a:pt x="42729" y="39168"/>
                </a:moveTo>
                <a:cubicBezTo>
                  <a:pt x="60416" y="39168"/>
                  <a:pt x="74776" y="53528"/>
                  <a:pt x="74776" y="71215"/>
                </a:cubicBezTo>
                <a:cubicBezTo>
                  <a:pt x="74776" y="88902"/>
                  <a:pt x="60416" y="103262"/>
                  <a:pt x="42729" y="103262"/>
                </a:cubicBezTo>
                <a:cubicBezTo>
                  <a:pt x="25042" y="103262"/>
                  <a:pt x="10682" y="88902"/>
                  <a:pt x="10682" y="71215"/>
                </a:cubicBezTo>
                <a:cubicBezTo>
                  <a:pt x="10682" y="53528"/>
                  <a:pt x="25042" y="39168"/>
                  <a:pt x="42729" y="39168"/>
                </a:cubicBezTo>
                <a:close/>
                <a:moveTo>
                  <a:pt x="0" y="185159"/>
                </a:moveTo>
                <a:cubicBezTo>
                  <a:pt x="0" y="153691"/>
                  <a:pt x="25504" y="128187"/>
                  <a:pt x="56972" y="128187"/>
                </a:cubicBezTo>
                <a:cubicBezTo>
                  <a:pt x="62669" y="128187"/>
                  <a:pt x="68188" y="129033"/>
                  <a:pt x="73396" y="130590"/>
                </a:cubicBezTo>
                <a:cubicBezTo>
                  <a:pt x="58752" y="146970"/>
                  <a:pt x="49850" y="168601"/>
                  <a:pt x="49850" y="192280"/>
                </a:cubicBezTo>
                <a:lnTo>
                  <a:pt x="49850" y="199402"/>
                </a:lnTo>
                <a:cubicBezTo>
                  <a:pt x="49850" y="204476"/>
                  <a:pt x="50919" y="209283"/>
                  <a:pt x="52833" y="213645"/>
                </a:cubicBezTo>
                <a:lnTo>
                  <a:pt x="14243" y="213645"/>
                </a:lnTo>
                <a:cubicBezTo>
                  <a:pt x="6365" y="213645"/>
                  <a:pt x="0" y="207280"/>
                  <a:pt x="0" y="199402"/>
                </a:cubicBezTo>
                <a:lnTo>
                  <a:pt x="0" y="185159"/>
                </a:lnTo>
                <a:close/>
                <a:moveTo>
                  <a:pt x="232027" y="213645"/>
                </a:moveTo>
                <a:cubicBezTo>
                  <a:pt x="233941" y="209283"/>
                  <a:pt x="235009" y="204476"/>
                  <a:pt x="235009" y="199402"/>
                </a:cubicBezTo>
                <a:lnTo>
                  <a:pt x="235009" y="192280"/>
                </a:lnTo>
                <a:cubicBezTo>
                  <a:pt x="235009" y="168601"/>
                  <a:pt x="226107" y="146970"/>
                  <a:pt x="211464" y="130590"/>
                </a:cubicBezTo>
                <a:cubicBezTo>
                  <a:pt x="216671" y="129033"/>
                  <a:pt x="222191" y="128187"/>
                  <a:pt x="227888" y="128187"/>
                </a:cubicBezTo>
                <a:cubicBezTo>
                  <a:pt x="259356" y="128187"/>
                  <a:pt x="284860" y="153691"/>
                  <a:pt x="284860" y="185159"/>
                </a:cubicBezTo>
                <a:lnTo>
                  <a:pt x="284860" y="199402"/>
                </a:lnTo>
                <a:cubicBezTo>
                  <a:pt x="284860" y="207280"/>
                  <a:pt x="278495" y="213645"/>
                  <a:pt x="270617" y="213645"/>
                </a:cubicBezTo>
                <a:lnTo>
                  <a:pt x="232027" y="213645"/>
                </a:lnTo>
                <a:close/>
                <a:moveTo>
                  <a:pt x="210084" y="71215"/>
                </a:moveTo>
                <a:cubicBezTo>
                  <a:pt x="210084" y="53528"/>
                  <a:pt x="224444" y="39168"/>
                  <a:pt x="242131" y="39168"/>
                </a:cubicBezTo>
                <a:cubicBezTo>
                  <a:pt x="259818" y="39168"/>
                  <a:pt x="274178" y="53528"/>
                  <a:pt x="274178" y="71215"/>
                </a:cubicBezTo>
                <a:cubicBezTo>
                  <a:pt x="274178" y="88902"/>
                  <a:pt x="259818" y="103262"/>
                  <a:pt x="242131" y="103262"/>
                </a:cubicBezTo>
                <a:cubicBezTo>
                  <a:pt x="224444" y="103262"/>
                  <a:pt x="210084" y="88902"/>
                  <a:pt x="210084" y="71215"/>
                </a:cubicBezTo>
                <a:close/>
                <a:moveTo>
                  <a:pt x="71215" y="192280"/>
                </a:moveTo>
                <a:cubicBezTo>
                  <a:pt x="71215" y="152934"/>
                  <a:pt x="103084" y="121065"/>
                  <a:pt x="142430" y="121065"/>
                </a:cubicBezTo>
                <a:cubicBezTo>
                  <a:pt x="181776" y="121065"/>
                  <a:pt x="213645" y="152934"/>
                  <a:pt x="213645" y="192280"/>
                </a:cubicBezTo>
                <a:lnTo>
                  <a:pt x="213645" y="199402"/>
                </a:lnTo>
                <a:cubicBezTo>
                  <a:pt x="213645" y="207280"/>
                  <a:pt x="207280" y="213645"/>
                  <a:pt x="199402" y="213645"/>
                </a:cubicBezTo>
                <a:lnTo>
                  <a:pt x="85458" y="213645"/>
                </a:lnTo>
                <a:cubicBezTo>
                  <a:pt x="77580" y="213645"/>
                  <a:pt x="71215" y="207280"/>
                  <a:pt x="71215" y="199402"/>
                </a:cubicBezTo>
                <a:lnTo>
                  <a:pt x="71215" y="192280"/>
                </a:ln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51" name="Text 49"/>
          <p:cNvSpPr/>
          <p:nvPr/>
        </p:nvSpPr>
        <p:spPr>
          <a:xfrm>
            <a:off x="8354553" y="5906093"/>
            <a:ext cx="341831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Underutilization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54553" y="6133981"/>
            <a:ext cx="3408822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Massive untapped potential in a young, growing economy with increasing disposable income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22841" y="6703701"/>
            <a:ext cx="11489346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97" dirty="0">
                <a:solidFill>
                  <a:srgbClr val="1A1A2E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Sources: SEBI Reports, RBI Data, Industry Analysis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275" y="446593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71455" y="0"/>
                </a:moveTo>
                <a:lnTo>
                  <a:pt x="285820" y="0"/>
                </a:lnTo>
                <a:cubicBezTo>
                  <a:pt x="325283" y="0"/>
                  <a:pt x="357275" y="31991"/>
                  <a:pt x="357275" y="71455"/>
                </a:cubicBezTo>
                <a:lnTo>
                  <a:pt x="357275" y="285820"/>
                </a:lnTo>
                <a:cubicBezTo>
                  <a:pt x="357275" y="325283"/>
                  <a:pt x="325283" y="357275"/>
                  <a:pt x="285820" y="357275"/>
                </a:cubicBezTo>
                <a:lnTo>
                  <a:pt x="71455" y="357275"/>
                </a:lnTo>
                <a:cubicBezTo>
                  <a:pt x="31991" y="357275"/>
                  <a:pt x="0" y="325283"/>
                  <a:pt x="0" y="285820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3" name="Shape 1"/>
          <p:cNvSpPr/>
          <p:nvPr/>
        </p:nvSpPr>
        <p:spPr>
          <a:xfrm>
            <a:off x="457758" y="544844"/>
            <a:ext cx="160774" cy="160774"/>
          </a:xfrm>
          <a:custGeom>
            <a:avLst/>
            <a:gdLst/>
            <a:ahLst/>
            <a:cxnLst/>
            <a:rect l="l" t="t" r="r" b="b"/>
            <a:pathLst>
              <a:path w="160774" h="160774">
                <a:moveTo>
                  <a:pt x="10048" y="10048"/>
                </a:moveTo>
                <a:cubicBezTo>
                  <a:pt x="15606" y="10048"/>
                  <a:pt x="20097" y="14539"/>
                  <a:pt x="20097" y="20097"/>
                </a:cubicBezTo>
                <a:lnTo>
                  <a:pt x="20097" y="125604"/>
                </a:lnTo>
                <a:cubicBezTo>
                  <a:pt x="20097" y="128368"/>
                  <a:pt x="22358" y="130629"/>
                  <a:pt x="25121" y="130629"/>
                </a:cubicBezTo>
                <a:lnTo>
                  <a:pt x="150725" y="130629"/>
                </a:lnTo>
                <a:cubicBezTo>
                  <a:pt x="156283" y="130629"/>
                  <a:pt x="160774" y="135119"/>
                  <a:pt x="160774" y="140677"/>
                </a:cubicBezTo>
                <a:cubicBezTo>
                  <a:pt x="160774" y="146235"/>
                  <a:pt x="156283" y="150725"/>
                  <a:pt x="150725" y="150725"/>
                </a:cubicBezTo>
                <a:lnTo>
                  <a:pt x="25121" y="150725"/>
                </a:lnTo>
                <a:cubicBezTo>
                  <a:pt x="11242" y="150725"/>
                  <a:pt x="0" y="139484"/>
                  <a:pt x="0" y="125604"/>
                </a:cubicBezTo>
                <a:lnTo>
                  <a:pt x="0" y="20097"/>
                </a:lnTo>
                <a:cubicBezTo>
                  <a:pt x="0" y="14539"/>
                  <a:pt x="4490" y="10048"/>
                  <a:pt x="10048" y="10048"/>
                </a:cubicBezTo>
                <a:close/>
                <a:moveTo>
                  <a:pt x="40193" y="30145"/>
                </a:moveTo>
                <a:cubicBezTo>
                  <a:pt x="40193" y="24587"/>
                  <a:pt x="44684" y="20097"/>
                  <a:pt x="50242" y="20097"/>
                </a:cubicBezTo>
                <a:lnTo>
                  <a:pt x="110532" y="20097"/>
                </a:lnTo>
                <a:cubicBezTo>
                  <a:pt x="116090" y="20097"/>
                  <a:pt x="120580" y="24587"/>
                  <a:pt x="120580" y="30145"/>
                </a:cubicBezTo>
                <a:cubicBezTo>
                  <a:pt x="120580" y="35703"/>
                  <a:pt x="116090" y="40193"/>
                  <a:pt x="110532" y="40193"/>
                </a:cubicBezTo>
                <a:lnTo>
                  <a:pt x="50242" y="40193"/>
                </a:lnTo>
                <a:cubicBezTo>
                  <a:pt x="44684" y="40193"/>
                  <a:pt x="40193" y="35703"/>
                  <a:pt x="40193" y="30145"/>
                </a:cubicBezTo>
                <a:close/>
                <a:moveTo>
                  <a:pt x="50242" y="55266"/>
                </a:moveTo>
                <a:lnTo>
                  <a:pt x="90435" y="55266"/>
                </a:lnTo>
                <a:cubicBezTo>
                  <a:pt x="95993" y="55266"/>
                  <a:pt x="100484" y="59756"/>
                  <a:pt x="100484" y="65314"/>
                </a:cubicBezTo>
                <a:cubicBezTo>
                  <a:pt x="100484" y="70872"/>
                  <a:pt x="95993" y="75363"/>
                  <a:pt x="90435" y="75363"/>
                </a:cubicBezTo>
                <a:lnTo>
                  <a:pt x="50242" y="75363"/>
                </a:lnTo>
                <a:cubicBezTo>
                  <a:pt x="44684" y="75363"/>
                  <a:pt x="40193" y="70872"/>
                  <a:pt x="40193" y="65314"/>
                </a:cubicBezTo>
                <a:cubicBezTo>
                  <a:pt x="40193" y="59756"/>
                  <a:pt x="44684" y="55266"/>
                  <a:pt x="50242" y="55266"/>
                </a:cubicBezTo>
                <a:close/>
                <a:moveTo>
                  <a:pt x="50242" y="90435"/>
                </a:moveTo>
                <a:lnTo>
                  <a:pt x="130629" y="90435"/>
                </a:lnTo>
                <a:cubicBezTo>
                  <a:pt x="136187" y="90435"/>
                  <a:pt x="140677" y="94926"/>
                  <a:pt x="140677" y="100484"/>
                </a:cubicBezTo>
                <a:cubicBezTo>
                  <a:pt x="140677" y="106042"/>
                  <a:pt x="136187" y="110532"/>
                  <a:pt x="130629" y="110532"/>
                </a:cubicBezTo>
                <a:lnTo>
                  <a:pt x="50242" y="110532"/>
                </a:lnTo>
                <a:cubicBezTo>
                  <a:pt x="44684" y="110532"/>
                  <a:pt x="40193" y="106042"/>
                  <a:pt x="40193" y="100484"/>
                </a:cubicBezTo>
                <a:cubicBezTo>
                  <a:pt x="40193" y="94926"/>
                  <a:pt x="44684" y="90435"/>
                  <a:pt x="50242" y="9043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1732" y="357275"/>
            <a:ext cx="4340888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spc="56" kern="0" dirty="0">
                <a:solidFill>
                  <a:srgbClr val="00D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1732" y="571640"/>
            <a:ext cx="4403411" cy="3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Participation Gap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1741" y="1040563"/>
            <a:ext cx="5644941" cy="1902488"/>
          </a:xfrm>
          <a:custGeom>
            <a:avLst/>
            <a:gdLst/>
            <a:ahLst/>
            <a:cxnLst/>
            <a:rect l="l" t="t" r="r" b="b"/>
            <a:pathLst>
              <a:path w="5644941" h="1902488">
                <a:moveTo>
                  <a:pt x="107186" y="0"/>
                </a:moveTo>
                <a:lnTo>
                  <a:pt x="5537754" y="0"/>
                </a:lnTo>
                <a:cubicBezTo>
                  <a:pt x="5596952" y="0"/>
                  <a:pt x="5644941" y="47989"/>
                  <a:pt x="5644941" y="107186"/>
                </a:cubicBezTo>
                <a:lnTo>
                  <a:pt x="5644941" y="1795302"/>
                </a:lnTo>
                <a:cubicBezTo>
                  <a:pt x="5644941" y="1854499"/>
                  <a:pt x="5596952" y="1902488"/>
                  <a:pt x="5537754" y="1902488"/>
                </a:cubicBezTo>
                <a:lnTo>
                  <a:pt x="107186" y="1902488"/>
                </a:lnTo>
                <a:cubicBezTo>
                  <a:pt x="47989" y="1902488"/>
                  <a:pt x="0" y="1854499"/>
                  <a:pt x="0" y="1795302"/>
                </a:cubicBezTo>
                <a:lnTo>
                  <a:pt x="0" y="107186"/>
                </a:lnTo>
                <a:cubicBezTo>
                  <a:pt x="0" y="47989"/>
                  <a:pt x="47989" y="0"/>
                  <a:pt x="10718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6796" dist="8932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9116" y="1187938"/>
            <a:ext cx="5439508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Overview &amp; User Behavior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9116" y="1509486"/>
            <a:ext cx="5421644" cy="46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analysis combining secondary industry data with user behavior insights reveals the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387ED1"/>
                </a:solidFill>
                <a:highlight>
                  <a:srgbClr val="387ED1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gaps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preventing widespread market participation.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116" y="2081125"/>
            <a:ext cx="2617037" cy="714549"/>
          </a:xfrm>
          <a:custGeom>
            <a:avLst/>
            <a:gdLst/>
            <a:ahLst/>
            <a:cxnLst/>
            <a:rect l="l" t="t" r="r" b="b"/>
            <a:pathLst>
              <a:path w="2617037" h="714549">
                <a:moveTo>
                  <a:pt x="71455" y="0"/>
                </a:moveTo>
                <a:lnTo>
                  <a:pt x="2545582" y="0"/>
                </a:lnTo>
                <a:cubicBezTo>
                  <a:pt x="2585046" y="0"/>
                  <a:pt x="2617037" y="31991"/>
                  <a:pt x="2617037" y="71455"/>
                </a:cubicBezTo>
                <a:lnTo>
                  <a:pt x="2617037" y="643095"/>
                </a:lnTo>
                <a:cubicBezTo>
                  <a:pt x="2617037" y="682558"/>
                  <a:pt x="2585046" y="714549"/>
                  <a:pt x="2545582" y="714549"/>
                </a:cubicBezTo>
                <a:lnTo>
                  <a:pt x="71455" y="714549"/>
                </a:lnTo>
                <a:cubicBezTo>
                  <a:pt x="31991" y="714549"/>
                  <a:pt x="0" y="682558"/>
                  <a:pt x="0" y="643095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10" name="Text 8"/>
          <p:cNvSpPr/>
          <p:nvPr/>
        </p:nvSpPr>
        <p:spPr>
          <a:xfrm>
            <a:off x="549310" y="2188308"/>
            <a:ext cx="2536651" cy="3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10" b="1" dirty="0">
                <a:solidFill>
                  <a:srgbClr val="FFA7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037" y="2509855"/>
            <a:ext cx="246519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Households in Fixed Income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36267" y="2081125"/>
            <a:ext cx="2617037" cy="714549"/>
          </a:xfrm>
          <a:custGeom>
            <a:avLst/>
            <a:gdLst/>
            <a:ahLst/>
            <a:cxnLst/>
            <a:rect l="l" t="t" r="r" b="b"/>
            <a:pathLst>
              <a:path w="2617037" h="714549">
                <a:moveTo>
                  <a:pt x="71455" y="0"/>
                </a:moveTo>
                <a:lnTo>
                  <a:pt x="2545582" y="0"/>
                </a:lnTo>
                <a:cubicBezTo>
                  <a:pt x="2585046" y="0"/>
                  <a:pt x="2617037" y="31991"/>
                  <a:pt x="2617037" y="71455"/>
                </a:cubicBezTo>
                <a:lnTo>
                  <a:pt x="2617037" y="643095"/>
                </a:lnTo>
                <a:cubicBezTo>
                  <a:pt x="2617037" y="682558"/>
                  <a:pt x="2585046" y="714549"/>
                  <a:pt x="2545582" y="714549"/>
                </a:cubicBezTo>
                <a:lnTo>
                  <a:pt x="71455" y="714549"/>
                </a:lnTo>
                <a:cubicBezTo>
                  <a:pt x="31991" y="714549"/>
                  <a:pt x="0" y="682558"/>
                  <a:pt x="0" y="643095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13" name="Text 11"/>
          <p:cNvSpPr/>
          <p:nvPr/>
        </p:nvSpPr>
        <p:spPr>
          <a:xfrm>
            <a:off x="3276460" y="2188308"/>
            <a:ext cx="2536651" cy="3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10" b="1" dirty="0">
                <a:solidFill>
                  <a:srgbClr val="00D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12188" y="2509855"/>
            <a:ext cx="246519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Smartphone Adoption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7275" y="3090426"/>
            <a:ext cx="5653873" cy="2625969"/>
          </a:xfrm>
          <a:custGeom>
            <a:avLst/>
            <a:gdLst/>
            <a:ahLst/>
            <a:cxnLst/>
            <a:rect l="l" t="t" r="r" b="b"/>
            <a:pathLst>
              <a:path w="5653873" h="2625969">
                <a:moveTo>
                  <a:pt x="107192" y="0"/>
                </a:moveTo>
                <a:lnTo>
                  <a:pt x="5546680" y="0"/>
                </a:lnTo>
                <a:cubicBezTo>
                  <a:pt x="5605881" y="0"/>
                  <a:pt x="5653873" y="47992"/>
                  <a:pt x="5653873" y="107192"/>
                </a:cubicBezTo>
                <a:lnTo>
                  <a:pt x="5653873" y="2518777"/>
                </a:lnTo>
                <a:cubicBezTo>
                  <a:pt x="5653873" y="2577978"/>
                  <a:pt x="5605881" y="2625969"/>
                  <a:pt x="5546680" y="2625969"/>
                </a:cubicBezTo>
                <a:lnTo>
                  <a:pt x="107192" y="2625969"/>
                </a:lnTo>
                <a:cubicBezTo>
                  <a:pt x="47992" y="2625969"/>
                  <a:pt x="0" y="2577978"/>
                  <a:pt x="0" y="2518777"/>
                </a:cubicBezTo>
                <a:lnTo>
                  <a:pt x="0" y="107192"/>
                </a:lnTo>
                <a:cubicBezTo>
                  <a:pt x="0" y="48031"/>
                  <a:pt x="48031" y="0"/>
                  <a:pt x="10719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/>
              </a:gs>
              <a:gs pos="100000">
                <a:srgbClr val="0056B3"/>
              </a:gs>
            </a:gsLst>
            <a:lin ang="27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500185" y="4010409"/>
            <a:ext cx="5457371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0185" y="4331956"/>
            <a:ext cx="5439508" cy="46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gap isn't just about access—it's about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confidence, guidance, and trust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Existing platforms solve cost and transparency but fail at handholding first-time investors.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1180" y="1040563"/>
            <a:ext cx="5644941" cy="2902857"/>
          </a:xfrm>
          <a:custGeom>
            <a:avLst/>
            <a:gdLst/>
            <a:ahLst/>
            <a:cxnLst/>
            <a:rect l="l" t="t" r="r" b="b"/>
            <a:pathLst>
              <a:path w="5644941" h="2902857">
                <a:moveTo>
                  <a:pt x="107173" y="0"/>
                </a:moveTo>
                <a:lnTo>
                  <a:pt x="5537767" y="0"/>
                </a:lnTo>
                <a:cubicBezTo>
                  <a:pt x="5596957" y="0"/>
                  <a:pt x="5644941" y="47983"/>
                  <a:pt x="5644941" y="107173"/>
                </a:cubicBezTo>
                <a:lnTo>
                  <a:pt x="5644941" y="2795684"/>
                </a:lnTo>
                <a:cubicBezTo>
                  <a:pt x="5644941" y="2854874"/>
                  <a:pt x="5596957" y="2902857"/>
                  <a:pt x="5537767" y="2902857"/>
                </a:cubicBezTo>
                <a:lnTo>
                  <a:pt x="107173" y="2902857"/>
                </a:lnTo>
                <a:cubicBezTo>
                  <a:pt x="47983" y="2902857"/>
                  <a:pt x="0" y="2854874"/>
                  <a:pt x="0" y="2795684"/>
                </a:cubicBezTo>
                <a:lnTo>
                  <a:pt x="0" y="107173"/>
                </a:lnTo>
                <a:cubicBezTo>
                  <a:pt x="0" y="47983"/>
                  <a:pt x="47983" y="0"/>
                  <a:pt x="10717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6796" dist="8932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38556" y="1187938"/>
            <a:ext cx="5430576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Reasons for Low Participation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38556" y="1545213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71455" y="0"/>
                </a:moveTo>
                <a:lnTo>
                  <a:pt x="214365" y="0"/>
                </a:lnTo>
                <a:cubicBezTo>
                  <a:pt x="253828" y="0"/>
                  <a:pt x="285820" y="31991"/>
                  <a:pt x="285820" y="71455"/>
                </a:cubicBezTo>
                <a:lnTo>
                  <a:pt x="285820" y="214365"/>
                </a:lnTo>
                <a:cubicBezTo>
                  <a:pt x="285820" y="253828"/>
                  <a:pt x="253828" y="285820"/>
                  <a:pt x="214365" y="285820"/>
                </a:cubicBezTo>
                <a:lnTo>
                  <a:pt x="71455" y="285820"/>
                </a:lnTo>
                <a:cubicBezTo>
                  <a:pt x="31991" y="285820"/>
                  <a:pt x="0" y="253828"/>
                  <a:pt x="0" y="214365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27875" y="1616668"/>
            <a:ext cx="107182" cy="142910"/>
          </a:xfrm>
          <a:custGeom>
            <a:avLst/>
            <a:gdLst/>
            <a:ahLst/>
            <a:cxnLst/>
            <a:rect l="l" t="t" r="r" b="b"/>
            <a:pathLst>
              <a:path w="107182" h="142910">
                <a:moveTo>
                  <a:pt x="11193" y="130377"/>
                </a:moveTo>
                <a:lnTo>
                  <a:pt x="8067" y="132889"/>
                </a:lnTo>
                <a:cubicBezTo>
                  <a:pt x="7173" y="133587"/>
                  <a:pt x="6085" y="133978"/>
                  <a:pt x="4968" y="133978"/>
                </a:cubicBezTo>
                <a:cubicBezTo>
                  <a:pt x="2233" y="133978"/>
                  <a:pt x="0" y="131745"/>
                  <a:pt x="0" y="129010"/>
                </a:cubicBezTo>
                <a:lnTo>
                  <a:pt x="0" y="53591"/>
                </a:lnTo>
                <a:cubicBezTo>
                  <a:pt x="0" y="24004"/>
                  <a:pt x="24004" y="0"/>
                  <a:pt x="53591" y="0"/>
                </a:cubicBezTo>
                <a:cubicBezTo>
                  <a:pt x="83178" y="0"/>
                  <a:pt x="107182" y="24004"/>
                  <a:pt x="107182" y="53591"/>
                </a:cubicBezTo>
                <a:lnTo>
                  <a:pt x="107182" y="129010"/>
                </a:lnTo>
                <a:cubicBezTo>
                  <a:pt x="107182" y="131745"/>
                  <a:pt x="104949" y="133978"/>
                  <a:pt x="102214" y="133978"/>
                </a:cubicBezTo>
                <a:cubicBezTo>
                  <a:pt x="101098" y="133978"/>
                  <a:pt x="100009" y="133587"/>
                  <a:pt x="99116" y="132889"/>
                </a:cubicBezTo>
                <a:lnTo>
                  <a:pt x="95990" y="130377"/>
                </a:lnTo>
                <a:cubicBezTo>
                  <a:pt x="92249" y="127391"/>
                  <a:pt x="86835" y="127865"/>
                  <a:pt x="83680" y="131466"/>
                </a:cubicBezTo>
                <a:lnTo>
                  <a:pt x="75167" y="141235"/>
                </a:lnTo>
                <a:cubicBezTo>
                  <a:pt x="74246" y="142296"/>
                  <a:pt x="72878" y="142910"/>
                  <a:pt x="71455" y="142910"/>
                </a:cubicBezTo>
                <a:cubicBezTo>
                  <a:pt x="70031" y="142910"/>
                  <a:pt x="68692" y="142296"/>
                  <a:pt x="67743" y="141235"/>
                </a:cubicBezTo>
                <a:lnTo>
                  <a:pt x="60318" y="132722"/>
                </a:lnTo>
                <a:cubicBezTo>
                  <a:pt x="56773" y="128647"/>
                  <a:pt x="50437" y="128647"/>
                  <a:pt x="46864" y="132722"/>
                </a:cubicBezTo>
                <a:lnTo>
                  <a:pt x="39440" y="141235"/>
                </a:lnTo>
                <a:cubicBezTo>
                  <a:pt x="38519" y="142296"/>
                  <a:pt x="37151" y="142910"/>
                  <a:pt x="35727" y="142910"/>
                </a:cubicBezTo>
                <a:cubicBezTo>
                  <a:pt x="34304" y="142910"/>
                  <a:pt x="32964" y="142296"/>
                  <a:pt x="32015" y="141235"/>
                </a:cubicBezTo>
                <a:lnTo>
                  <a:pt x="23502" y="131466"/>
                </a:lnTo>
                <a:cubicBezTo>
                  <a:pt x="20348" y="127865"/>
                  <a:pt x="14933" y="127391"/>
                  <a:pt x="11193" y="130377"/>
                </a:cubicBezTo>
                <a:close/>
                <a:moveTo>
                  <a:pt x="44659" y="53591"/>
                </a:moveTo>
                <a:cubicBezTo>
                  <a:pt x="44659" y="48662"/>
                  <a:pt x="40657" y="44659"/>
                  <a:pt x="35727" y="44659"/>
                </a:cubicBezTo>
                <a:cubicBezTo>
                  <a:pt x="30798" y="44659"/>
                  <a:pt x="26796" y="48662"/>
                  <a:pt x="26796" y="53591"/>
                </a:cubicBezTo>
                <a:cubicBezTo>
                  <a:pt x="26796" y="58521"/>
                  <a:pt x="30798" y="62523"/>
                  <a:pt x="35727" y="62523"/>
                </a:cubicBezTo>
                <a:cubicBezTo>
                  <a:pt x="40657" y="62523"/>
                  <a:pt x="44659" y="58521"/>
                  <a:pt x="44659" y="53591"/>
                </a:cubicBezTo>
                <a:close/>
                <a:moveTo>
                  <a:pt x="71455" y="62523"/>
                </a:moveTo>
                <a:cubicBezTo>
                  <a:pt x="76385" y="62523"/>
                  <a:pt x="80387" y="58521"/>
                  <a:pt x="80387" y="53591"/>
                </a:cubicBezTo>
                <a:cubicBezTo>
                  <a:pt x="80387" y="48662"/>
                  <a:pt x="76385" y="44659"/>
                  <a:pt x="71455" y="44659"/>
                </a:cubicBezTo>
                <a:cubicBezTo>
                  <a:pt x="66525" y="44659"/>
                  <a:pt x="62523" y="48662"/>
                  <a:pt x="62523" y="53591"/>
                </a:cubicBezTo>
                <a:cubicBezTo>
                  <a:pt x="62523" y="58521"/>
                  <a:pt x="66525" y="62523"/>
                  <a:pt x="71455" y="62523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22" name="Text 20"/>
          <p:cNvSpPr/>
          <p:nvPr/>
        </p:nvSpPr>
        <p:spPr>
          <a:xfrm>
            <a:off x="6731558" y="1545213"/>
            <a:ext cx="3420905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Fear of Losses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31558" y="1759578"/>
            <a:ext cx="3411974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 stock market crashes create lasting psychological barriers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38556" y="2009670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71455" y="0"/>
                </a:moveTo>
                <a:lnTo>
                  <a:pt x="214365" y="0"/>
                </a:lnTo>
                <a:cubicBezTo>
                  <a:pt x="253828" y="0"/>
                  <a:pt x="285820" y="31991"/>
                  <a:pt x="285820" y="71455"/>
                </a:cubicBezTo>
                <a:lnTo>
                  <a:pt x="285820" y="214365"/>
                </a:lnTo>
                <a:cubicBezTo>
                  <a:pt x="285820" y="253828"/>
                  <a:pt x="253828" y="285820"/>
                  <a:pt x="214365" y="285820"/>
                </a:cubicBezTo>
                <a:lnTo>
                  <a:pt x="71455" y="285820"/>
                </a:lnTo>
                <a:cubicBezTo>
                  <a:pt x="31991" y="285820"/>
                  <a:pt x="0" y="253828"/>
                  <a:pt x="0" y="214365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10011" y="2081125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62523" y="0"/>
                </a:moveTo>
                <a:cubicBezTo>
                  <a:pt x="72376" y="0"/>
                  <a:pt x="80387" y="6001"/>
                  <a:pt x="80387" y="13398"/>
                </a:cubicBezTo>
                <a:cubicBezTo>
                  <a:pt x="80387" y="16301"/>
                  <a:pt x="79159" y="18980"/>
                  <a:pt x="77037" y="21185"/>
                </a:cubicBezTo>
                <a:cubicBezTo>
                  <a:pt x="75195" y="23111"/>
                  <a:pt x="73688" y="25456"/>
                  <a:pt x="73688" y="28135"/>
                </a:cubicBezTo>
                <a:cubicBezTo>
                  <a:pt x="73688" y="32322"/>
                  <a:pt x="77093" y="35727"/>
                  <a:pt x="81280" y="35727"/>
                </a:cubicBezTo>
                <a:lnTo>
                  <a:pt x="93785" y="35727"/>
                </a:lnTo>
                <a:cubicBezTo>
                  <a:pt x="101181" y="35727"/>
                  <a:pt x="107182" y="41729"/>
                  <a:pt x="107182" y="49125"/>
                </a:cubicBezTo>
                <a:lnTo>
                  <a:pt x="107182" y="61630"/>
                </a:lnTo>
                <a:cubicBezTo>
                  <a:pt x="107182" y="65817"/>
                  <a:pt x="110588" y="69222"/>
                  <a:pt x="114775" y="69222"/>
                </a:cubicBezTo>
                <a:cubicBezTo>
                  <a:pt x="117426" y="69222"/>
                  <a:pt x="119799" y="67715"/>
                  <a:pt x="121725" y="65873"/>
                </a:cubicBezTo>
                <a:cubicBezTo>
                  <a:pt x="123930" y="63779"/>
                  <a:pt x="126609" y="62523"/>
                  <a:pt x="129512" y="62523"/>
                </a:cubicBezTo>
                <a:cubicBezTo>
                  <a:pt x="136909" y="62523"/>
                  <a:pt x="142910" y="70534"/>
                  <a:pt x="142910" y="80387"/>
                </a:cubicBezTo>
                <a:cubicBezTo>
                  <a:pt x="142910" y="90240"/>
                  <a:pt x="136909" y="98251"/>
                  <a:pt x="129512" y="98251"/>
                </a:cubicBezTo>
                <a:cubicBezTo>
                  <a:pt x="126609" y="98251"/>
                  <a:pt x="123902" y="97022"/>
                  <a:pt x="121725" y="94901"/>
                </a:cubicBezTo>
                <a:cubicBezTo>
                  <a:pt x="119799" y="93059"/>
                  <a:pt x="117454" y="91552"/>
                  <a:pt x="114775" y="91552"/>
                </a:cubicBezTo>
                <a:cubicBezTo>
                  <a:pt x="110588" y="91552"/>
                  <a:pt x="107182" y="94957"/>
                  <a:pt x="107182" y="99144"/>
                </a:cubicBezTo>
                <a:lnTo>
                  <a:pt x="107182" y="129512"/>
                </a:lnTo>
                <a:cubicBezTo>
                  <a:pt x="107182" y="136909"/>
                  <a:pt x="101181" y="142910"/>
                  <a:pt x="93785" y="142910"/>
                </a:cubicBezTo>
                <a:lnTo>
                  <a:pt x="77931" y="142910"/>
                </a:lnTo>
                <a:cubicBezTo>
                  <a:pt x="74358" y="142910"/>
                  <a:pt x="71455" y="140007"/>
                  <a:pt x="71455" y="136434"/>
                </a:cubicBezTo>
                <a:cubicBezTo>
                  <a:pt x="71455" y="133866"/>
                  <a:pt x="73074" y="131605"/>
                  <a:pt x="75139" y="130070"/>
                </a:cubicBezTo>
                <a:cubicBezTo>
                  <a:pt x="78377" y="127642"/>
                  <a:pt x="80387" y="124293"/>
                  <a:pt x="80387" y="120580"/>
                </a:cubicBezTo>
                <a:cubicBezTo>
                  <a:pt x="80387" y="113184"/>
                  <a:pt x="72376" y="107182"/>
                  <a:pt x="62523" y="107182"/>
                </a:cubicBezTo>
                <a:cubicBezTo>
                  <a:pt x="52670" y="107182"/>
                  <a:pt x="44659" y="113184"/>
                  <a:pt x="44659" y="120580"/>
                </a:cubicBezTo>
                <a:cubicBezTo>
                  <a:pt x="44659" y="124293"/>
                  <a:pt x="46669" y="127642"/>
                  <a:pt x="49907" y="130070"/>
                </a:cubicBezTo>
                <a:cubicBezTo>
                  <a:pt x="51972" y="131605"/>
                  <a:pt x="53591" y="133838"/>
                  <a:pt x="53591" y="136434"/>
                </a:cubicBezTo>
                <a:cubicBezTo>
                  <a:pt x="53591" y="140007"/>
                  <a:pt x="50688" y="142910"/>
                  <a:pt x="47116" y="142910"/>
                </a:cubicBezTo>
                <a:lnTo>
                  <a:pt x="13398" y="142910"/>
                </a:lnTo>
                <a:cubicBezTo>
                  <a:pt x="6001" y="142910"/>
                  <a:pt x="0" y="136909"/>
                  <a:pt x="0" y="129512"/>
                </a:cubicBezTo>
                <a:lnTo>
                  <a:pt x="0" y="95794"/>
                </a:lnTo>
                <a:cubicBezTo>
                  <a:pt x="0" y="92222"/>
                  <a:pt x="2903" y="89319"/>
                  <a:pt x="6476" y="89319"/>
                </a:cubicBezTo>
                <a:cubicBezTo>
                  <a:pt x="9044" y="89319"/>
                  <a:pt x="11304" y="90938"/>
                  <a:pt x="12840" y="93003"/>
                </a:cubicBezTo>
                <a:cubicBezTo>
                  <a:pt x="15268" y="96241"/>
                  <a:pt x="18617" y="98251"/>
                  <a:pt x="22330" y="98251"/>
                </a:cubicBezTo>
                <a:cubicBezTo>
                  <a:pt x="29726" y="98251"/>
                  <a:pt x="35727" y="90240"/>
                  <a:pt x="35727" y="80387"/>
                </a:cubicBezTo>
                <a:cubicBezTo>
                  <a:pt x="35727" y="70534"/>
                  <a:pt x="29726" y="62523"/>
                  <a:pt x="22330" y="62523"/>
                </a:cubicBezTo>
                <a:cubicBezTo>
                  <a:pt x="18617" y="62523"/>
                  <a:pt x="15268" y="64533"/>
                  <a:pt x="12840" y="67771"/>
                </a:cubicBezTo>
                <a:cubicBezTo>
                  <a:pt x="11304" y="69836"/>
                  <a:pt x="9071" y="71455"/>
                  <a:pt x="6476" y="71455"/>
                </a:cubicBezTo>
                <a:cubicBezTo>
                  <a:pt x="2903" y="71455"/>
                  <a:pt x="0" y="68552"/>
                  <a:pt x="0" y="64979"/>
                </a:cubicBezTo>
                <a:lnTo>
                  <a:pt x="0" y="49125"/>
                </a:lnTo>
                <a:cubicBezTo>
                  <a:pt x="0" y="41729"/>
                  <a:pt x="6001" y="35727"/>
                  <a:pt x="13398" y="35727"/>
                </a:cubicBezTo>
                <a:lnTo>
                  <a:pt x="43766" y="35727"/>
                </a:lnTo>
                <a:cubicBezTo>
                  <a:pt x="47953" y="35727"/>
                  <a:pt x="51358" y="32322"/>
                  <a:pt x="51358" y="28135"/>
                </a:cubicBezTo>
                <a:cubicBezTo>
                  <a:pt x="51358" y="25484"/>
                  <a:pt x="49851" y="23111"/>
                  <a:pt x="48009" y="21185"/>
                </a:cubicBezTo>
                <a:cubicBezTo>
                  <a:pt x="45915" y="18980"/>
                  <a:pt x="44659" y="16301"/>
                  <a:pt x="44659" y="13398"/>
                </a:cubicBezTo>
                <a:cubicBezTo>
                  <a:pt x="44659" y="6001"/>
                  <a:pt x="52670" y="0"/>
                  <a:pt x="6252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6731558" y="2009670"/>
            <a:ext cx="3385178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Platforms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31558" y="2224035"/>
            <a:ext cx="337624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jargon and overwhelming interfaces deter beginners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8556" y="2474127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71455" y="0"/>
                </a:moveTo>
                <a:lnTo>
                  <a:pt x="214365" y="0"/>
                </a:lnTo>
                <a:cubicBezTo>
                  <a:pt x="253828" y="0"/>
                  <a:pt x="285820" y="31991"/>
                  <a:pt x="285820" y="71455"/>
                </a:cubicBezTo>
                <a:lnTo>
                  <a:pt x="285820" y="214365"/>
                </a:lnTo>
                <a:cubicBezTo>
                  <a:pt x="285820" y="253828"/>
                  <a:pt x="253828" y="285820"/>
                  <a:pt x="214365" y="285820"/>
                </a:cubicBezTo>
                <a:lnTo>
                  <a:pt x="71455" y="285820"/>
                </a:lnTo>
                <a:cubicBezTo>
                  <a:pt x="31991" y="285820"/>
                  <a:pt x="0" y="253828"/>
                  <a:pt x="0" y="214365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387ED1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10011" y="2545582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71455" y="0"/>
                </a:moveTo>
                <a:cubicBezTo>
                  <a:pt x="72739" y="0"/>
                  <a:pt x="74023" y="279"/>
                  <a:pt x="75195" y="809"/>
                </a:cubicBezTo>
                <a:lnTo>
                  <a:pt x="127782" y="23111"/>
                </a:lnTo>
                <a:cubicBezTo>
                  <a:pt x="133922" y="25707"/>
                  <a:pt x="138500" y="31764"/>
                  <a:pt x="138472" y="39077"/>
                </a:cubicBezTo>
                <a:cubicBezTo>
                  <a:pt x="138332" y="66766"/>
                  <a:pt x="126944" y="117426"/>
                  <a:pt x="78852" y="140454"/>
                </a:cubicBezTo>
                <a:cubicBezTo>
                  <a:pt x="74190" y="142687"/>
                  <a:pt x="68775" y="142687"/>
                  <a:pt x="64114" y="140454"/>
                </a:cubicBezTo>
                <a:cubicBezTo>
                  <a:pt x="15994" y="117426"/>
                  <a:pt x="4633" y="66766"/>
                  <a:pt x="4494" y="39077"/>
                </a:cubicBezTo>
                <a:cubicBezTo>
                  <a:pt x="4466" y="31764"/>
                  <a:pt x="9044" y="25707"/>
                  <a:pt x="15184" y="23111"/>
                </a:cubicBezTo>
                <a:lnTo>
                  <a:pt x="67743" y="809"/>
                </a:lnTo>
                <a:cubicBezTo>
                  <a:pt x="68915" y="279"/>
                  <a:pt x="70171" y="0"/>
                  <a:pt x="71455" y="0"/>
                </a:cubicBezTo>
                <a:close/>
                <a:moveTo>
                  <a:pt x="71455" y="18645"/>
                </a:moveTo>
                <a:lnTo>
                  <a:pt x="71455" y="124181"/>
                </a:lnTo>
                <a:cubicBezTo>
                  <a:pt x="109974" y="105536"/>
                  <a:pt x="120329" y="64226"/>
                  <a:pt x="120580" y="39496"/>
                </a:cubicBezTo>
                <a:lnTo>
                  <a:pt x="71455" y="18673"/>
                </a:lnTo>
                <a:lnTo>
                  <a:pt x="71455" y="18673"/>
                </a:ln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30" name="Text 28"/>
          <p:cNvSpPr/>
          <p:nvPr/>
        </p:nvSpPr>
        <p:spPr>
          <a:xfrm>
            <a:off x="6731558" y="2474127"/>
            <a:ext cx="3045767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Trust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31558" y="2688492"/>
            <a:ext cx="303683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issues and scam fears reduce confidence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8556" y="2938585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71455" y="0"/>
                </a:moveTo>
                <a:lnTo>
                  <a:pt x="214365" y="0"/>
                </a:lnTo>
                <a:cubicBezTo>
                  <a:pt x="253828" y="0"/>
                  <a:pt x="285820" y="31991"/>
                  <a:pt x="285820" y="71455"/>
                </a:cubicBezTo>
                <a:lnTo>
                  <a:pt x="285820" y="214365"/>
                </a:lnTo>
                <a:cubicBezTo>
                  <a:pt x="285820" y="253828"/>
                  <a:pt x="253828" y="285820"/>
                  <a:pt x="214365" y="285820"/>
                </a:cubicBezTo>
                <a:lnTo>
                  <a:pt x="71455" y="285820"/>
                </a:lnTo>
                <a:cubicBezTo>
                  <a:pt x="31991" y="285820"/>
                  <a:pt x="0" y="253828"/>
                  <a:pt x="0" y="214365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10011" y="3010040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71455" y="142910"/>
                </a:moveTo>
                <a:cubicBezTo>
                  <a:pt x="110892" y="142910"/>
                  <a:pt x="142910" y="110892"/>
                  <a:pt x="142910" y="71455"/>
                </a:cubicBezTo>
                <a:cubicBezTo>
                  <a:pt x="142910" y="32018"/>
                  <a:pt x="110892" y="0"/>
                  <a:pt x="71455" y="0"/>
                </a:cubicBezTo>
                <a:cubicBezTo>
                  <a:pt x="32018" y="0"/>
                  <a:pt x="0" y="32018"/>
                  <a:pt x="0" y="71455"/>
                </a:cubicBezTo>
                <a:cubicBezTo>
                  <a:pt x="0" y="110892"/>
                  <a:pt x="32018" y="142910"/>
                  <a:pt x="71455" y="142910"/>
                </a:cubicBezTo>
                <a:close/>
                <a:moveTo>
                  <a:pt x="85606" y="90742"/>
                </a:moveTo>
                <a:lnTo>
                  <a:pt x="45329" y="106233"/>
                </a:lnTo>
                <a:cubicBezTo>
                  <a:pt x="39914" y="108327"/>
                  <a:pt x="34583" y="102996"/>
                  <a:pt x="36676" y="97581"/>
                </a:cubicBezTo>
                <a:lnTo>
                  <a:pt x="52168" y="57304"/>
                </a:lnTo>
                <a:cubicBezTo>
                  <a:pt x="53089" y="54931"/>
                  <a:pt x="54931" y="53089"/>
                  <a:pt x="57304" y="52168"/>
                </a:cubicBezTo>
                <a:lnTo>
                  <a:pt x="97581" y="36676"/>
                </a:lnTo>
                <a:cubicBezTo>
                  <a:pt x="102996" y="34583"/>
                  <a:pt x="108327" y="39914"/>
                  <a:pt x="106233" y="45329"/>
                </a:cubicBezTo>
                <a:lnTo>
                  <a:pt x="90742" y="85606"/>
                </a:lnTo>
                <a:cubicBezTo>
                  <a:pt x="89849" y="87979"/>
                  <a:pt x="87979" y="89821"/>
                  <a:pt x="85606" y="90742"/>
                </a:cubicBezTo>
                <a:close/>
                <a:moveTo>
                  <a:pt x="80387" y="71455"/>
                </a:moveTo>
                <a:cubicBezTo>
                  <a:pt x="80387" y="66525"/>
                  <a:pt x="76385" y="62523"/>
                  <a:pt x="71455" y="62523"/>
                </a:cubicBezTo>
                <a:cubicBezTo>
                  <a:pt x="66525" y="62523"/>
                  <a:pt x="62523" y="66525"/>
                  <a:pt x="62523" y="71455"/>
                </a:cubicBezTo>
                <a:cubicBezTo>
                  <a:pt x="62523" y="76385"/>
                  <a:pt x="66525" y="80387"/>
                  <a:pt x="71455" y="80387"/>
                </a:cubicBezTo>
                <a:cubicBezTo>
                  <a:pt x="76385" y="80387"/>
                  <a:pt x="80387" y="76385"/>
                  <a:pt x="80387" y="71455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34" name="Text 32"/>
          <p:cNvSpPr/>
          <p:nvPr/>
        </p:nvSpPr>
        <p:spPr>
          <a:xfrm>
            <a:off x="6731558" y="2938585"/>
            <a:ext cx="25277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Clear Guidance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31558" y="3152949"/>
            <a:ext cx="2518787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Uncertainty about what to invest in and when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8556" y="3403042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71455" y="0"/>
                </a:moveTo>
                <a:lnTo>
                  <a:pt x="214365" y="0"/>
                </a:lnTo>
                <a:cubicBezTo>
                  <a:pt x="253828" y="0"/>
                  <a:pt x="285820" y="31991"/>
                  <a:pt x="285820" y="71455"/>
                </a:cubicBezTo>
                <a:lnTo>
                  <a:pt x="285820" y="214365"/>
                </a:lnTo>
                <a:cubicBezTo>
                  <a:pt x="285820" y="253828"/>
                  <a:pt x="253828" y="285820"/>
                  <a:pt x="214365" y="285820"/>
                </a:cubicBezTo>
                <a:lnTo>
                  <a:pt x="71455" y="285820"/>
                </a:lnTo>
                <a:cubicBezTo>
                  <a:pt x="31991" y="285820"/>
                  <a:pt x="0" y="253828"/>
                  <a:pt x="0" y="214365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10011" y="3474497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71455" y="0"/>
                </a:moveTo>
                <a:cubicBezTo>
                  <a:pt x="110892" y="0"/>
                  <a:pt x="142910" y="32018"/>
                  <a:pt x="142910" y="71455"/>
                </a:cubicBezTo>
                <a:cubicBezTo>
                  <a:pt x="142910" y="110892"/>
                  <a:pt x="110892" y="142910"/>
                  <a:pt x="71455" y="142910"/>
                </a:cubicBezTo>
                <a:cubicBezTo>
                  <a:pt x="32018" y="142910"/>
                  <a:pt x="0" y="110892"/>
                  <a:pt x="0" y="71455"/>
                </a:cubicBezTo>
                <a:cubicBezTo>
                  <a:pt x="0" y="32018"/>
                  <a:pt x="32018" y="0"/>
                  <a:pt x="71455" y="0"/>
                </a:cubicBezTo>
                <a:close/>
                <a:moveTo>
                  <a:pt x="64756" y="33495"/>
                </a:moveTo>
                <a:lnTo>
                  <a:pt x="64756" y="71455"/>
                </a:lnTo>
                <a:cubicBezTo>
                  <a:pt x="64756" y="73688"/>
                  <a:pt x="65873" y="75781"/>
                  <a:pt x="67743" y="77037"/>
                </a:cubicBezTo>
                <a:lnTo>
                  <a:pt x="94538" y="94901"/>
                </a:lnTo>
                <a:cubicBezTo>
                  <a:pt x="97609" y="96967"/>
                  <a:pt x="101767" y="96129"/>
                  <a:pt x="103833" y="93031"/>
                </a:cubicBezTo>
                <a:cubicBezTo>
                  <a:pt x="105898" y="89933"/>
                  <a:pt x="105061" y="85802"/>
                  <a:pt x="101963" y="83736"/>
                </a:cubicBezTo>
                <a:lnTo>
                  <a:pt x="78154" y="67882"/>
                </a:lnTo>
                <a:lnTo>
                  <a:pt x="78154" y="33495"/>
                </a:lnTo>
                <a:cubicBezTo>
                  <a:pt x="78154" y="29782"/>
                  <a:pt x="75167" y="26796"/>
                  <a:pt x="71455" y="26796"/>
                </a:cubicBezTo>
                <a:cubicBezTo>
                  <a:pt x="67743" y="26796"/>
                  <a:pt x="64756" y="29782"/>
                  <a:pt x="64756" y="3349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731558" y="3403042"/>
            <a:ext cx="3813908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Constraints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31558" y="3617407"/>
            <a:ext cx="380497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professionals lack time to research and monitor investments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1180" y="4095262"/>
            <a:ext cx="5644941" cy="1616668"/>
          </a:xfrm>
          <a:custGeom>
            <a:avLst/>
            <a:gdLst/>
            <a:ahLst/>
            <a:cxnLst/>
            <a:rect l="l" t="t" r="r" b="b"/>
            <a:pathLst>
              <a:path w="5644941" h="1616668">
                <a:moveTo>
                  <a:pt x="107185" y="0"/>
                </a:moveTo>
                <a:lnTo>
                  <a:pt x="5537756" y="0"/>
                </a:lnTo>
                <a:cubicBezTo>
                  <a:pt x="5596952" y="0"/>
                  <a:pt x="5644941" y="47988"/>
                  <a:pt x="5644941" y="107185"/>
                </a:cubicBezTo>
                <a:lnTo>
                  <a:pt x="5644941" y="1509483"/>
                </a:lnTo>
                <a:cubicBezTo>
                  <a:pt x="5644941" y="1568680"/>
                  <a:pt x="5596952" y="1616668"/>
                  <a:pt x="5537756" y="1616668"/>
                </a:cubicBezTo>
                <a:lnTo>
                  <a:pt x="107185" y="1616668"/>
                </a:lnTo>
                <a:cubicBezTo>
                  <a:pt x="47988" y="1616668"/>
                  <a:pt x="0" y="1568680"/>
                  <a:pt x="0" y="1509483"/>
                </a:cubicBezTo>
                <a:lnTo>
                  <a:pt x="0" y="107185"/>
                </a:lnTo>
                <a:cubicBezTo>
                  <a:pt x="0" y="48028"/>
                  <a:pt x="48028" y="0"/>
                  <a:pt x="10718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6796" dist="8932" dir="5400000">
              <a:srgbClr val="000000">
                <a:alpha val="10196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38556" y="4242637"/>
            <a:ext cx="5430576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Potential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8556" y="4599912"/>
            <a:ext cx="2617037" cy="678822"/>
          </a:xfrm>
          <a:custGeom>
            <a:avLst/>
            <a:gdLst/>
            <a:ahLst/>
            <a:cxnLst/>
            <a:rect l="l" t="t" r="r" b="b"/>
            <a:pathLst>
              <a:path w="2617037" h="678822">
                <a:moveTo>
                  <a:pt x="71453" y="0"/>
                </a:moveTo>
                <a:lnTo>
                  <a:pt x="2545585" y="0"/>
                </a:lnTo>
                <a:cubicBezTo>
                  <a:pt x="2585047" y="0"/>
                  <a:pt x="2617037" y="31991"/>
                  <a:pt x="2617037" y="71453"/>
                </a:cubicBezTo>
                <a:lnTo>
                  <a:pt x="2617037" y="607369"/>
                </a:lnTo>
                <a:cubicBezTo>
                  <a:pt x="2617037" y="646831"/>
                  <a:pt x="2585047" y="678822"/>
                  <a:pt x="2545585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>
                  <a:alpha val="10000"/>
                </a:srgbClr>
              </a:gs>
              <a:gs pos="100000">
                <a:srgbClr val="387ED1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3" name="Text 41"/>
          <p:cNvSpPr/>
          <p:nvPr/>
        </p:nvSpPr>
        <p:spPr>
          <a:xfrm>
            <a:off x="6392147" y="4707095"/>
            <a:ext cx="2509855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8" b="1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~200M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14477" y="4992914"/>
            <a:ext cx="246519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Untapped Investors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65707" y="4599912"/>
            <a:ext cx="2617037" cy="678822"/>
          </a:xfrm>
          <a:custGeom>
            <a:avLst/>
            <a:gdLst/>
            <a:ahLst/>
            <a:cxnLst/>
            <a:rect l="l" t="t" r="r" b="b"/>
            <a:pathLst>
              <a:path w="2617037" h="678822">
                <a:moveTo>
                  <a:pt x="71453" y="0"/>
                </a:moveTo>
                <a:lnTo>
                  <a:pt x="2545585" y="0"/>
                </a:lnTo>
                <a:cubicBezTo>
                  <a:pt x="2585047" y="0"/>
                  <a:pt x="2617037" y="31991"/>
                  <a:pt x="2617037" y="71453"/>
                </a:cubicBezTo>
                <a:lnTo>
                  <a:pt x="2617037" y="607369"/>
                </a:lnTo>
                <a:cubicBezTo>
                  <a:pt x="2617037" y="646831"/>
                  <a:pt x="2585047" y="678822"/>
                  <a:pt x="2545585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09C">
                  <a:alpha val="10000"/>
                </a:srgbClr>
              </a:gs>
              <a:gs pos="100000">
                <a:srgbClr val="00D09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6" name="Text 44"/>
          <p:cNvSpPr/>
          <p:nvPr/>
        </p:nvSpPr>
        <p:spPr>
          <a:xfrm>
            <a:off x="9119298" y="4707095"/>
            <a:ext cx="2509855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8" b="1" dirty="0">
                <a:solidFill>
                  <a:srgbClr val="00D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41627" y="4992914"/>
            <a:ext cx="246519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Newbie/Non-Investors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32042" y="5412712"/>
            <a:ext cx="125046" cy="125046"/>
          </a:xfrm>
          <a:custGeom>
            <a:avLst/>
            <a:gdLst/>
            <a:ahLst/>
            <a:cxnLst/>
            <a:rect l="l" t="t" r="r" b="b"/>
            <a:pathLst>
              <a:path w="125046" h="125046">
                <a:moveTo>
                  <a:pt x="31262" y="78154"/>
                </a:moveTo>
                <a:lnTo>
                  <a:pt x="5984" y="78154"/>
                </a:lnTo>
                <a:cubicBezTo>
                  <a:pt x="-98" y="78154"/>
                  <a:pt x="-3834" y="71535"/>
                  <a:pt x="-708" y="66309"/>
                </a:cubicBezTo>
                <a:lnTo>
                  <a:pt x="12212" y="44768"/>
                </a:lnTo>
                <a:cubicBezTo>
                  <a:pt x="14336" y="41226"/>
                  <a:pt x="18146" y="39077"/>
                  <a:pt x="22274" y="39077"/>
                </a:cubicBezTo>
                <a:lnTo>
                  <a:pt x="45476" y="39077"/>
                </a:lnTo>
                <a:cubicBezTo>
                  <a:pt x="64062" y="7596"/>
                  <a:pt x="91782" y="6008"/>
                  <a:pt x="110319" y="8719"/>
                </a:cubicBezTo>
                <a:cubicBezTo>
                  <a:pt x="113445" y="9183"/>
                  <a:pt x="115888" y="11625"/>
                  <a:pt x="116327" y="14727"/>
                </a:cubicBezTo>
                <a:cubicBezTo>
                  <a:pt x="119038" y="33264"/>
                  <a:pt x="117451" y="60984"/>
                  <a:pt x="85969" y="79570"/>
                </a:cubicBezTo>
                <a:lnTo>
                  <a:pt x="85969" y="102772"/>
                </a:lnTo>
                <a:cubicBezTo>
                  <a:pt x="85969" y="106900"/>
                  <a:pt x="83820" y="110710"/>
                  <a:pt x="80279" y="112835"/>
                </a:cubicBezTo>
                <a:lnTo>
                  <a:pt x="58738" y="125754"/>
                </a:lnTo>
                <a:cubicBezTo>
                  <a:pt x="53535" y="128881"/>
                  <a:pt x="46892" y="125119"/>
                  <a:pt x="46892" y="119063"/>
                </a:cubicBezTo>
                <a:lnTo>
                  <a:pt x="46892" y="93785"/>
                </a:lnTo>
                <a:cubicBezTo>
                  <a:pt x="46892" y="85163"/>
                  <a:pt x="39883" y="78154"/>
                  <a:pt x="31262" y="78154"/>
                </a:cubicBezTo>
                <a:lnTo>
                  <a:pt x="31237" y="78154"/>
                </a:lnTo>
                <a:close/>
                <a:moveTo>
                  <a:pt x="97692" y="39077"/>
                </a:moveTo>
                <a:cubicBezTo>
                  <a:pt x="97692" y="32607"/>
                  <a:pt x="92439" y="27354"/>
                  <a:pt x="85969" y="27354"/>
                </a:cubicBezTo>
                <a:cubicBezTo>
                  <a:pt x="79499" y="27354"/>
                  <a:pt x="74246" y="32607"/>
                  <a:pt x="74246" y="39077"/>
                </a:cubicBezTo>
                <a:cubicBezTo>
                  <a:pt x="74246" y="45547"/>
                  <a:pt x="79499" y="50800"/>
                  <a:pt x="85969" y="50800"/>
                </a:cubicBezTo>
                <a:cubicBezTo>
                  <a:pt x="92439" y="50800"/>
                  <a:pt x="97692" y="45547"/>
                  <a:pt x="97692" y="39077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49" name="Text 47"/>
          <p:cNvSpPr/>
          <p:nvPr/>
        </p:nvSpPr>
        <p:spPr>
          <a:xfrm>
            <a:off x="6518322" y="5385916"/>
            <a:ext cx="5201684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Massive opportunity to convert non-investors into active market participants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57275" y="5859305"/>
            <a:ext cx="11477451" cy="786004"/>
          </a:xfrm>
          <a:custGeom>
            <a:avLst/>
            <a:gdLst/>
            <a:ahLst/>
            <a:cxnLst/>
            <a:rect l="l" t="t" r="r" b="b"/>
            <a:pathLst>
              <a:path w="11477451" h="786004">
                <a:moveTo>
                  <a:pt x="71456" y="0"/>
                </a:moveTo>
                <a:lnTo>
                  <a:pt x="11405995" y="0"/>
                </a:lnTo>
                <a:cubicBezTo>
                  <a:pt x="11445459" y="0"/>
                  <a:pt x="11477451" y="31992"/>
                  <a:pt x="11477451" y="71456"/>
                </a:cubicBezTo>
                <a:lnTo>
                  <a:pt x="11477451" y="714549"/>
                </a:lnTo>
                <a:cubicBezTo>
                  <a:pt x="11477451" y="754013"/>
                  <a:pt x="11445459" y="786004"/>
                  <a:pt x="11405995" y="786004"/>
                </a:cubicBezTo>
                <a:lnTo>
                  <a:pt x="71456" y="786004"/>
                </a:lnTo>
                <a:cubicBezTo>
                  <a:pt x="32018" y="786004"/>
                  <a:pt x="0" y="753986"/>
                  <a:pt x="0" y="714549"/>
                </a:cubicBezTo>
                <a:lnTo>
                  <a:pt x="0" y="71456"/>
                </a:lnTo>
                <a:cubicBezTo>
                  <a:pt x="0" y="32018"/>
                  <a:pt x="32018" y="0"/>
                  <a:pt x="7145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09C">
                  <a:alpha val="10000"/>
                </a:srgbClr>
              </a:gs>
              <a:gs pos="100000">
                <a:srgbClr val="387ED1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2193890" y="5966488"/>
            <a:ext cx="200967" cy="178637"/>
          </a:xfrm>
          <a:custGeom>
            <a:avLst/>
            <a:gdLst/>
            <a:ahLst/>
            <a:cxnLst/>
            <a:rect l="l" t="t" r="r" b="b"/>
            <a:pathLst>
              <a:path w="200967" h="178637">
                <a:moveTo>
                  <a:pt x="97553" y="10816"/>
                </a:moveTo>
                <a:cubicBezTo>
                  <a:pt x="92633" y="4012"/>
                  <a:pt x="84748" y="0"/>
                  <a:pt x="76374" y="0"/>
                </a:cubicBezTo>
                <a:cubicBezTo>
                  <a:pt x="61930" y="0"/>
                  <a:pt x="50242" y="11688"/>
                  <a:pt x="50242" y="26133"/>
                </a:cubicBezTo>
                <a:lnTo>
                  <a:pt x="50242" y="26970"/>
                </a:lnTo>
                <a:cubicBezTo>
                  <a:pt x="50242" y="49439"/>
                  <a:pt x="78852" y="73513"/>
                  <a:pt x="92877" y="83946"/>
                </a:cubicBezTo>
                <a:cubicBezTo>
                  <a:pt x="97413" y="87330"/>
                  <a:pt x="103519" y="87330"/>
                  <a:pt x="108055" y="83946"/>
                </a:cubicBezTo>
                <a:cubicBezTo>
                  <a:pt x="122080" y="73479"/>
                  <a:pt x="150690" y="49439"/>
                  <a:pt x="150690" y="26970"/>
                </a:cubicBezTo>
                <a:lnTo>
                  <a:pt x="150690" y="26133"/>
                </a:lnTo>
                <a:cubicBezTo>
                  <a:pt x="150690" y="11688"/>
                  <a:pt x="139002" y="0"/>
                  <a:pt x="124558" y="0"/>
                </a:cubicBezTo>
                <a:cubicBezTo>
                  <a:pt x="116184" y="0"/>
                  <a:pt x="108299" y="4012"/>
                  <a:pt x="103379" y="10816"/>
                </a:cubicBezTo>
                <a:lnTo>
                  <a:pt x="100484" y="14898"/>
                </a:lnTo>
                <a:lnTo>
                  <a:pt x="97553" y="10816"/>
                </a:lnTo>
                <a:close/>
                <a:moveTo>
                  <a:pt x="38135" y="119150"/>
                </a:moveTo>
                <a:lnTo>
                  <a:pt x="23272" y="133978"/>
                </a:lnTo>
                <a:lnTo>
                  <a:pt x="11165" y="133978"/>
                </a:lnTo>
                <a:cubicBezTo>
                  <a:pt x="4989" y="133978"/>
                  <a:pt x="0" y="138967"/>
                  <a:pt x="0" y="145143"/>
                </a:cubicBezTo>
                <a:lnTo>
                  <a:pt x="0" y="167473"/>
                </a:lnTo>
                <a:cubicBezTo>
                  <a:pt x="0" y="173648"/>
                  <a:pt x="4989" y="178637"/>
                  <a:pt x="11165" y="178637"/>
                </a:cubicBezTo>
                <a:lnTo>
                  <a:pt x="122988" y="178637"/>
                </a:lnTo>
                <a:cubicBezTo>
                  <a:pt x="133106" y="178637"/>
                  <a:pt x="142980" y="175393"/>
                  <a:pt x="151144" y="169391"/>
                </a:cubicBezTo>
                <a:lnTo>
                  <a:pt x="195315" y="136839"/>
                </a:lnTo>
                <a:cubicBezTo>
                  <a:pt x="201525" y="132268"/>
                  <a:pt x="202851" y="123546"/>
                  <a:pt x="198280" y="117335"/>
                </a:cubicBezTo>
                <a:cubicBezTo>
                  <a:pt x="193710" y="111125"/>
                  <a:pt x="184987" y="109799"/>
                  <a:pt x="178777" y="114370"/>
                </a:cubicBezTo>
                <a:lnTo>
                  <a:pt x="136979" y="145143"/>
                </a:lnTo>
                <a:lnTo>
                  <a:pt x="97692" y="145143"/>
                </a:lnTo>
                <a:cubicBezTo>
                  <a:pt x="93052" y="145143"/>
                  <a:pt x="89319" y="141410"/>
                  <a:pt x="89319" y="136769"/>
                </a:cubicBezTo>
                <a:cubicBezTo>
                  <a:pt x="89319" y="132129"/>
                  <a:pt x="93052" y="128396"/>
                  <a:pt x="97692" y="128396"/>
                </a:cubicBezTo>
                <a:lnTo>
                  <a:pt x="122813" y="128396"/>
                </a:lnTo>
                <a:cubicBezTo>
                  <a:pt x="128989" y="128396"/>
                  <a:pt x="133978" y="123406"/>
                  <a:pt x="133978" y="117231"/>
                </a:cubicBezTo>
                <a:cubicBezTo>
                  <a:pt x="133978" y="111055"/>
                  <a:pt x="128989" y="106066"/>
                  <a:pt x="122813" y="106066"/>
                </a:cubicBezTo>
                <a:lnTo>
                  <a:pt x="69710" y="106066"/>
                </a:lnTo>
                <a:cubicBezTo>
                  <a:pt x="57883" y="106066"/>
                  <a:pt x="46509" y="110776"/>
                  <a:pt x="38135" y="11915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52" name="Text 50"/>
          <p:cNvSpPr/>
          <p:nvPr/>
        </p:nvSpPr>
        <p:spPr>
          <a:xfrm>
            <a:off x="428730" y="6180853"/>
            <a:ext cx="3733521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Guided Investing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37662" y="6395218"/>
            <a:ext cx="3715657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recommendations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008077" y="5966488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167507" y="66989"/>
                </a:moveTo>
                <a:lnTo>
                  <a:pt x="170264" y="66989"/>
                </a:lnTo>
                <a:cubicBezTo>
                  <a:pt x="174904" y="66989"/>
                  <a:pt x="178637" y="63256"/>
                  <a:pt x="178637" y="58615"/>
                </a:cubicBezTo>
                <a:lnTo>
                  <a:pt x="178637" y="8374"/>
                </a:lnTo>
                <a:cubicBezTo>
                  <a:pt x="178637" y="4989"/>
                  <a:pt x="176614" y="1919"/>
                  <a:pt x="173474" y="628"/>
                </a:cubicBezTo>
                <a:cubicBezTo>
                  <a:pt x="170334" y="-663"/>
                  <a:pt x="166740" y="70"/>
                  <a:pt x="164332" y="2442"/>
                </a:cubicBezTo>
                <a:lnTo>
                  <a:pt x="146294" y="20515"/>
                </a:lnTo>
                <a:cubicBezTo>
                  <a:pt x="130838" y="7711"/>
                  <a:pt x="110951" y="0"/>
                  <a:pt x="89319" y="0"/>
                </a:cubicBezTo>
                <a:cubicBezTo>
                  <a:pt x="44310" y="0"/>
                  <a:pt x="7083" y="33285"/>
                  <a:pt x="907" y="76584"/>
                </a:cubicBezTo>
                <a:cubicBezTo>
                  <a:pt x="35" y="82690"/>
                  <a:pt x="4257" y="88342"/>
                  <a:pt x="10362" y="89214"/>
                </a:cubicBezTo>
                <a:cubicBezTo>
                  <a:pt x="16468" y="90086"/>
                  <a:pt x="22120" y="85830"/>
                  <a:pt x="22993" y="79759"/>
                </a:cubicBezTo>
                <a:cubicBezTo>
                  <a:pt x="27633" y="47276"/>
                  <a:pt x="55580" y="22330"/>
                  <a:pt x="89319" y="22330"/>
                </a:cubicBezTo>
                <a:cubicBezTo>
                  <a:pt x="104810" y="22330"/>
                  <a:pt x="119045" y="27563"/>
                  <a:pt x="130384" y="36390"/>
                </a:cubicBezTo>
                <a:lnTo>
                  <a:pt x="114091" y="52684"/>
                </a:lnTo>
                <a:cubicBezTo>
                  <a:pt x="111683" y="55091"/>
                  <a:pt x="110985" y="58685"/>
                  <a:pt x="112276" y="61825"/>
                </a:cubicBezTo>
                <a:cubicBezTo>
                  <a:pt x="113567" y="64965"/>
                  <a:pt x="116638" y="66989"/>
                  <a:pt x="120022" y="66989"/>
                </a:cubicBezTo>
                <a:lnTo>
                  <a:pt x="167507" y="66989"/>
                </a:lnTo>
                <a:close/>
                <a:moveTo>
                  <a:pt x="177765" y="102054"/>
                </a:moveTo>
                <a:cubicBezTo>
                  <a:pt x="178637" y="95948"/>
                  <a:pt x="174381" y="90296"/>
                  <a:pt x="168310" y="89423"/>
                </a:cubicBezTo>
                <a:cubicBezTo>
                  <a:pt x="162239" y="88551"/>
                  <a:pt x="156552" y="92808"/>
                  <a:pt x="155680" y="98879"/>
                </a:cubicBezTo>
                <a:cubicBezTo>
                  <a:pt x="151039" y="131326"/>
                  <a:pt x="123092" y="156273"/>
                  <a:pt x="89354" y="156273"/>
                </a:cubicBezTo>
                <a:cubicBezTo>
                  <a:pt x="73862" y="156273"/>
                  <a:pt x="59627" y="151039"/>
                  <a:pt x="48288" y="142212"/>
                </a:cubicBezTo>
                <a:lnTo>
                  <a:pt x="64547" y="125953"/>
                </a:lnTo>
                <a:cubicBezTo>
                  <a:pt x="66954" y="123546"/>
                  <a:pt x="67652" y="119952"/>
                  <a:pt x="66361" y="116812"/>
                </a:cubicBezTo>
                <a:cubicBezTo>
                  <a:pt x="65070" y="113672"/>
                  <a:pt x="62000" y="111648"/>
                  <a:pt x="58615" y="111648"/>
                </a:cubicBezTo>
                <a:lnTo>
                  <a:pt x="8374" y="111648"/>
                </a:lnTo>
                <a:cubicBezTo>
                  <a:pt x="3733" y="111648"/>
                  <a:pt x="0" y="115382"/>
                  <a:pt x="0" y="120022"/>
                </a:cubicBezTo>
                <a:lnTo>
                  <a:pt x="0" y="170264"/>
                </a:lnTo>
                <a:cubicBezTo>
                  <a:pt x="0" y="173648"/>
                  <a:pt x="2024" y="176718"/>
                  <a:pt x="5164" y="178009"/>
                </a:cubicBezTo>
                <a:cubicBezTo>
                  <a:pt x="8304" y="179300"/>
                  <a:pt x="11898" y="178568"/>
                  <a:pt x="14305" y="176195"/>
                </a:cubicBezTo>
                <a:lnTo>
                  <a:pt x="32378" y="158122"/>
                </a:lnTo>
                <a:cubicBezTo>
                  <a:pt x="47799" y="170927"/>
                  <a:pt x="67687" y="178637"/>
                  <a:pt x="89319" y="178637"/>
                </a:cubicBezTo>
                <a:cubicBezTo>
                  <a:pt x="134327" y="178637"/>
                  <a:pt x="171555" y="145352"/>
                  <a:pt x="177730" y="102054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55" name="Text 53"/>
          <p:cNvSpPr/>
          <p:nvPr/>
        </p:nvSpPr>
        <p:spPr>
          <a:xfrm>
            <a:off x="4231612" y="6180853"/>
            <a:ext cx="3733521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Habit Formation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240544" y="6395218"/>
            <a:ext cx="3715657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investing behavior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810959" y="5966488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89319" y="178637"/>
                </a:moveTo>
                <a:cubicBezTo>
                  <a:pt x="138615" y="178637"/>
                  <a:pt x="178637" y="138615"/>
                  <a:pt x="178637" y="89319"/>
                </a:cubicBezTo>
                <a:cubicBezTo>
                  <a:pt x="178637" y="40022"/>
                  <a:pt x="138615" y="0"/>
                  <a:pt x="89319" y="0"/>
                </a:cubicBezTo>
                <a:cubicBezTo>
                  <a:pt x="40022" y="0"/>
                  <a:pt x="0" y="40022"/>
                  <a:pt x="0" y="89319"/>
                </a:cubicBezTo>
                <a:cubicBezTo>
                  <a:pt x="0" y="138615"/>
                  <a:pt x="40022" y="178637"/>
                  <a:pt x="89319" y="178637"/>
                </a:cubicBezTo>
                <a:close/>
                <a:moveTo>
                  <a:pt x="57708" y="112311"/>
                </a:moveTo>
                <a:cubicBezTo>
                  <a:pt x="64826" y="122080"/>
                  <a:pt x="76340" y="128396"/>
                  <a:pt x="89319" y="128396"/>
                </a:cubicBezTo>
                <a:cubicBezTo>
                  <a:pt x="102298" y="128396"/>
                  <a:pt x="113812" y="122080"/>
                  <a:pt x="120929" y="112311"/>
                </a:cubicBezTo>
                <a:cubicBezTo>
                  <a:pt x="123651" y="108578"/>
                  <a:pt x="128884" y="107741"/>
                  <a:pt x="132617" y="110462"/>
                </a:cubicBezTo>
                <a:cubicBezTo>
                  <a:pt x="136351" y="113184"/>
                  <a:pt x="137188" y="118417"/>
                  <a:pt x="134466" y="122150"/>
                </a:cubicBezTo>
                <a:cubicBezTo>
                  <a:pt x="124313" y="136071"/>
                  <a:pt x="107880" y="145143"/>
                  <a:pt x="89319" y="145143"/>
                </a:cubicBezTo>
                <a:cubicBezTo>
                  <a:pt x="70757" y="145143"/>
                  <a:pt x="54324" y="136071"/>
                  <a:pt x="44171" y="122150"/>
                </a:cubicBezTo>
                <a:cubicBezTo>
                  <a:pt x="41449" y="118417"/>
                  <a:pt x="42287" y="113184"/>
                  <a:pt x="46020" y="110462"/>
                </a:cubicBezTo>
                <a:cubicBezTo>
                  <a:pt x="49753" y="107741"/>
                  <a:pt x="54987" y="108578"/>
                  <a:pt x="57708" y="112311"/>
                </a:cubicBezTo>
                <a:close/>
                <a:moveTo>
                  <a:pt x="50242" y="72571"/>
                </a:moveTo>
                <a:cubicBezTo>
                  <a:pt x="50242" y="66409"/>
                  <a:pt x="55245" y="61407"/>
                  <a:pt x="61407" y="61407"/>
                </a:cubicBezTo>
                <a:cubicBezTo>
                  <a:pt x="67569" y="61407"/>
                  <a:pt x="72571" y="66409"/>
                  <a:pt x="72571" y="72571"/>
                </a:cubicBezTo>
                <a:cubicBezTo>
                  <a:pt x="72571" y="78733"/>
                  <a:pt x="67569" y="83736"/>
                  <a:pt x="61407" y="83736"/>
                </a:cubicBezTo>
                <a:cubicBezTo>
                  <a:pt x="55245" y="83736"/>
                  <a:pt x="50242" y="78733"/>
                  <a:pt x="50242" y="72571"/>
                </a:cubicBezTo>
                <a:close/>
                <a:moveTo>
                  <a:pt x="117231" y="61407"/>
                </a:moveTo>
                <a:cubicBezTo>
                  <a:pt x="123393" y="61407"/>
                  <a:pt x="128396" y="66409"/>
                  <a:pt x="128396" y="72571"/>
                </a:cubicBezTo>
                <a:cubicBezTo>
                  <a:pt x="128396" y="78733"/>
                  <a:pt x="123393" y="83736"/>
                  <a:pt x="117231" y="83736"/>
                </a:cubicBezTo>
                <a:cubicBezTo>
                  <a:pt x="111069" y="83736"/>
                  <a:pt x="106066" y="78733"/>
                  <a:pt x="106066" y="72571"/>
                </a:cubicBezTo>
                <a:cubicBezTo>
                  <a:pt x="106066" y="66409"/>
                  <a:pt x="111069" y="61407"/>
                  <a:pt x="117231" y="61407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58" name="Text 56"/>
          <p:cNvSpPr/>
          <p:nvPr/>
        </p:nvSpPr>
        <p:spPr>
          <a:xfrm>
            <a:off x="8034634" y="6180853"/>
            <a:ext cx="3733521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First-Time Confidence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043566" y="6395218"/>
            <a:ext cx="3715657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Reducing entry barriers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03684" y="6716765"/>
            <a:ext cx="11531042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44" dirty="0">
                <a:solidFill>
                  <a:srgbClr val="1A1A2E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Sources: SEBI, Industry Reports, User Surveys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77441" y="5810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21431" y="42863"/>
                </a:moveTo>
                <a:cubicBezTo>
                  <a:pt x="21431" y="22163"/>
                  <a:pt x="38237" y="5358"/>
                  <a:pt x="58936" y="5358"/>
                </a:cubicBezTo>
                <a:cubicBezTo>
                  <a:pt x="79635" y="5358"/>
                  <a:pt x="96441" y="22163"/>
                  <a:pt x="96441" y="42862"/>
                </a:cubicBezTo>
                <a:cubicBezTo>
                  <a:pt x="96441" y="63562"/>
                  <a:pt x="79635" y="80367"/>
                  <a:pt x="58936" y="80367"/>
                </a:cubicBezTo>
                <a:cubicBezTo>
                  <a:pt x="38237" y="80367"/>
                  <a:pt x="21431" y="63562"/>
                  <a:pt x="21431" y="42863"/>
                </a:cubicBezTo>
                <a:close/>
                <a:moveTo>
                  <a:pt x="0" y="155377"/>
                </a:moveTo>
                <a:cubicBezTo>
                  <a:pt x="0" y="122828"/>
                  <a:pt x="26387" y="96441"/>
                  <a:pt x="58936" y="96441"/>
                </a:cubicBezTo>
                <a:cubicBezTo>
                  <a:pt x="91485" y="96441"/>
                  <a:pt x="117872" y="122828"/>
                  <a:pt x="117872" y="155377"/>
                </a:cubicBezTo>
                <a:lnTo>
                  <a:pt x="117872" y="157386"/>
                </a:lnTo>
                <a:cubicBezTo>
                  <a:pt x="117872" y="165155"/>
                  <a:pt x="111576" y="171450"/>
                  <a:pt x="103808" y="171450"/>
                </a:cubicBezTo>
                <a:lnTo>
                  <a:pt x="14064" y="171450"/>
                </a:lnTo>
                <a:cubicBezTo>
                  <a:pt x="6295" y="171450"/>
                  <a:pt x="0" y="165155"/>
                  <a:pt x="0" y="157386"/>
                </a:cubicBezTo>
                <a:lnTo>
                  <a:pt x="0" y="155377"/>
                </a:lnTo>
                <a:close/>
                <a:moveTo>
                  <a:pt x="144661" y="21431"/>
                </a:moveTo>
                <a:cubicBezTo>
                  <a:pt x="162403" y="21431"/>
                  <a:pt x="176808" y="35836"/>
                  <a:pt x="176808" y="53578"/>
                </a:cubicBezTo>
                <a:cubicBezTo>
                  <a:pt x="176808" y="71320"/>
                  <a:pt x="162403" y="85725"/>
                  <a:pt x="144661" y="85725"/>
                </a:cubicBezTo>
                <a:cubicBezTo>
                  <a:pt x="126919" y="85725"/>
                  <a:pt x="112514" y="71320"/>
                  <a:pt x="112514" y="53578"/>
                </a:cubicBezTo>
                <a:cubicBezTo>
                  <a:pt x="112514" y="35836"/>
                  <a:pt x="126919" y="21431"/>
                  <a:pt x="144661" y="21431"/>
                </a:cubicBezTo>
                <a:close/>
                <a:moveTo>
                  <a:pt x="144661" y="101798"/>
                </a:moveTo>
                <a:cubicBezTo>
                  <a:pt x="171283" y="101798"/>
                  <a:pt x="192881" y="123397"/>
                  <a:pt x="192881" y="150019"/>
                </a:cubicBezTo>
                <a:lnTo>
                  <a:pt x="192881" y="157520"/>
                </a:lnTo>
                <a:cubicBezTo>
                  <a:pt x="192881" y="165222"/>
                  <a:pt x="186653" y="171450"/>
                  <a:pt x="178951" y="171450"/>
                </a:cubicBezTo>
                <a:lnTo>
                  <a:pt x="130463" y="171450"/>
                </a:lnTo>
                <a:cubicBezTo>
                  <a:pt x="132673" y="167264"/>
                  <a:pt x="133945" y="162476"/>
                  <a:pt x="133945" y="157386"/>
                </a:cubicBezTo>
                <a:lnTo>
                  <a:pt x="133945" y="155377"/>
                </a:lnTo>
                <a:cubicBezTo>
                  <a:pt x="133945" y="138131"/>
                  <a:pt x="128119" y="122259"/>
                  <a:pt x="118374" y="109601"/>
                </a:cubicBezTo>
                <a:cubicBezTo>
                  <a:pt x="125942" y="104678"/>
                  <a:pt x="134983" y="101798"/>
                  <a:pt x="144661" y="10179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PERSONA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609600"/>
            <a:ext cx="3286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Segment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09663"/>
            <a:ext cx="3676650" cy="4276725"/>
          </a:xfrm>
          <a:custGeom>
            <a:avLst/>
            <a:gdLst/>
            <a:ahLst/>
            <a:cxnLst/>
            <a:rect l="l" t="t" r="r" b="b"/>
            <a:pathLst>
              <a:path w="3676650" h="42767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162418"/>
                </a:lnTo>
                <a:cubicBezTo>
                  <a:pt x="3676650" y="4225548"/>
                  <a:pt x="3625473" y="4276725"/>
                  <a:pt x="3562343" y="4276725"/>
                </a:cubicBezTo>
                <a:lnTo>
                  <a:pt x="114307" y="4276725"/>
                </a:lnTo>
                <a:cubicBezTo>
                  <a:pt x="51177" y="4276725"/>
                  <a:pt x="0" y="4225548"/>
                  <a:pt x="0" y="4162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2925" y="13239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/>
              </a:gs>
              <a:gs pos="100000">
                <a:srgbClr val="0056B3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26281" y="14954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1266825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Amit Verma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0625" y="1533525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35 • Bengaluru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0625" y="1724025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7ED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Engineer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028825"/>
            <a:ext cx="3362325" cy="1028700"/>
          </a:xfrm>
          <a:custGeom>
            <a:avLst/>
            <a:gdLst/>
            <a:ahLst/>
            <a:cxnLst/>
            <a:rect l="l" t="t" r="r" b="b"/>
            <a:pathLst>
              <a:path w="3362325" h="1028700">
                <a:moveTo>
                  <a:pt x="76196" y="0"/>
                </a:moveTo>
                <a:lnTo>
                  <a:pt x="3286129" y="0"/>
                </a:lnTo>
                <a:cubicBezTo>
                  <a:pt x="3328211" y="0"/>
                  <a:pt x="3362325" y="34114"/>
                  <a:pt x="3362325" y="76196"/>
                </a:cubicBezTo>
                <a:lnTo>
                  <a:pt x="3362325" y="952504"/>
                </a:lnTo>
                <a:cubicBezTo>
                  <a:pt x="3362325" y="994586"/>
                  <a:pt x="3328211" y="1028700"/>
                  <a:pt x="32861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13" name="Text 11"/>
          <p:cNvSpPr/>
          <p:nvPr/>
        </p:nvSpPr>
        <p:spPr>
          <a:xfrm>
            <a:off x="657225" y="2143125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Behavior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2371725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Primarily invests in FDs with occasional trading. Knows investing is important but lacks time to research and monitor.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3171825"/>
            <a:ext cx="3362325" cy="1104900"/>
          </a:xfrm>
          <a:custGeom>
            <a:avLst/>
            <a:gdLst/>
            <a:ahLst/>
            <a:cxnLst/>
            <a:rect l="l" t="t" r="r" b="b"/>
            <a:pathLst>
              <a:path w="3362325" h="1104900">
                <a:moveTo>
                  <a:pt x="76205" y="0"/>
                </a:moveTo>
                <a:lnTo>
                  <a:pt x="3286120" y="0"/>
                </a:lnTo>
                <a:cubicBezTo>
                  <a:pt x="3328207" y="0"/>
                  <a:pt x="3362325" y="34118"/>
                  <a:pt x="3362325" y="76205"/>
                </a:cubicBezTo>
                <a:lnTo>
                  <a:pt x="3362325" y="1028695"/>
                </a:lnTo>
                <a:cubicBezTo>
                  <a:pt x="3362325" y="1070782"/>
                  <a:pt x="3328207" y="1104900"/>
                  <a:pt x="32861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657225" y="3286125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Pain Points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1513" y="35528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37281" y="37281"/>
                </a:moveTo>
                <a:cubicBezTo>
                  <a:pt x="39380" y="35183"/>
                  <a:pt x="42773" y="35183"/>
                  <a:pt x="44849" y="37281"/>
                </a:cubicBezTo>
                <a:lnTo>
                  <a:pt x="57128" y="49560"/>
                </a:lnTo>
                <a:lnTo>
                  <a:pt x="69406" y="37281"/>
                </a:lnTo>
                <a:cubicBezTo>
                  <a:pt x="71504" y="35183"/>
                  <a:pt x="74898" y="35183"/>
                  <a:pt x="76974" y="37281"/>
                </a:cubicBezTo>
                <a:cubicBezTo>
                  <a:pt x="79050" y="39380"/>
                  <a:pt x="79072" y="42773"/>
                  <a:pt x="76974" y="44849"/>
                </a:cubicBezTo>
                <a:lnTo>
                  <a:pt x="64696" y="57128"/>
                </a:lnTo>
                <a:lnTo>
                  <a:pt x="76974" y="69406"/>
                </a:lnTo>
                <a:cubicBezTo>
                  <a:pt x="79072" y="71504"/>
                  <a:pt x="79072" y="74898"/>
                  <a:pt x="76974" y="76974"/>
                </a:cubicBezTo>
                <a:cubicBezTo>
                  <a:pt x="74875" y="79050"/>
                  <a:pt x="71482" y="79072"/>
                  <a:pt x="69406" y="76974"/>
                </a:cubicBezTo>
                <a:lnTo>
                  <a:pt x="57128" y="64696"/>
                </a:lnTo>
                <a:lnTo>
                  <a:pt x="44849" y="76974"/>
                </a:lnTo>
                <a:cubicBezTo>
                  <a:pt x="42751" y="79072"/>
                  <a:pt x="39358" y="79072"/>
                  <a:pt x="37281" y="76974"/>
                </a:cubicBezTo>
                <a:cubicBezTo>
                  <a:pt x="35205" y="74875"/>
                  <a:pt x="35183" y="71482"/>
                  <a:pt x="37281" y="69406"/>
                </a:cubicBezTo>
                <a:lnTo>
                  <a:pt x="49560" y="57128"/>
                </a:lnTo>
                <a:lnTo>
                  <a:pt x="37281" y="44849"/>
                </a:lnTo>
                <a:cubicBezTo>
                  <a:pt x="35183" y="42751"/>
                  <a:pt x="35183" y="39358"/>
                  <a:pt x="37281" y="37281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" y="351472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Knows investing is important but lacks time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1513" y="37814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37281" y="37281"/>
                </a:moveTo>
                <a:cubicBezTo>
                  <a:pt x="39380" y="35183"/>
                  <a:pt x="42773" y="35183"/>
                  <a:pt x="44849" y="37281"/>
                </a:cubicBezTo>
                <a:lnTo>
                  <a:pt x="57128" y="49560"/>
                </a:lnTo>
                <a:lnTo>
                  <a:pt x="69406" y="37281"/>
                </a:lnTo>
                <a:cubicBezTo>
                  <a:pt x="71504" y="35183"/>
                  <a:pt x="74898" y="35183"/>
                  <a:pt x="76974" y="37281"/>
                </a:cubicBezTo>
                <a:cubicBezTo>
                  <a:pt x="79050" y="39380"/>
                  <a:pt x="79072" y="42773"/>
                  <a:pt x="76974" y="44849"/>
                </a:cubicBezTo>
                <a:lnTo>
                  <a:pt x="64696" y="57128"/>
                </a:lnTo>
                <a:lnTo>
                  <a:pt x="76974" y="69406"/>
                </a:lnTo>
                <a:cubicBezTo>
                  <a:pt x="79072" y="71504"/>
                  <a:pt x="79072" y="74898"/>
                  <a:pt x="76974" y="76974"/>
                </a:cubicBezTo>
                <a:cubicBezTo>
                  <a:pt x="74875" y="79050"/>
                  <a:pt x="71482" y="79072"/>
                  <a:pt x="69406" y="76974"/>
                </a:cubicBezTo>
                <a:lnTo>
                  <a:pt x="57128" y="64696"/>
                </a:lnTo>
                <a:lnTo>
                  <a:pt x="44849" y="76974"/>
                </a:lnTo>
                <a:cubicBezTo>
                  <a:pt x="42751" y="79072"/>
                  <a:pt x="39358" y="79072"/>
                  <a:pt x="37281" y="76974"/>
                </a:cubicBezTo>
                <a:cubicBezTo>
                  <a:pt x="35205" y="74875"/>
                  <a:pt x="35183" y="71482"/>
                  <a:pt x="37281" y="69406"/>
                </a:cubicBezTo>
                <a:lnTo>
                  <a:pt x="49560" y="57128"/>
                </a:lnTo>
                <a:lnTo>
                  <a:pt x="37281" y="44849"/>
                </a:lnTo>
                <a:cubicBezTo>
                  <a:pt x="35183" y="42751"/>
                  <a:pt x="35183" y="39358"/>
                  <a:pt x="37281" y="37281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" y="3743325"/>
            <a:ext cx="218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Confused by too many stock choices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1513" y="40100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37281" y="37281"/>
                </a:moveTo>
                <a:cubicBezTo>
                  <a:pt x="39380" y="35183"/>
                  <a:pt x="42773" y="35183"/>
                  <a:pt x="44849" y="37281"/>
                </a:cubicBezTo>
                <a:lnTo>
                  <a:pt x="57128" y="49560"/>
                </a:lnTo>
                <a:lnTo>
                  <a:pt x="69406" y="37281"/>
                </a:lnTo>
                <a:cubicBezTo>
                  <a:pt x="71504" y="35183"/>
                  <a:pt x="74898" y="35183"/>
                  <a:pt x="76974" y="37281"/>
                </a:cubicBezTo>
                <a:cubicBezTo>
                  <a:pt x="79050" y="39380"/>
                  <a:pt x="79072" y="42773"/>
                  <a:pt x="76974" y="44849"/>
                </a:cubicBezTo>
                <a:lnTo>
                  <a:pt x="64696" y="57128"/>
                </a:lnTo>
                <a:lnTo>
                  <a:pt x="76974" y="69406"/>
                </a:lnTo>
                <a:cubicBezTo>
                  <a:pt x="79072" y="71504"/>
                  <a:pt x="79072" y="74898"/>
                  <a:pt x="76974" y="76974"/>
                </a:cubicBezTo>
                <a:cubicBezTo>
                  <a:pt x="74875" y="79050"/>
                  <a:pt x="71482" y="79072"/>
                  <a:pt x="69406" y="76974"/>
                </a:cubicBezTo>
                <a:lnTo>
                  <a:pt x="57128" y="64696"/>
                </a:lnTo>
                <a:lnTo>
                  <a:pt x="44849" y="76974"/>
                </a:lnTo>
                <a:cubicBezTo>
                  <a:pt x="42751" y="79072"/>
                  <a:pt x="39358" y="79072"/>
                  <a:pt x="37281" y="76974"/>
                </a:cubicBezTo>
                <a:cubicBezTo>
                  <a:pt x="35205" y="74875"/>
                  <a:pt x="35183" y="71482"/>
                  <a:pt x="37281" y="69406"/>
                </a:cubicBezTo>
                <a:lnTo>
                  <a:pt x="49560" y="57128"/>
                </a:lnTo>
                <a:lnTo>
                  <a:pt x="37281" y="44849"/>
                </a:lnTo>
                <a:cubicBezTo>
                  <a:pt x="35183" y="42751"/>
                  <a:pt x="35183" y="39358"/>
                  <a:pt x="37281" y="37281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22" name="Text 20"/>
          <p:cNvSpPr/>
          <p:nvPr/>
        </p:nvSpPr>
        <p:spPr>
          <a:xfrm>
            <a:off x="876300" y="3971925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Wants structured guidance and recommendations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9163" y="1109663"/>
            <a:ext cx="3676650" cy="4276725"/>
          </a:xfrm>
          <a:custGeom>
            <a:avLst/>
            <a:gdLst/>
            <a:ahLst/>
            <a:cxnLst/>
            <a:rect l="l" t="t" r="r" b="b"/>
            <a:pathLst>
              <a:path w="3676650" h="42767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162418"/>
                </a:lnTo>
                <a:cubicBezTo>
                  <a:pt x="3676650" y="4225548"/>
                  <a:pt x="3625473" y="4276725"/>
                  <a:pt x="3562343" y="4276725"/>
                </a:cubicBezTo>
                <a:lnTo>
                  <a:pt x="114307" y="4276725"/>
                </a:lnTo>
                <a:cubicBezTo>
                  <a:pt x="51177" y="4276725"/>
                  <a:pt x="0" y="4225548"/>
                  <a:pt x="0" y="4162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16326" y="13239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09C"/>
              </a:gs>
              <a:gs pos="100000">
                <a:srgbClr val="00B386"/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4599682" y="14954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9781" y="-4837"/>
                </a:moveTo>
                <a:cubicBezTo>
                  <a:pt x="85539" y="-5693"/>
                  <a:pt x="81186" y="-5693"/>
                  <a:pt x="76944" y="-4837"/>
                </a:cubicBezTo>
                <a:lnTo>
                  <a:pt x="7181" y="9116"/>
                </a:lnTo>
                <a:cubicBezTo>
                  <a:pt x="3014" y="9934"/>
                  <a:pt x="0" y="13618"/>
                  <a:pt x="0" y="17859"/>
                </a:cubicBezTo>
                <a:cubicBezTo>
                  <a:pt x="0" y="21692"/>
                  <a:pt x="2418" y="25040"/>
                  <a:pt x="5953" y="26268"/>
                </a:cubicBezTo>
                <a:lnTo>
                  <a:pt x="5953" y="53578"/>
                </a:lnTo>
                <a:lnTo>
                  <a:pt x="112" y="82823"/>
                </a:lnTo>
                <a:cubicBezTo>
                  <a:pt x="37" y="83158"/>
                  <a:pt x="0" y="83530"/>
                  <a:pt x="0" y="83902"/>
                </a:cubicBezTo>
                <a:cubicBezTo>
                  <a:pt x="0" y="86878"/>
                  <a:pt x="2418" y="89334"/>
                  <a:pt x="5432" y="89334"/>
                </a:cubicBezTo>
                <a:lnTo>
                  <a:pt x="18417" y="89334"/>
                </a:lnTo>
                <a:cubicBezTo>
                  <a:pt x="21394" y="89334"/>
                  <a:pt x="23850" y="86916"/>
                  <a:pt x="23850" y="83902"/>
                </a:cubicBezTo>
                <a:cubicBezTo>
                  <a:pt x="23850" y="83530"/>
                  <a:pt x="23812" y="83195"/>
                  <a:pt x="23738" y="82823"/>
                </a:cubicBezTo>
                <a:lnTo>
                  <a:pt x="17859" y="53578"/>
                </a:lnTo>
                <a:lnTo>
                  <a:pt x="17859" y="28761"/>
                </a:lnTo>
                <a:lnTo>
                  <a:pt x="35719" y="32333"/>
                </a:lnTo>
                <a:lnTo>
                  <a:pt x="35719" y="53578"/>
                </a:lnTo>
                <a:cubicBezTo>
                  <a:pt x="35719" y="79883"/>
                  <a:pt x="57038" y="101203"/>
                  <a:pt x="83344" y="101203"/>
                </a:cubicBezTo>
                <a:cubicBezTo>
                  <a:pt x="109649" y="101203"/>
                  <a:pt x="130969" y="79883"/>
                  <a:pt x="130969" y="53578"/>
                </a:cubicBezTo>
                <a:lnTo>
                  <a:pt x="130969" y="32333"/>
                </a:lnTo>
                <a:lnTo>
                  <a:pt x="159507" y="26640"/>
                </a:lnTo>
                <a:cubicBezTo>
                  <a:pt x="163674" y="25784"/>
                  <a:pt x="166688" y="22101"/>
                  <a:pt x="166688" y="17859"/>
                </a:cubicBezTo>
                <a:cubicBezTo>
                  <a:pt x="166688" y="13618"/>
                  <a:pt x="163674" y="9934"/>
                  <a:pt x="159507" y="9116"/>
                </a:cubicBezTo>
                <a:lnTo>
                  <a:pt x="89781" y="-4837"/>
                </a:lnTo>
                <a:close/>
                <a:moveTo>
                  <a:pt x="83344" y="83344"/>
                </a:moveTo>
                <a:cubicBezTo>
                  <a:pt x="66898" y="83344"/>
                  <a:pt x="53578" y="70024"/>
                  <a:pt x="53578" y="53578"/>
                </a:cubicBezTo>
                <a:lnTo>
                  <a:pt x="113109" y="53578"/>
                </a:lnTo>
                <a:cubicBezTo>
                  <a:pt x="113109" y="70024"/>
                  <a:pt x="99789" y="83344"/>
                  <a:pt x="83344" y="83344"/>
                </a:cubicBezTo>
                <a:close/>
                <a:moveTo>
                  <a:pt x="44686" y="119100"/>
                </a:moveTo>
                <a:cubicBezTo>
                  <a:pt x="21841" y="129592"/>
                  <a:pt x="5953" y="152660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74414" y="190500"/>
                </a:lnTo>
                <a:lnTo>
                  <a:pt x="74414" y="136178"/>
                </a:lnTo>
                <a:lnTo>
                  <a:pt x="53057" y="120179"/>
                </a:lnTo>
                <a:cubicBezTo>
                  <a:pt x="50639" y="118356"/>
                  <a:pt x="47402" y="117872"/>
                  <a:pt x="44648" y="119137"/>
                </a:cubicBezTo>
                <a:close/>
                <a:moveTo>
                  <a:pt x="92273" y="190500"/>
                </a:move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2660"/>
                  <a:pt x="144847" y="129592"/>
                  <a:pt x="122002" y="119137"/>
                </a:cubicBezTo>
                <a:cubicBezTo>
                  <a:pt x="119249" y="117872"/>
                  <a:pt x="116012" y="118356"/>
                  <a:pt x="113593" y="120179"/>
                </a:cubicBezTo>
                <a:lnTo>
                  <a:pt x="92236" y="136178"/>
                </a:lnTo>
                <a:lnTo>
                  <a:pt x="92236" y="190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64026" y="126682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Sneha Rao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64026" y="153352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25 • Hyderabad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64026" y="172402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Executive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16326" y="2028825"/>
            <a:ext cx="3362325" cy="1028700"/>
          </a:xfrm>
          <a:custGeom>
            <a:avLst/>
            <a:gdLst/>
            <a:ahLst/>
            <a:cxnLst/>
            <a:rect l="l" t="t" r="r" b="b"/>
            <a:pathLst>
              <a:path w="3362325" h="1028700">
                <a:moveTo>
                  <a:pt x="76196" y="0"/>
                </a:moveTo>
                <a:lnTo>
                  <a:pt x="3286129" y="0"/>
                </a:lnTo>
                <a:cubicBezTo>
                  <a:pt x="3328211" y="0"/>
                  <a:pt x="3362325" y="34114"/>
                  <a:pt x="3362325" y="76196"/>
                </a:cubicBezTo>
                <a:lnTo>
                  <a:pt x="3362325" y="952504"/>
                </a:lnTo>
                <a:cubicBezTo>
                  <a:pt x="3362325" y="994586"/>
                  <a:pt x="3328211" y="1028700"/>
                  <a:pt x="32861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4530626" y="2143125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Behavior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30626" y="2371725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Keeps money in savings account with small SIP. Early career professional with limited investment knowledge.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16326" y="3171825"/>
            <a:ext cx="3362325" cy="1104900"/>
          </a:xfrm>
          <a:custGeom>
            <a:avLst/>
            <a:gdLst/>
            <a:ahLst/>
            <a:cxnLst/>
            <a:rect l="l" t="t" r="r" b="b"/>
            <a:pathLst>
              <a:path w="3362325" h="1104900">
                <a:moveTo>
                  <a:pt x="76205" y="0"/>
                </a:moveTo>
                <a:lnTo>
                  <a:pt x="3286120" y="0"/>
                </a:lnTo>
                <a:cubicBezTo>
                  <a:pt x="3328207" y="0"/>
                  <a:pt x="3362325" y="34118"/>
                  <a:pt x="3362325" y="76205"/>
                </a:cubicBezTo>
                <a:lnTo>
                  <a:pt x="3362325" y="1028695"/>
                </a:lnTo>
                <a:cubicBezTo>
                  <a:pt x="3362325" y="1070782"/>
                  <a:pt x="3328207" y="1104900"/>
                  <a:pt x="32861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33" name="Text 31"/>
          <p:cNvSpPr/>
          <p:nvPr/>
        </p:nvSpPr>
        <p:spPr>
          <a:xfrm>
            <a:off x="4530626" y="3286125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Pain Points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44913" y="35528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37281" y="37281"/>
                </a:moveTo>
                <a:cubicBezTo>
                  <a:pt x="39380" y="35183"/>
                  <a:pt x="42773" y="35183"/>
                  <a:pt x="44849" y="37281"/>
                </a:cubicBezTo>
                <a:lnTo>
                  <a:pt x="57128" y="49560"/>
                </a:lnTo>
                <a:lnTo>
                  <a:pt x="69406" y="37281"/>
                </a:lnTo>
                <a:cubicBezTo>
                  <a:pt x="71504" y="35183"/>
                  <a:pt x="74898" y="35183"/>
                  <a:pt x="76974" y="37281"/>
                </a:cubicBezTo>
                <a:cubicBezTo>
                  <a:pt x="79050" y="39380"/>
                  <a:pt x="79072" y="42773"/>
                  <a:pt x="76974" y="44849"/>
                </a:cubicBezTo>
                <a:lnTo>
                  <a:pt x="64696" y="57128"/>
                </a:lnTo>
                <a:lnTo>
                  <a:pt x="76974" y="69406"/>
                </a:lnTo>
                <a:cubicBezTo>
                  <a:pt x="79072" y="71504"/>
                  <a:pt x="79072" y="74898"/>
                  <a:pt x="76974" y="76974"/>
                </a:cubicBezTo>
                <a:cubicBezTo>
                  <a:pt x="74875" y="79050"/>
                  <a:pt x="71482" y="79072"/>
                  <a:pt x="69406" y="76974"/>
                </a:cubicBezTo>
                <a:lnTo>
                  <a:pt x="57128" y="64696"/>
                </a:lnTo>
                <a:lnTo>
                  <a:pt x="44849" y="76974"/>
                </a:lnTo>
                <a:cubicBezTo>
                  <a:pt x="42751" y="79072"/>
                  <a:pt x="39358" y="79072"/>
                  <a:pt x="37281" y="76974"/>
                </a:cubicBezTo>
                <a:cubicBezTo>
                  <a:pt x="35205" y="74875"/>
                  <a:pt x="35183" y="71482"/>
                  <a:pt x="37281" y="69406"/>
                </a:cubicBezTo>
                <a:lnTo>
                  <a:pt x="49560" y="57128"/>
                </a:lnTo>
                <a:lnTo>
                  <a:pt x="37281" y="44849"/>
                </a:lnTo>
                <a:cubicBezTo>
                  <a:pt x="35183" y="42751"/>
                  <a:pt x="35183" y="39358"/>
                  <a:pt x="37281" y="37281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35" name="Text 33"/>
          <p:cNvSpPr/>
          <p:nvPr/>
        </p:nvSpPr>
        <p:spPr>
          <a:xfrm>
            <a:off x="4749701" y="3514725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Fear of losing money in volatile markets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44913" y="37814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37281" y="37281"/>
                </a:moveTo>
                <a:cubicBezTo>
                  <a:pt x="39380" y="35183"/>
                  <a:pt x="42773" y="35183"/>
                  <a:pt x="44849" y="37281"/>
                </a:cubicBezTo>
                <a:lnTo>
                  <a:pt x="57128" y="49560"/>
                </a:lnTo>
                <a:lnTo>
                  <a:pt x="69406" y="37281"/>
                </a:lnTo>
                <a:cubicBezTo>
                  <a:pt x="71504" y="35183"/>
                  <a:pt x="74898" y="35183"/>
                  <a:pt x="76974" y="37281"/>
                </a:cubicBezTo>
                <a:cubicBezTo>
                  <a:pt x="79050" y="39380"/>
                  <a:pt x="79072" y="42773"/>
                  <a:pt x="76974" y="44849"/>
                </a:cubicBezTo>
                <a:lnTo>
                  <a:pt x="64696" y="57128"/>
                </a:lnTo>
                <a:lnTo>
                  <a:pt x="76974" y="69406"/>
                </a:lnTo>
                <a:cubicBezTo>
                  <a:pt x="79072" y="71504"/>
                  <a:pt x="79072" y="74898"/>
                  <a:pt x="76974" y="76974"/>
                </a:cubicBezTo>
                <a:cubicBezTo>
                  <a:pt x="74875" y="79050"/>
                  <a:pt x="71482" y="79072"/>
                  <a:pt x="69406" y="76974"/>
                </a:cubicBezTo>
                <a:lnTo>
                  <a:pt x="57128" y="64696"/>
                </a:lnTo>
                <a:lnTo>
                  <a:pt x="44849" y="76974"/>
                </a:lnTo>
                <a:cubicBezTo>
                  <a:pt x="42751" y="79072"/>
                  <a:pt x="39358" y="79072"/>
                  <a:pt x="37281" y="76974"/>
                </a:cubicBezTo>
                <a:cubicBezTo>
                  <a:pt x="35205" y="74875"/>
                  <a:pt x="35183" y="71482"/>
                  <a:pt x="37281" y="69406"/>
                </a:cubicBezTo>
                <a:lnTo>
                  <a:pt x="49560" y="57128"/>
                </a:lnTo>
                <a:lnTo>
                  <a:pt x="37281" y="44849"/>
                </a:lnTo>
                <a:cubicBezTo>
                  <a:pt x="35183" y="42751"/>
                  <a:pt x="35183" y="39358"/>
                  <a:pt x="37281" y="37281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37" name="Text 35"/>
          <p:cNvSpPr/>
          <p:nvPr/>
        </p:nvSpPr>
        <p:spPr>
          <a:xfrm>
            <a:off x="4749701" y="3743325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Unsure how much to invest and where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44913" y="40100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37281" y="37281"/>
                </a:moveTo>
                <a:cubicBezTo>
                  <a:pt x="39380" y="35183"/>
                  <a:pt x="42773" y="35183"/>
                  <a:pt x="44849" y="37281"/>
                </a:cubicBezTo>
                <a:lnTo>
                  <a:pt x="57128" y="49560"/>
                </a:lnTo>
                <a:lnTo>
                  <a:pt x="69406" y="37281"/>
                </a:lnTo>
                <a:cubicBezTo>
                  <a:pt x="71504" y="35183"/>
                  <a:pt x="74898" y="35183"/>
                  <a:pt x="76974" y="37281"/>
                </a:cubicBezTo>
                <a:cubicBezTo>
                  <a:pt x="79050" y="39380"/>
                  <a:pt x="79072" y="42773"/>
                  <a:pt x="76974" y="44849"/>
                </a:cubicBezTo>
                <a:lnTo>
                  <a:pt x="64696" y="57128"/>
                </a:lnTo>
                <a:lnTo>
                  <a:pt x="76974" y="69406"/>
                </a:lnTo>
                <a:cubicBezTo>
                  <a:pt x="79072" y="71504"/>
                  <a:pt x="79072" y="74898"/>
                  <a:pt x="76974" y="76974"/>
                </a:cubicBezTo>
                <a:cubicBezTo>
                  <a:pt x="74875" y="79050"/>
                  <a:pt x="71482" y="79072"/>
                  <a:pt x="69406" y="76974"/>
                </a:cubicBezTo>
                <a:lnTo>
                  <a:pt x="57128" y="64696"/>
                </a:lnTo>
                <a:lnTo>
                  <a:pt x="44849" y="76974"/>
                </a:lnTo>
                <a:cubicBezTo>
                  <a:pt x="42751" y="79072"/>
                  <a:pt x="39358" y="79072"/>
                  <a:pt x="37281" y="76974"/>
                </a:cubicBezTo>
                <a:cubicBezTo>
                  <a:pt x="35205" y="74875"/>
                  <a:pt x="35183" y="71482"/>
                  <a:pt x="37281" y="69406"/>
                </a:cubicBezTo>
                <a:lnTo>
                  <a:pt x="49560" y="57128"/>
                </a:lnTo>
                <a:lnTo>
                  <a:pt x="37281" y="44849"/>
                </a:lnTo>
                <a:cubicBezTo>
                  <a:pt x="35183" y="42751"/>
                  <a:pt x="35183" y="39358"/>
                  <a:pt x="37281" y="37281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39" name="Text 37"/>
          <p:cNvSpPr/>
          <p:nvPr/>
        </p:nvSpPr>
        <p:spPr>
          <a:xfrm>
            <a:off x="4749701" y="3971925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Wants simple, low-risk entry point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27950" y="1104900"/>
            <a:ext cx="3686175" cy="2095500"/>
          </a:xfrm>
          <a:custGeom>
            <a:avLst/>
            <a:gdLst/>
            <a:ahLst/>
            <a:cxnLst/>
            <a:rect l="l" t="t" r="r" b="b"/>
            <a:pathLst>
              <a:path w="3686175" h="2095500">
                <a:moveTo>
                  <a:pt x="114310" y="0"/>
                </a:moveTo>
                <a:lnTo>
                  <a:pt x="3571865" y="0"/>
                </a:lnTo>
                <a:cubicBezTo>
                  <a:pt x="3634997" y="0"/>
                  <a:pt x="3686175" y="51178"/>
                  <a:pt x="3686175" y="114310"/>
                </a:cubicBezTo>
                <a:lnTo>
                  <a:pt x="3686175" y="1981190"/>
                </a:lnTo>
                <a:cubicBezTo>
                  <a:pt x="3686175" y="2044322"/>
                  <a:pt x="3634997" y="2095500"/>
                  <a:pt x="3571865" y="2095500"/>
                </a:cubicBezTo>
                <a:lnTo>
                  <a:pt x="114310" y="2095500"/>
                </a:lnTo>
                <a:cubicBezTo>
                  <a:pt x="51178" y="2095500"/>
                  <a:pt x="0" y="2044322"/>
                  <a:pt x="0" y="198119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/>
              </a:gs>
              <a:gs pos="100000">
                <a:srgbClr val="0056B3"/>
              </a:gs>
            </a:gsLst>
            <a:lin ang="2700000" scaled="1"/>
          </a:gradFill>
          <a:ln/>
        </p:spPr>
      </p:sp>
      <p:sp>
        <p:nvSpPr>
          <p:cNvPr id="41" name="Text 39"/>
          <p:cNvSpPr/>
          <p:nvPr/>
        </p:nvSpPr>
        <p:spPr>
          <a:xfrm>
            <a:off x="8280350" y="1257300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Segment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80350" y="1657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394650" y="1771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8775650" y="1638300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Professionals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75650" y="186690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23-40 Years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80350" y="2152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13700" y="22669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8775650" y="2133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smartphone &amp; app adoption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775650" y="2362200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natives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80350" y="2647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394650" y="2762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8775650" y="262890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wealth creation mindset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75650" y="2857500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Future-focused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32713" y="3357563"/>
            <a:ext cx="3676650" cy="2028825"/>
          </a:xfrm>
          <a:custGeom>
            <a:avLst/>
            <a:gdLst/>
            <a:ahLst/>
            <a:cxnLst/>
            <a:rect l="l" t="t" r="r" b="b"/>
            <a:pathLst>
              <a:path w="3676650" h="2028825">
                <a:moveTo>
                  <a:pt x="114304" y="0"/>
                </a:moveTo>
                <a:lnTo>
                  <a:pt x="3562346" y="0"/>
                </a:lnTo>
                <a:cubicBezTo>
                  <a:pt x="3625474" y="0"/>
                  <a:pt x="3676650" y="51176"/>
                  <a:pt x="3676650" y="114304"/>
                </a:cubicBezTo>
                <a:lnTo>
                  <a:pt x="3676650" y="1914521"/>
                </a:lnTo>
                <a:cubicBezTo>
                  <a:pt x="3676650" y="1977649"/>
                  <a:pt x="3625474" y="2028825"/>
                  <a:pt x="3562346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289875" y="3514725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Segment?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89875" y="3895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57" name="Text 55"/>
          <p:cNvSpPr/>
          <p:nvPr/>
        </p:nvSpPr>
        <p:spPr>
          <a:xfrm>
            <a:off x="8261300" y="389572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94675" y="38957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Peak Earning Years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594675" y="4086225"/>
            <a:ext cx="3114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Entering prime income generation phase with disposable income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89875" y="4467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61" name="Text 59"/>
          <p:cNvSpPr/>
          <p:nvPr/>
        </p:nvSpPr>
        <p:spPr>
          <a:xfrm>
            <a:off x="8261300" y="446722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594675" y="4467225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Natives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594675" y="4657725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Comfortable with technology and app-based solutions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89875" y="4886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65" name="Text 63"/>
          <p:cNvSpPr/>
          <p:nvPr/>
        </p:nvSpPr>
        <p:spPr>
          <a:xfrm>
            <a:off x="8261300" y="488632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594675" y="4886325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Future-Focused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594675" y="5076825"/>
            <a:ext cx="2790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Thinking about long-term financial goals and retirement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81000" y="5543550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838203"/>
                </a:lnTo>
                <a:cubicBezTo>
                  <a:pt x="11430000" y="880285"/>
                  <a:pt x="11395885" y="914400"/>
                  <a:pt x="11353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10000"/>
                </a:srgbClr>
              </a:gs>
              <a:gs pos="100000">
                <a:srgbClr val="387ED1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69" name="Text 67"/>
          <p:cNvSpPr/>
          <p:nvPr/>
        </p:nvSpPr>
        <p:spPr>
          <a:xfrm>
            <a:off x="423863" y="5734050"/>
            <a:ext cx="2790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~200 Million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61963" y="6076950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Addressable Market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290888" y="577215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2E">
              <a:alpha val="2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3381375" y="5734050"/>
            <a:ext cx="2790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D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~60%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3419475" y="6076950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Newbie or Non-Investors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248400" y="577215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2E">
              <a:alpha val="2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6448425" y="56959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76" name="Text 74"/>
          <p:cNvSpPr/>
          <p:nvPr/>
        </p:nvSpPr>
        <p:spPr>
          <a:xfrm>
            <a:off x="6657975" y="5657850"/>
            <a:ext cx="51149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Thread: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personas represent the 60% of working professionals who want to invest but are held back by fear, confusion, and lack of guidance. They need a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87ED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trusted companion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not just a trading platform.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323850" y="653415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A1A2E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Based on user interviews with 12 working professionals aged 23-40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350" y="434188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3" name="Shape 1"/>
          <p:cNvSpPr/>
          <p:nvPr/>
        </p:nvSpPr>
        <p:spPr>
          <a:xfrm>
            <a:off x="454812" y="529709"/>
            <a:ext cx="136769" cy="156308"/>
          </a:xfrm>
          <a:custGeom>
            <a:avLst/>
            <a:gdLst/>
            <a:ahLst/>
            <a:cxnLst/>
            <a:rect l="l" t="t" r="r" b="b"/>
            <a:pathLst>
              <a:path w="136769" h="156308">
                <a:moveTo>
                  <a:pt x="68385" y="-9769"/>
                </a:moveTo>
                <a:cubicBezTo>
                  <a:pt x="73788" y="-9769"/>
                  <a:pt x="78154" y="-5404"/>
                  <a:pt x="78154" y="0"/>
                </a:cubicBezTo>
                <a:lnTo>
                  <a:pt x="78154" y="9769"/>
                </a:lnTo>
                <a:lnTo>
                  <a:pt x="87923" y="9769"/>
                </a:lnTo>
                <a:cubicBezTo>
                  <a:pt x="93327" y="9769"/>
                  <a:pt x="97692" y="14135"/>
                  <a:pt x="97692" y="19538"/>
                </a:cubicBezTo>
                <a:cubicBezTo>
                  <a:pt x="97692" y="24942"/>
                  <a:pt x="93327" y="29308"/>
                  <a:pt x="87923" y="29308"/>
                </a:cubicBezTo>
                <a:lnTo>
                  <a:pt x="78154" y="29308"/>
                </a:lnTo>
                <a:lnTo>
                  <a:pt x="78154" y="48846"/>
                </a:lnTo>
                <a:lnTo>
                  <a:pt x="125107" y="48846"/>
                </a:lnTo>
                <a:cubicBezTo>
                  <a:pt x="131549" y="48846"/>
                  <a:pt x="136769" y="54067"/>
                  <a:pt x="136769" y="60508"/>
                </a:cubicBezTo>
                <a:cubicBezTo>
                  <a:pt x="136769" y="62462"/>
                  <a:pt x="136281" y="64385"/>
                  <a:pt x="135334" y="66095"/>
                </a:cubicBezTo>
                <a:lnTo>
                  <a:pt x="107462" y="117231"/>
                </a:lnTo>
                <a:lnTo>
                  <a:pt x="124619" y="138693"/>
                </a:lnTo>
                <a:cubicBezTo>
                  <a:pt x="126145" y="140616"/>
                  <a:pt x="127000" y="142997"/>
                  <a:pt x="127000" y="145470"/>
                </a:cubicBezTo>
                <a:cubicBezTo>
                  <a:pt x="127000" y="151454"/>
                  <a:pt x="122146" y="156308"/>
                  <a:pt x="116162" y="156308"/>
                </a:cubicBezTo>
                <a:lnTo>
                  <a:pt x="20607" y="156308"/>
                </a:lnTo>
                <a:cubicBezTo>
                  <a:pt x="14623" y="156308"/>
                  <a:pt x="9769" y="151454"/>
                  <a:pt x="9769" y="145470"/>
                </a:cubicBezTo>
                <a:cubicBezTo>
                  <a:pt x="9769" y="142997"/>
                  <a:pt x="10594" y="140616"/>
                  <a:pt x="12150" y="138693"/>
                </a:cubicBezTo>
                <a:lnTo>
                  <a:pt x="29308" y="117231"/>
                </a:lnTo>
                <a:lnTo>
                  <a:pt x="1435" y="66125"/>
                </a:lnTo>
                <a:cubicBezTo>
                  <a:pt x="488" y="64385"/>
                  <a:pt x="0" y="62462"/>
                  <a:pt x="0" y="60508"/>
                </a:cubicBezTo>
                <a:cubicBezTo>
                  <a:pt x="0" y="54067"/>
                  <a:pt x="5220" y="48846"/>
                  <a:pt x="11662" y="48846"/>
                </a:cubicBezTo>
                <a:lnTo>
                  <a:pt x="58615" y="48846"/>
                </a:lnTo>
                <a:lnTo>
                  <a:pt x="58615" y="29308"/>
                </a:lnTo>
                <a:lnTo>
                  <a:pt x="48846" y="29308"/>
                </a:lnTo>
                <a:cubicBezTo>
                  <a:pt x="43443" y="29308"/>
                  <a:pt x="39077" y="24942"/>
                  <a:pt x="39077" y="19538"/>
                </a:cubicBezTo>
                <a:cubicBezTo>
                  <a:pt x="39077" y="14135"/>
                  <a:pt x="43443" y="9769"/>
                  <a:pt x="48846" y="9769"/>
                </a:cubicBezTo>
                <a:lnTo>
                  <a:pt x="58615" y="9769"/>
                </a:lnTo>
                <a:lnTo>
                  <a:pt x="58615" y="0"/>
                </a:lnTo>
                <a:cubicBezTo>
                  <a:pt x="58615" y="-5404"/>
                  <a:pt x="62981" y="-9769"/>
                  <a:pt x="68385" y="-97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98906" y="347350"/>
            <a:ext cx="1745436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spc="55" kern="0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POSITION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8906" y="555761"/>
            <a:ext cx="1806222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1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Zerodha?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1692" y="1011658"/>
            <a:ext cx="5653128" cy="2891692"/>
          </a:xfrm>
          <a:custGeom>
            <a:avLst/>
            <a:gdLst/>
            <a:ahLst/>
            <a:cxnLst/>
            <a:rect l="l" t="t" r="r" b="b"/>
            <a:pathLst>
              <a:path w="5653128" h="2891692">
                <a:moveTo>
                  <a:pt x="104217" y="0"/>
                </a:moveTo>
                <a:lnTo>
                  <a:pt x="5548912" y="0"/>
                </a:lnTo>
                <a:cubicBezTo>
                  <a:pt x="5606469" y="0"/>
                  <a:pt x="5653128" y="46659"/>
                  <a:pt x="5653128" y="104217"/>
                </a:cubicBezTo>
                <a:lnTo>
                  <a:pt x="5653128" y="2787476"/>
                </a:lnTo>
                <a:cubicBezTo>
                  <a:pt x="5653128" y="2845033"/>
                  <a:pt x="5606469" y="2891692"/>
                  <a:pt x="5548912" y="2891692"/>
                </a:cubicBezTo>
                <a:lnTo>
                  <a:pt x="104217" y="2891692"/>
                </a:lnTo>
                <a:cubicBezTo>
                  <a:pt x="46659" y="2891692"/>
                  <a:pt x="0" y="2845033"/>
                  <a:pt x="0" y="2787476"/>
                </a:cubicBezTo>
                <a:lnTo>
                  <a:pt x="0" y="104217"/>
                </a:lnTo>
                <a:cubicBezTo>
                  <a:pt x="0" y="46698"/>
                  <a:pt x="46698" y="0"/>
                  <a:pt x="10421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6051" dist="8684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4974" y="1154940"/>
            <a:ext cx="5453402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Strengths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4974" y="1502291"/>
            <a:ext cx="5436034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Zerodha has built a formidable position in the Indian fintech landscape through a combination of </a:t>
            </a:r>
            <a:pPr>
              <a:lnSpc>
                <a:spcPct val="130000"/>
              </a:lnSpc>
            </a:pPr>
            <a:r>
              <a:rPr lang="en-US" sz="1094" b="1" dirty="0">
                <a:solidFill>
                  <a:srgbClr val="387ED1"/>
                </a:solidFill>
                <a:highlight>
                  <a:srgbClr val="387ED1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trust, technology, and sustainable business practices 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4974" y="2023316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387ED1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9179" y="2127521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69470" y="0"/>
                </a:moveTo>
                <a:cubicBezTo>
                  <a:pt x="70718" y="0"/>
                  <a:pt x="71967" y="271"/>
                  <a:pt x="73106" y="787"/>
                </a:cubicBezTo>
                <a:lnTo>
                  <a:pt x="124232" y="22469"/>
                </a:lnTo>
                <a:cubicBezTo>
                  <a:pt x="130202" y="24993"/>
                  <a:pt x="134653" y="30882"/>
                  <a:pt x="134625" y="37991"/>
                </a:cubicBezTo>
                <a:cubicBezTo>
                  <a:pt x="134490" y="64911"/>
                  <a:pt x="123418" y="114164"/>
                  <a:pt x="76661" y="136552"/>
                </a:cubicBezTo>
                <a:cubicBezTo>
                  <a:pt x="72129" y="138723"/>
                  <a:pt x="66865" y="138723"/>
                  <a:pt x="62333" y="136552"/>
                </a:cubicBezTo>
                <a:cubicBezTo>
                  <a:pt x="15549" y="114164"/>
                  <a:pt x="4505" y="64911"/>
                  <a:pt x="4369" y="37991"/>
                </a:cubicBezTo>
                <a:cubicBezTo>
                  <a:pt x="4342" y="30882"/>
                  <a:pt x="8792" y="24993"/>
                  <a:pt x="14762" y="22469"/>
                </a:cubicBezTo>
                <a:lnTo>
                  <a:pt x="65861" y="787"/>
                </a:lnTo>
                <a:cubicBezTo>
                  <a:pt x="67001" y="271"/>
                  <a:pt x="68222" y="0"/>
                  <a:pt x="69470" y="0"/>
                </a:cubicBezTo>
                <a:close/>
                <a:moveTo>
                  <a:pt x="69470" y="18127"/>
                </a:moveTo>
                <a:lnTo>
                  <a:pt x="69470" y="120731"/>
                </a:lnTo>
                <a:cubicBezTo>
                  <a:pt x="106919" y="102604"/>
                  <a:pt x="116987" y="62442"/>
                  <a:pt x="117231" y="38399"/>
                </a:cubicBezTo>
                <a:lnTo>
                  <a:pt x="69470" y="18154"/>
                </a:lnTo>
                <a:lnTo>
                  <a:pt x="69470" y="18154"/>
                </a:ln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11" name="Text 9"/>
          <p:cNvSpPr/>
          <p:nvPr/>
        </p:nvSpPr>
        <p:spPr>
          <a:xfrm>
            <a:off x="946530" y="2023316"/>
            <a:ext cx="448082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Trust &amp; Brand Credibility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6530" y="2231726"/>
            <a:ext cx="4472137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of transparent operations have built unshakeable trust among millions of users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4974" y="2474872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1812" y="2579077"/>
            <a:ext cx="173675" cy="138940"/>
          </a:xfrm>
          <a:custGeom>
            <a:avLst/>
            <a:gdLst/>
            <a:ahLst/>
            <a:cxnLst/>
            <a:rect l="l" t="t" r="r" b="b"/>
            <a:pathLst>
              <a:path w="173675" h="138940">
                <a:moveTo>
                  <a:pt x="86838" y="4342"/>
                </a:moveTo>
                <a:cubicBezTo>
                  <a:pt x="102414" y="4342"/>
                  <a:pt x="115060" y="16988"/>
                  <a:pt x="115060" y="32564"/>
                </a:cubicBezTo>
                <a:cubicBezTo>
                  <a:pt x="115060" y="48140"/>
                  <a:pt x="102414" y="60786"/>
                  <a:pt x="86838" y="60786"/>
                </a:cubicBezTo>
                <a:cubicBezTo>
                  <a:pt x="71261" y="60786"/>
                  <a:pt x="58615" y="48140"/>
                  <a:pt x="58615" y="32564"/>
                </a:cubicBezTo>
                <a:cubicBezTo>
                  <a:pt x="58615" y="16988"/>
                  <a:pt x="71261" y="4342"/>
                  <a:pt x="86838" y="4342"/>
                </a:cubicBezTo>
                <a:close/>
                <a:moveTo>
                  <a:pt x="26051" y="23880"/>
                </a:moveTo>
                <a:cubicBezTo>
                  <a:pt x="36835" y="23880"/>
                  <a:pt x="45590" y="32635"/>
                  <a:pt x="45590" y="43419"/>
                </a:cubicBezTo>
                <a:cubicBezTo>
                  <a:pt x="45590" y="54202"/>
                  <a:pt x="36835" y="62957"/>
                  <a:pt x="26051" y="62957"/>
                </a:cubicBezTo>
                <a:cubicBezTo>
                  <a:pt x="15268" y="62957"/>
                  <a:pt x="6513" y="54202"/>
                  <a:pt x="6513" y="43419"/>
                </a:cubicBezTo>
                <a:cubicBezTo>
                  <a:pt x="6513" y="32635"/>
                  <a:pt x="15268" y="23880"/>
                  <a:pt x="26051" y="23880"/>
                </a:cubicBezTo>
                <a:close/>
                <a:moveTo>
                  <a:pt x="0" y="112889"/>
                </a:moveTo>
                <a:cubicBezTo>
                  <a:pt x="0" y="93703"/>
                  <a:pt x="15549" y="78154"/>
                  <a:pt x="34735" y="78154"/>
                </a:cubicBezTo>
                <a:cubicBezTo>
                  <a:pt x="38209" y="78154"/>
                  <a:pt x="41574" y="78669"/>
                  <a:pt x="44749" y="79619"/>
                </a:cubicBezTo>
                <a:cubicBezTo>
                  <a:pt x="35821" y="89606"/>
                  <a:pt x="30393" y="102794"/>
                  <a:pt x="30393" y="117231"/>
                </a:cubicBezTo>
                <a:lnTo>
                  <a:pt x="30393" y="121573"/>
                </a:lnTo>
                <a:cubicBezTo>
                  <a:pt x="30393" y="124666"/>
                  <a:pt x="31044" y="127597"/>
                  <a:pt x="32211" y="130256"/>
                </a:cubicBezTo>
                <a:lnTo>
                  <a:pt x="8684" y="130256"/>
                </a:lnTo>
                <a:cubicBezTo>
                  <a:pt x="3881" y="130256"/>
                  <a:pt x="0" y="126376"/>
                  <a:pt x="0" y="121573"/>
                </a:cubicBezTo>
                <a:lnTo>
                  <a:pt x="0" y="112889"/>
                </a:lnTo>
                <a:close/>
                <a:moveTo>
                  <a:pt x="141464" y="130256"/>
                </a:moveTo>
                <a:cubicBezTo>
                  <a:pt x="142631" y="127597"/>
                  <a:pt x="143282" y="124666"/>
                  <a:pt x="143282" y="121573"/>
                </a:cubicBezTo>
                <a:lnTo>
                  <a:pt x="143282" y="117231"/>
                </a:lnTo>
                <a:cubicBezTo>
                  <a:pt x="143282" y="102794"/>
                  <a:pt x="137855" y="89606"/>
                  <a:pt x="128927" y="79619"/>
                </a:cubicBezTo>
                <a:cubicBezTo>
                  <a:pt x="132102" y="78669"/>
                  <a:pt x="135467" y="78154"/>
                  <a:pt x="138940" y="78154"/>
                </a:cubicBezTo>
                <a:cubicBezTo>
                  <a:pt x="158126" y="78154"/>
                  <a:pt x="173675" y="93703"/>
                  <a:pt x="173675" y="112889"/>
                </a:cubicBezTo>
                <a:lnTo>
                  <a:pt x="173675" y="121573"/>
                </a:lnTo>
                <a:cubicBezTo>
                  <a:pt x="173675" y="126376"/>
                  <a:pt x="169795" y="130256"/>
                  <a:pt x="164991" y="130256"/>
                </a:cubicBezTo>
                <a:lnTo>
                  <a:pt x="141464" y="130256"/>
                </a:lnTo>
                <a:close/>
                <a:moveTo>
                  <a:pt x="128085" y="43419"/>
                </a:moveTo>
                <a:cubicBezTo>
                  <a:pt x="128085" y="32635"/>
                  <a:pt x="136840" y="23880"/>
                  <a:pt x="147624" y="23880"/>
                </a:cubicBezTo>
                <a:cubicBezTo>
                  <a:pt x="158408" y="23880"/>
                  <a:pt x="167162" y="32635"/>
                  <a:pt x="167162" y="43419"/>
                </a:cubicBezTo>
                <a:cubicBezTo>
                  <a:pt x="167162" y="54202"/>
                  <a:pt x="158408" y="62957"/>
                  <a:pt x="147624" y="62957"/>
                </a:cubicBezTo>
                <a:cubicBezTo>
                  <a:pt x="136840" y="62957"/>
                  <a:pt x="128085" y="54202"/>
                  <a:pt x="128085" y="43419"/>
                </a:cubicBezTo>
                <a:close/>
                <a:moveTo>
                  <a:pt x="43419" y="117231"/>
                </a:moveTo>
                <a:cubicBezTo>
                  <a:pt x="43419" y="93242"/>
                  <a:pt x="62849" y="73812"/>
                  <a:pt x="86838" y="73812"/>
                </a:cubicBezTo>
                <a:cubicBezTo>
                  <a:pt x="110826" y="73812"/>
                  <a:pt x="130256" y="93242"/>
                  <a:pt x="130256" y="117231"/>
                </a:cubicBezTo>
                <a:lnTo>
                  <a:pt x="130256" y="121573"/>
                </a:lnTo>
                <a:cubicBezTo>
                  <a:pt x="130256" y="126376"/>
                  <a:pt x="126376" y="130256"/>
                  <a:pt x="121573" y="130256"/>
                </a:cubicBezTo>
                <a:lnTo>
                  <a:pt x="52103" y="130256"/>
                </a:lnTo>
                <a:cubicBezTo>
                  <a:pt x="47299" y="130256"/>
                  <a:pt x="43419" y="126376"/>
                  <a:pt x="43419" y="121573"/>
                </a:cubicBezTo>
                <a:lnTo>
                  <a:pt x="43419" y="117231"/>
                </a:ln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15" name="Text 13"/>
          <p:cNvSpPr/>
          <p:nvPr/>
        </p:nvSpPr>
        <p:spPr>
          <a:xfrm>
            <a:off x="946530" y="2474872"/>
            <a:ext cx="368191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Millions of Active Traders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6530" y="2683282"/>
            <a:ext cx="3673231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Largest retail broker in India with massive user base and engagement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4974" y="2926427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07863" y="3030632"/>
            <a:ext cx="121573" cy="138940"/>
          </a:xfrm>
          <a:custGeom>
            <a:avLst/>
            <a:gdLst/>
            <a:ahLst/>
            <a:cxnLst/>
            <a:rect l="l" t="t" r="r" b="b"/>
            <a:pathLst>
              <a:path w="121573" h="138940">
                <a:moveTo>
                  <a:pt x="17368" y="8684"/>
                </a:moveTo>
                <a:cubicBezTo>
                  <a:pt x="7788" y="8684"/>
                  <a:pt x="0" y="16472"/>
                  <a:pt x="0" y="26051"/>
                </a:cubicBezTo>
                <a:lnTo>
                  <a:pt x="0" y="43419"/>
                </a:lnTo>
                <a:cubicBezTo>
                  <a:pt x="0" y="52998"/>
                  <a:pt x="7788" y="60786"/>
                  <a:pt x="17368" y="60786"/>
                </a:cubicBezTo>
                <a:lnTo>
                  <a:pt x="104205" y="60786"/>
                </a:lnTo>
                <a:cubicBezTo>
                  <a:pt x="113784" y="60786"/>
                  <a:pt x="121573" y="52998"/>
                  <a:pt x="121573" y="43419"/>
                </a:cubicBezTo>
                <a:lnTo>
                  <a:pt x="121573" y="26051"/>
                </a:lnTo>
                <a:cubicBezTo>
                  <a:pt x="121573" y="16472"/>
                  <a:pt x="113784" y="8684"/>
                  <a:pt x="104205" y="8684"/>
                </a:cubicBezTo>
                <a:lnTo>
                  <a:pt x="17368" y="8684"/>
                </a:lnTo>
                <a:close/>
                <a:moveTo>
                  <a:pt x="75983" y="28222"/>
                </a:moveTo>
                <a:cubicBezTo>
                  <a:pt x="79577" y="28222"/>
                  <a:pt x="82496" y="31141"/>
                  <a:pt x="82496" y="34735"/>
                </a:cubicBezTo>
                <a:cubicBezTo>
                  <a:pt x="82496" y="38330"/>
                  <a:pt x="79577" y="41248"/>
                  <a:pt x="75983" y="41248"/>
                </a:cubicBezTo>
                <a:cubicBezTo>
                  <a:pt x="72388" y="41248"/>
                  <a:pt x="69470" y="38330"/>
                  <a:pt x="69470" y="34735"/>
                </a:cubicBezTo>
                <a:cubicBezTo>
                  <a:pt x="69470" y="31141"/>
                  <a:pt x="72388" y="28222"/>
                  <a:pt x="75983" y="28222"/>
                </a:cubicBezTo>
                <a:close/>
                <a:moveTo>
                  <a:pt x="91179" y="34735"/>
                </a:moveTo>
                <a:cubicBezTo>
                  <a:pt x="91179" y="31141"/>
                  <a:pt x="94098" y="28222"/>
                  <a:pt x="97692" y="28222"/>
                </a:cubicBezTo>
                <a:cubicBezTo>
                  <a:pt x="101287" y="28222"/>
                  <a:pt x="104205" y="31141"/>
                  <a:pt x="104205" y="34735"/>
                </a:cubicBezTo>
                <a:cubicBezTo>
                  <a:pt x="104205" y="38330"/>
                  <a:pt x="101287" y="41248"/>
                  <a:pt x="97692" y="41248"/>
                </a:cubicBezTo>
                <a:cubicBezTo>
                  <a:pt x="94098" y="41248"/>
                  <a:pt x="91179" y="38330"/>
                  <a:pt x="91179" y="34735"/>
                </a:cubicBezTo>
                <a:close/>
                <a:moveTo>
                  <a:pt x="17368" y="78154"/>
                </a:moveTo>
                <a:cubicBezTo>
                  <a:pt x="7788" y="78154"/>
                  <a:pt x="0" y="85942"/>
                  <a:pt x="0" y="95521"/>
                </a:cubicBezTo>
                <a:lnTo>
                  <a:pt x="0" y="112889"/>
                </a:lnTo>
                <a:cubicBezTo>
                  <a:pt x="0" y="122468"/>
                  <a:pt x="7788" y="130256"/>
                  <a:pt x="17368" y="130256"/>
                </a:cubicBezTo>
                <a:lnTo>
                  <a:pt x="104205" y="130256"/>
                </a:lnTo>
                <a:cubicBezTo>
                  <a:pt x="113784" y="130256"/>
                  <a:pt x="121573" y="122468"/>
                  <a:pt x="121573" y="112889"/>
                </a:cubicBezTo>
                <a:lnTo>
                  <a:pt x="121573" y="95521"/>
                </a:lnTo>
                <a:cubicBezTo>
                  <a:pt x="121573" y="85942"/>
                  <a:pt x="113784" y="78154"/>
                  <a:pt x="104205" y="78154"/>
                </a:cubicBezTo>
                <a:lnTo>
                  <a:pt x="17368" y="78154"/>
                </a:lnTo>
                <a:close/>
                <a:moveTo>
                  <a:pt x="75983" y="97692"/>
                </a:moveTo>
                <a:cubicBezTo>
                  <a:pt x="79577" y="97692"/>
                  <a:pt x="82496" y="100611"/>
                  <a:pt x="82496" y="104205"/>
                </a:cubicBezTo>
                <a:cubicBezTo>
                  <a:pt x="82496" y="107800"/>
                  <a:pt x="79577" y="110718"/>
                  <a:pt x="75983" y="110718"/>
                </a:cubicBezTo>
                <a:cubicBezTo>
                  <a:pt x="72388" y="110718"/>
                  <a:pt x="69470" y="107800"/>
                  <a:pt x="69470" y="104205"/>
                </a:cubicBezTo>
                <a:cubicBezTo>
                  <a:pt x="69470" y="100611"/>
                  <a:pt x="72388" y="97692"/>
                  <a:pt x="75983" y="97692"/>
                </a:cubicBezTo>
                <a:close/>
                <a:moveTo>
                  <a:pt x="91179" y="104205"/>
                </a:moveTo>
                <a:cubicBezTo>
                  <a:pt x="91179" y="100611"/>
                  <a:pt x="94098" y="97692"/>
                  <a:pt x="97692" y="97692"/>
                </a:cubicBezTo>
                <a:cubicBezTo>
                  <a:pt x="101287" y="97692"/>
                  <a:pt x="104205" y="100611"/>
                  <a:pt x="104205" y="104205"/>
                </a:cubicBezTo>
                <a:cubicBezTo>
                  <a:pt x="104205" y="107800"/>
                  <a:pt x="101287" y="110718"/>
                  <a:pt x="97692" y="110718"/>
                </a:cubicBezTo>
                <a:cubicBezTo>
                  <a:pt x="94098" y="110718"/>
                  <a:pt x="91179" y="107800"/>
                  <a:pt x="91179" y="1042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946530" y="2926427"/>
            <a:ext cx="300458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Highly Stable Tech Platform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6530" y="3134838"/>
            <a:ext cx="2995897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Mature, battle-tested infrastructure with 99.9%+ uptime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4974" y="3377983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7863" y="3482188"/>
            <a:ext cx="121573" cy="138940"/>
          </a:xfrm>
          <a:custGeom>
            <a:avLst/>
            <a:gdLst/>
            <a:ahLst/>
            <a:cxnLst/>
            <a:rect l="l" t="t" r="r" b="b"/>
            <a:pathLst>
              <a:path w="121573" h="138940">
                <a:moveTo>
                  <a:pt x="0" y="17368"/>
                </a:moveTo>
                <a:cubicBezTo>
                  <a:pt x="0" y="12564"/>
                  <a:pt x="3881" y="8684"/>
                  <a:pt x="8684" y="8684"/>
                </a:cubicBezTo>
                <a:lnTo>
                  <a:pt x="30393" y="8684"/>
                </a:lnTo>
                <a:cubicBezTo>
                  <a:pt x="51967" y="8684"/>
                  <a:pt x="69470" y="26187"/>
                  <a:pt x="69470" y="47761"/>
                </a:cubicBezTo>
                <a:cubicBezTo>
                  <a:pt x="69470" y="62496"/>
                  <a:pt x="61329" y="75304"/>
                  <a:pt x="49280" y="81980"/>
                </a:cubicBezTo>
                <a:lnTo>
                  <a:pt x="60406" y="119076"/>
                </a:lnTo>
                <a:cubicBezTo>
                  <a:pt x="61790" y="123662"/>
                  <a:pt x="59185" y="128520"/>
                  <a:pt x="54572" y="129876"/>
                </a:cubicBezTo>
                <a:cubicBezTo>
                  <a:pt x="49959" y="131233"/>
                  <a:pt x="45128" y="128655"/>
                  <a:pt x="43772" y="124042"/>
                </a:cubicBezTo>
                <a:lnTo>
                  <a:pt x="32591" y="86783"/>
                </a:lnTo>
                <a:cubicBezTo>
                  <a:pt x="31859" y="86810"/>
                  <a:pt x="31126" y="86838"/>
                  <a:pt x="30393" y="86838"/>
                </a:cubicBezTo>
                <a:lnTo>
                  <a:pt x="17368" y="86838"/>
                </a:lnTo>
                <a:lnTo>
                  <a:pt x="17368" y="121573"/>
                </a:lnTo>
                <a:cubicBezTo>
                  <a:pt x="17368" y="126376"/>
                  <a:pt x="13487" y="130256"/>
                  <a:pt x="8684" y="130256"/>
                </a:cubicBezTo>
                <a:cubicBezTo>
                  <a:pt x="3881" y="130256"/>
                  <a:pt x="0" y="126376"/>
                  <a:pt x="0" y="121573"/>
                </a:cubicBezTo>
                <a:lnTo>
                  <a:pt x="0" y="17368"/>
                </a:lnTo>
                <a:close/>
                <a:moveTo>
                  <a:pt x="17368" y="69470"/>
                </a:moveTo>
                <a:lnTo>
                  <a:pt x="30393" y="69470"/>
                </a:lnTo>
                <a:cubicBezTo>
                  <a:pt x="42388" y="69470"/>
                  <a:pt x="52103" y="59755"/>
                  <a:pt x="52103" y="47761"/>
                </a:cubicBezTo>
                <a:cubicBezTo>
                  <a:pt x="52103" y="35766"/>
                  <a:pt x="42388" y="26051"/>
                  <a:pt x="30393" y="26051"/>
                </a:cubicBezTo>
                <a:lnTo>
                  <a:pt x="17368" y="26051"/>
                </a:lnTo>
                <a:lnTo>
                  <a:pt x="17368" y="69470"/>
                </a:lnTo>
                <a:close/>
                <a:moveTo>
                  <a:pt x="94734" y="60786"/>
                </a:moveTo>
                <a:lnTo>
                  <a:pt x="104205" y="60786"/>
                </a:lnTo>
                <a:cubicBezTo>
                  <a:pt x="109008" y="60786"/>
                  <a:pt x="112889" y="64667"/>
                  <a:pt x="112889" y="69470"/>
                </a:cubicBezTo>
                <a:cubicBezTo>
                  <a:pt x="112889" y="74273"/>
                  <a:pt x="109008" y="78154"/>
                  <a:pt x="104205" y="78154"/>
                </a:cubicBezTo>
                <a:lnTo>
                  <a:pt x="94734" y="78154"/>
                </a:lnTo>
                <a:cubicBezTo>
                  <a:pt x="92781" y="78154"/>
                  <a:pt x="91179" y="79755"/>
                  <a:pt x="91179" y="81709"/>
                </a:cubicBezTo>
                <a:cubicBezTo>
                  <a:pt x="91179" y="83256"/>
                  <a:pt x="92184" y="84612"/>
                  <a:pt x="93649" y="85101"/>
                </a:cubicBezTo>
                <a:lnTo>
                  <a:pt x="107054" y="89416"/>
                </a:lnTo>
                <a:cubicBezTo>
                  <a:pt x="115711" y="92211"/>
                  <a:pt x="121573" y="100243"/>
                  <a:pt x="121573" y="109334"/>
                </a:cubicBezTo>
                <a:cubicBezTo>
                  <a:pt x="121573" y="120894"/>
                  <a:pt x="112210" y="130256"/>
                  <a:pt x="100650" y="130256"/>
                </a:cubicBezTo>
                <a:lnTo>
                  <a:pt x="86838" y="130256"/>
                </a:lnTo>
                <a:cubicBezTo>
                  <a:pt x="82034" y="130256"/>
                  <a:pt x="78154" y="126376"/>
                  <a:pt x="78154" y="121573"/>
                </a:cubicBezTo>
                <a:cubicBezTo>
                  <a:pt x="78154" y="116769"/>
                  <a:pt x="82034" y="112889"/>
                  <a:pt x="86838" y="112889"/>
                </a:cubicBezTo>
                <a:lnTo>
                  <a:pt x="100650" y="112889"/>
                </a:lnTo>
                <a:cubicBezTo>
                  <a:pt x="102604" y="112889"/>
                  <a:pt x="104205" y="111288"/>
                  <a:pt x="104205" y="109334"/>
                </a:cubicBezTo>
                <a:cubicBezTo>
                  <a:pt x="104205" y="107787"/>
                  <a:pt x="103201" y="106430"/>
                  <a:pt x="101736" y="105942"/>
                </a:cubicBezTo>
                <a:lnTo>
                  <a:pt x="88330" y="101627"/>
                </a:lnTo>
                <a:cubicBezTo>
                  <a:pt x="79674" y="98832"/>
                  <a:pt x="73812" y="90800"/>
                  <a:pt x="73812" y="81709"/>
                </a:cubicBezTo>
                <a:cubicBezTo>
                  <a:pt x="73812" y="70149"/>
                  <a:pt x="83174" y="60786"/>
                  <a:pt x="94734" y="60786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23" name="Text 21"/>
          <p:cNvSpPr/>
          <p:nvPr/>
        </p:nvSpPr>
        <p:spPr>
          <a:xfrm>
            <a:off x="946530" y="3377983"/>
            <a:ext cx="2961162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Profitable &amp; Bootstrapped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6530" y="3586393"/>
            <a:ext cx="295247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Financially independent with sustainable growth model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7350" y="4046632"/>
            <a:ext cx="5661812" cy="1736752"/>
          </a:xfrm>
          <a:custGeom>
            <a:avLst/>
            <a:gdLst/>
            <a:ahLst/>
            <a:cxnLst/>
            <a:rect l="l" t="t" r="r" b="b"/>
            <a:pathLst>
              <a:path w="5661812" h="1736752">
                <a:moveTo>
                  <a:pt x="104205" y="0"/>
                </a:moveTo>
                <a:lnTo>
                  <a:pt x="5557607" y="0"/>
                </a:lnTo>
                <a:cubicBezTo>
                  <a:pt x="5615158" y="0"/>
                  <a:pt x="5661812" y="46654"/>
                  <a:pt x="5661812" y="104205"/>
                </a:cubicBezTo>
                <a:lnTo>
                  <a:pt x="5661812" y="1632547"/>
                </a:lnTo>
                <a:cubicBezTo>
                  <a:pt x="5661812" y="1690098"/>
                  <a:pt x="5615158" y="1736752"/>
                  <a:pt x="5557607" y="1736752"/>
                </a:cubicBezTo>
                <a:lnTo>
                  <a:pt x="104205" y="1736752"/>
                </a:lnTo>
                <a:cubicBezTo>
                  <a:pt x="46693" y="1736752"/>
                  <a:pt x="0" y="1690059"/>
                  <a:pt x="0" y="1632547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09C"/>
              </a:gs>
              <a:gs pos="100000">
                <a:srgbClr val="00B386"/>
              </a:gs>
            </a:gsLst>
            <a:lin ang="2700000" scaled="1"/>
          </a:gradFill>
          <a:ln/>
        </p:spPr>
      </p:sp>
      <p:sp>
        <p:nvSpPr>
          <p:cNvPr id="26" name="Text 24"/>
          <p:cNvSpPr/>
          <p:nvPr/>
        </p:nvSpPr>
        <p:spPr>
          <a:xfrm>
            <a:off x="486291" y="4185573"/>
            <a:ext cx="5462085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Zerodha Already Solves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6291" y="4498188"/>
            <a:ext cx="2639863" cy="521026"/>
          </a:xfrm>
          <a:custGeom>
            <a:avLst/>
            <a:gdLst/>
            <a:ahLst/>
            <a:cxnLst/>
            <a:rect l="l" t="t" r="r" b="b"/>
            <a:pathLst>
              <a:path w="2639863" h="521026">
                <a:moveTo>
                  <a:pt x="69468" y="0"/>
                </a:moveTo>
                <a:lnTo>
                  <a:pt x="2570395" y="0"/>
                </a:lnTo>
                <a:cubicBezTo>
                  <a:pt x="2608761" y="0"/>
                  <a:pt x="2639863" y="31102"/>
                  <a:pt x="2639863" y="69468"/>
                </a:cubicBezTo>
                <a:lnTo>
                  <a:pt x="2639863" y="451557"/>
                </a:lnTo>
                <a:cubicBezTo>
                  <a:pt x="2639863" y="489924"/>
                  <a:pt x="2608761" y="521026"/>
                  <a:pt x="2570395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9792" y="4567658"/>
            <a:ext cx="173675" cy="173675"/>
          </a:xfrm>
          <a:custGeom>
            <a:avLst/>
            <a:gdLst/>
            <a:ahLst/>
            <a:cxnLst/>
            <a:rect l="l" t="t" r="r" b="b"/>
            <a:pathLst>
              <a:path w="173675" h="173675">
                <a:moveTo>
                  <a:pt x="86838" y="173675"/>
                </a:moveTo>
                <a:cubicBezTo>
                  <a:pt x="134765" y="173675"/>
                  <a:pt x="173675" y="134765"/>
                  <a:pt x="173675" y="86838"/>
                </a:cubicBezTo>
                <a:cubicBezTo>
                  <a:pt x="173675" y="38911"/>
                  <a:pt x="134765" y="0"/>
                  <a:pt x="86838" y="0"/>
                </a:cubicBezTo>
                <a:cubicBezTo>
                  <a:pt x="38911" y="0"/>
                  <a:pt x="0" y="38911"/>
                  <a:pt x="0" y="86838"/>
                </a:cubicBezTo>
                <a:cubicBezTo>
                  <a:pt x="0" y="134765"/>
                  <a:pt x="38911" y="173675"/>
                  <a:pt x="86838" y="173675"/>
                </a:cubicBezTo>
                <a:close/>
                <a:moveTo>
                  <a:pt x="115467" y="72150"/>
                </a:moveTo>
                <a:lnTo>
                  <a:pt x="88330" y="115569"/>
                </a:lnTo>
                <a:cubicBezTo>
                  <a:pt x="86905" y="117841"/>
                  <a:pt x="84463" y="119266"/>
                  <a:pt x="81783" y="119402"/>
                </a:cubicBezTo>
                <a:cubicBezTo>
                  <a:pt x="79104" y="119537"/>
                  <a:pt x="76526" y="118316"/>
                  <a:pt x="74931" y="116145"/>
                </a:cubicBezTo>
                <a:lnTo>
                  <a:pt x="58649" y="94436"/>
                </a:lnTo>
                <a:cubicBezTo>
                  <a:pt x="55936" y="90840"/>
                  <a:pt x="56682" y="85752"/>
                  <a:pt x="60278" y="83038"/>
                </a:cubicBezTo>
                <a:cubicBezTo>
                  <a:pt x="63873" y="80325"/>
                  <a:pt x="68961" y="81071"/>
                  <a:pt x="71675" y="84667"/>
                </a:cubicBezTo>
                <a:lnTo>
                  <a:pt x="80834" y="96878"/>
                </a:lnTo>
                <a:lnTo>
                  <a:pt x="101661" y="63534"/>
                </a:lnTo>
                <a:cubicBezTo>
                  <a:pt x="104036" y="59735"/>
                  <a:pt x="109056" y="58548"/>
                  <a:pt x="112889" y="60956"/>
                </a:cubicBezTo>
                <a:cubicBezTo>
                  <a:pt x="116722" y="63364"/>
                  <a:pt x="117875" y="68351"/>
                  <a:pt x="115467" y="721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25368" y="4776068"/>
            <a:ext cx="256170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Efficiency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31309" y="4498188"/>
            <a:ext cx="2639863" cy="521026"/>
          </a:xfrm>
          <a:custGeom>
            <a:avLst/>
            <a:gdLst/>
            <a:ahLst/>
            <a:cxnLst/>
            <a:rect l="l" t="t" r="r" b="b"/>
            <a:pathLst>
              <a:path w="2639863" h="521026">
                <a:moveTo>
                  <a:pt x="69468" y="0"/>
                </a:moveTo>
                <a:lnTo>
                  <a:pt x="2570395" y="0"/>
                </a:lnTo>
                <a:cubicBezTo>
                  <a:pt x="2608761" y="0"/>
                  <a:pt x="2639863" y="31102"/>
                  <a:pt x="2639863" y="69468"/>
                </a:cubicBezTo>
                <a:lnTo>
                  <a:pt x="2639863" y="451557"/>
                </a:lnTo>
                <a:cubicBezTo>
                  <a:pt x="2639863" y="489924"/>
                  <a:pt x="2608761" y="521026"/>
                  <a:pt x="2570395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64810" y="4567658"/>
            <a:ext cx="173675" cy="173675"/>
          </a:xfrm>
          <a:custGeom>
            <a:avLst/>
            <a:gdLst/>
            <a:ahLst/>
            <a:cxnLst/>
            <a:rect l="l" t="t" r="r" b="b"/>
            <a:pathLst>
              <a:path w="173675" h="173675">
                <a:moveTo>
                  <a:pt x="86838" y="173675"/>
                </a:moveTo>
                <a:cubicBezTo>
                  <a:pt x="134765" y="173675"/>
                  <a:pt x="173675" y="134765"/>
                  <a:pt x="173675" y="86838"/>
                </a:cubicBezTo>
                <a:cubicBezTo>
                  <a:pt x="173675" y="38911"/>
                  <a:pt x="134765" y="0"/>
                  <a:pt x="86838" y="0"/>
                </a:cubicBezTo>
                <a:cubicBezTo>
                  <a:pt x="38911" y="0"/>
                  <a:pt x="0" y="38911"/>
                  <a:pt x="0" y="86838"/>
                </a:cubicBezTo>
                <a:cubicBezTo>
                  <a:pt x="0" y="134765"/>
                  <a:pt x="38911" y="173675"/>
                  <a:pt x="86838" y="173675"/>
                </a:cubicBezTo>
                <a:close/>
                <a:moveTo>
                  <a:pt x="115467" y="72150"/>
                </a:moveTo>
                <a:lnTo>
                  <a:pt x="88330" y="115569"/>
                </a:lnTo>
                <a:cubicBezTo>
                  <a:pt x="86905" y="117841"/>
                  <a:pt x="84463" y="119266"/>
                  <a:pt x="81783" y="119402"/>
                </a:cubicBezTo>
                <a:cubicBezTo>
                  <a:pt x="79104" y="119537"/>
                  <a:pt x="76526" y="118316"/>
                  <a:pt x="74931" y="116145"/>
                </a:cubicBezTo>
                <a:lnTo>
                  <a:pt x="58649" y="94436"/>
                </a:lnTo>
                <a:cubicBezTo>
                  <a:pt x="55936" y="90840"/>
                  <a:pt x="56682" y="85752"/>
                  <a:pt x="60278" y="83038"/>
                </a:cubicBezTo>
                <a:cubicBezTo>
                  <a:pt x="63873" y="80325"/>
                  <a:pt x="68961" y="81071"/>
                  <a:pt x="71675" y="84667"/>
                </a:cubicBezTo>
                <a:lnTo>
                  <a:pt x="80834" y="96878"/>
                </a:lnTo>
                <a:lnTo>
                  <a:pt x="101661" y="63534"/>
                </a:lnTo>
                <a:cubicBezTo>
                  <a:pt x="104036" y="59735"/>
                  <a:pt x="109056" y="58548"/>
                  <a:pt x="112889" y="60956"/>
                </a:cubicBezTo>
                <a:cubicBezTo>
                  <a:pt x="116722" y="63364"/>
                  <a:pt x="117875" y="68351"/>
                  <a:pt x="115467" y="721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70386" y="4776068"/>
            <a:ext cx="256170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6291" y="5123419"/>
            <a:ext cx="2639863" cy="521026"/>
          </a:xfrm>
          <a:custGeom>
            <a:avLst/>
            <a:gdLst/>
            <a:ahLst/>
            <a:cxnLst/>
            <a:rect l="l" t="t" r="r" b="b"/>
            <a:pathLst>
              <a:path w="2639863" h="521026">
                <a:moveTo>
                  <a:pt x="69468" y="0"/>
                </a:moveTo>
                <a:lnTo>
                  <a:pt x="2570395" y="0"/>
                </a:lnTo>
                <a:cubicBezTo>
                  <a:pt x="2608761" y="0"/>
                  <a:pt x="2639863" y="31102"/>
                  <a:pt x="2639863" y="69468"/>
                </a:cubicBezTo>
                <a:lnTo>
                  <a:pt x="2639863" y="451557"/>
                </a:lnTo>
                <a:cubicBezTo>
                  <a:pt x="2639863" y="489924"/>
                  <a:pt x="2608761" y="521026"/>
                  <a:pt x="2570395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719792" y="5192889"/>
            <a:ext cx="173675" cy="173675"/>
          </a:xfrm>
          <a:custGeom>
            <a:avLst/>
            <a:gdLst/>
            <a:ahLst/>
            <a:cxnLst/>
            <a:rect l="l" t="t" r="r" b="b"/>
            <a:pathLst>
              <a:path w="173675" h="173675">
                <a:moveTo>
                  <a:pt x="86838" y="173675"/>
                </a:moveTo>
                <a:cubicBezTo>
                  <a:pt x="134765" y="173675"/>
                  <a:pt x="173675" y="134765"/>
                  <a:pt x="173675" y="86838"/>
                </a:cubicBezTo>
                <a:cubicBezTo>
                  <a:pt x="173675" y="38911"/>
                  <a:pt x="134765" y="0"/>
                  <a:pt x="86838" y="0"/>
                </a:cubicBezTo>
                <a:cubicBezTo>
                  <a:pt x="38911" y="0"/>
                  <a:pt x="0" y="38911"/>
                  <a:pt x="0" y="86838"/>
                </a:cubicBezTo>
                <a:cubicBezTo>
                  <a:pt x="0" y="134765"/>
                  <a:pt x="38911" y="173675"/>
                  <a:pt x="86838" y="173675"/>
                </a:cubicBezTo>
                <a:close/>
                <a:moveTo>
                  <a:pt x="115467" y="72150"/>
                </a:moveTo>
                <a:lnTo>
                  <a:pt x="88330" y="115569"/>
                </a:lnTo>
                <a:cubicBezTo>
                  <a:pt x="86905" y="117841"/>
                  <a:pt x="84463" y="119266"/>
                  <a:pt x="81783" y="119402"/>
                </a:cubicBezTo>
                <a:cubicBezTo>
                  <a:pt x="79104" y="119537"/>
                  <a:pt x="76526" y="118316"/>
                  <a:pt x="74931" y="116145"/>
                </a:cubicBezTo>
                <a:lnTo>
                  <a:pt x="58649" y="94436"/>
                </a:lnTo>
                <a:cubicBezTo>
                  <a:pt x="55936" y="90840"/>
                  <a:pt x="56682" y="85752"/>
                  <a:pt x="60278" y="83038"/>
                </a:cubicBezTo>
                <a:cubicBezTo>
                  <a:pt x="63873" y="80325"/>
                  <a:pt x="68961" y="81071"/>
                  <a:pt x="71675" y="84667"/>
                </a:cubicBezTo>
                <a:lnTo>
                  <a:pt x="80834" y="96878"/>
                </a:lnTo>
                <a:lnTo>
                  <a:pt x="101661" y="63534"/>
                </a:lnTo>
                <a:cubicBezTo>
                  <a:pt x="104036" y="59735"/>
                  <a:pt x="109056" y="58548"/>
                  <a:pt x="112889" y="60956"/>
                </a:cubicBezTo>
                <a:cubicBezTo>
                  <a:pt x="116722" y="63364"/>
                  <a:pt x="117875" y="68351"/>
                  <a:pt x="115467" y="721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25368" y="5401299"/>
            <a:ext cx="256170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Stability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31309" y="5123419"/>
            <a:ext cx="2639863" cy="521026"/>
          </a:xfrm>
          <a:custGeom>
            <a:avLst/>
            <a:gdLst/>
            <a:ahLst/>
            <a:cxnLst/>
            <a:rect l="l" t="t" r="r" b="b"/>
            <a:pathLst>
              <a:path w="2639863" h="521026">
                <a:moveTo>
                  <a:pt x="69468" y="0"/>
                </a:moveTo>
                <a:lnTo>
                  <a:pt x="2570395" y="0"/>
                </a:lnTo>
                <a:cubicBezTo>
                  <a:pt x="2608761" y="0"/>
                  <a:pt x="2639863" y="31102"/>
                  <a:pt x="2639863" y="69468"/>
                </a:cubicBezTo>
                <a:lnTo>
                  <a:pt x="2639863" y="451557"/>
                </a:lnTo>
                <a:cubicBezTo>
                  <a:pt x="2639863" y="489924"/>
                  <a:pt x="2608761" y="521026"/>
                  <a:pt x="2570395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64810" y="5192889"/>
            <a:ext cx="173675" cy="173675"/>
          </a:xfrm>
          <a:custGeom>
            <a:avLst/>
            <a:gdLst/>
            <a:ahLst/>
            <a:cxnLst/>
            <a:rect l="l" t="t" r="r" b="b"/>
            <a:pathLst>
              <a:path w="173675" h="173675">
                <a:moveTo>
                  <a:pt x="86838" y="173675"/>
                </a:moveTo>
                <a:cubicBezTo>
                  <a:pt x="134765" y="173675"/>
                  <a:pt x="173675" y="134765"/>
                  <a:pt x="173675" y="86838"/>
                </a:cubicBezTo>
                <a:cubicBezTo>
                  <a:pt x="173675" y="38911"/>
                  <a:pt x="134765" y="0"/>
                  <a:pt x="86838" y="0"/>
                </a:cubicBezTo>
                <a:cubicBezTo>
                  <a:pt x="38911" y="0"/>
                  <a:pt x="0" y="38911"/>
                  <a:pt x="0" y="86838"/>
                </a:cubicBezTo>
                <a:cubicBezTo>
                  <a:pt x="0" y="134765"/>
                  <a:pt x="38911" y="173675"/>
                  <a:pt x="86838" y="173675"/>
                </a:cubicBezTo>
                <a:close/>
                <a:moveTo>
                  <a:pt x="115467" y="72150"/>
                </a:moveTo>
                <a:lnTo>
                  <a:pt x="88330" y="115569"/>
                </a:lnTo>
                <a:cubicBezTo>
                  <a:pt x="86905" y="117841"/>
                  <a:pt x="84463" y="119266"/>
                  <a:pt x="81783" y="119402"/>
                </a:cubicBezTo>
                <a:cubicBezTo>
                  <a:pt x="79104" y="119537"/>
                  <a:pt x="76526" y="118316"/>
                  <a:pt x="74931" y="116145"/>
                </a:cubicBezTo>
                <a:lnTo>
                  <a:pt x="58649" y="94436"/>
                </a:lnTo>
                <a:cubicBezTo>
                  <a:pt x="55936" y="90840"/>
                  <a:pt x="56682" y="85752"/>
                  <a:pt x="60278" y="83038"/>
                </a:cubicBezTo>
                <a:cubicBezTo>
                  <a:pt x="63873" y="80325"/>
                  <a:pt x="68961" y="81071"/>
                  <a:pt x="71675" y="84667"/>
                </a:cubicBezTo>
                <a:lnTo>
                  <a:pt x="80834" y="96878"/>
                </a:lnTo>
                <a:lnTo>
                  <a:pt x="101661" y="63534"/>
                </a:lnTo>
                <a:cubicBezTo>
                  <a:pt x="104036" y="59735"/>
                  <a:pt x="109056" y="58548"/>
                  <a:pt x="112889" y="60956"/>
                </a:cubicBezTo>
                <a:cubicBezTo>
                  <a:pt x="116722" y="63364"/>
                  <a:pt x="117875" y="68351"/>
                  <a:pt x="115467" y="721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70386" y="5401299"/>
            <a:ext cx="256170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Brokerage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9079" y="1011658"/>
            <a:ext cx="5653128" cy="3655863"/>
          </a:xfrm>
          <a:custGeom>
            <a:avLst/>
            <a:gdLst/>
            <a:ahLst/>
            <a:cxnLst/>
            <a:rect l="l" t="t" r="r" b="b"/>
            <a:pathLst>
              <a:path w="5653128" h="3655863">
                <a:moveTo>
                  <a:pt x="104192" y="0"/>
                </a:moveTo>
                <a:lnTo>
                  <a:pt x="5548936" y="0"/>
                </a:lnTo>
                <a:cubicBezTo>
                  <a:pt x="5606480" y="0"/>
                  <a:pt x="5653128" y="46648"/>
                  <a:pt x="5653128" y="104192"/>
                </a:cubicBezTo>
                <a:lnTo>
                  <a:pt x="5653128" y="3551671"/>
                </a:lnTo>
                <a:cubicBezTo>
                  <a:pt x="5653128" y="3609215"/>
                  <a:pt x="5606480" y="3655863"/>
                  <a:pt x="5548936" y="3655863"/>
                </a:cubicBezTo>
                <a:lnTo>
                  <a:pt x="104192" y="3655863"/>
                </a:lnTo>
                <a:cubicBezTo>
                  <a:pt x="46648" y="3655863"/>
                  <a:pt x="0" y="3609215"/>
                  <a:pt x="0" y="3551671"/>
                </a:cubicBezTo>
                <a:lnTo>
                  <a:pt x="0" y="104192"/>
                </a:lnTo>
                <a:cubicBezTo>
                  <a:pt x="0" y="46648"/>
                  <a:pt x="46648" y="0"/>
                  <a:pt x="10419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6051" dist="8684" dir="5400000">
              <a:srgbClr val="000000">
                <a:alpha val="10196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32361" y="1154940"/>
            <a:ext cx="5453402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Gaps to Address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32361" y="1502291"/>
            <a:ext cx="5436034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 Zerodha excels at providing access, there are strategic gaps preventing conversion of non-investors into confident market participants: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9729" y="2023316"/>
            <a:ext cx="5349197" cy="764171"/>
          </a:xfrm>
          <a:custGeom>
            <a:avLst/>
            <a:gdLst/>
            <a:ahLst/>
            <a:cxnLst/>
            <a:rect l="l" t="t" r="r" b="b"/>
            <a:pathLst>
              <a:path w="5349197" h="764171">
                <a:moveTo>
                  <a:pt x="34735" y="0"/>
                </a:moveTo>
                <a:lnTo>
                  <a:pt x="5279726" y="0"/>
                </a:lnTo>
                <a:cubicBezTo>
                  <a:pt x="5318068" y="0"/>
                  <a:pt x="5349197" y="31129"/>
                  <a:pt x="5349197" y="69471"/>
                </a:cubicBezTo>
                <a:lnTo>
                  <a:pt x="5349197" y="694700"/>
                </a:lnTo>
                <a:cubicBezTo>
                  <a:pt x="5349197" y="733068"/>
                  <a:pt x="5318093" y="764171"/>
                  <a:pt x="5279726" y="764171"/>
                </a:cubicBezTo>
                <a:lnTo>
                  <a:pt x="34735" y="764171"/>
                </a:lnTo>
                <a:cubicBezTo>
                  <a:pt x="15551" y="764171"/>
                  <a:pt x="0" y="748620"/>
                  <a:pt x="0" y="72943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43" name="Shape 41"/>
          <p:cNvSpPr/>
          <p:nvPr/>
        </p:nvSpPr>
        <p:spPr>
          <a:xfrm>
            <a:off x="6349729" y="2023316"/>
            <a:ext cx="34735" cy="764171"/>
          </a:xfrm>
          <a:custGeom>
            <a:avLst/>
            <a:gdLst/>
            <a:ahLst/>
            <a:cxnLst/>
            <a:rect l="l" t="t" r="r" b="b"/>
            <a:pathLst>
              <a:path w="34735" h="764171">
                <a:moveTo>
                  <a:pt x="34735" y="0"/>
                </a:moveTo>
                <a:lnTo>
                  <a:pt x="34735" y="0"/>
                </a:lnTo>
                <a:lnTo>
                  <a:pt x="34735" y="764171"/>
                </a:lnTo>
                <a:lnTo>
                  <a:pt x="34735" y="764171"/>
                </a:lnTo>
                <a:cubicBezTo>
                  <a:pt x="15551" y="764171"/>
                  <a:pt x="0" y="748620"/>
                  <a:pt x="0" y="72943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44" name="Shape 42"/>
          <p:cNvSpPr/>
          <p:nvPr/>
        </p:nvSpPr>
        <p:spPr>
          <a:xfrm>
            <a:off x="6471301" y="2127521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387ED1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75506" y="2231726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69470" y="138940"/>
                </a:moveTo>
                <a:cubicBezTo>
                  <a:pt x="107812" y="138940"/>
                  <a:pt x="138940" y="107812"/>
                  <a:pt x="138940" y="69470"/>
                </a:cubicBezTo>
                <a:cubicBezTo>
                  <a:pt x="138940" y="31129"/>
                  <a:pt x="107812" y="0"/>
                  <a:pt x="69470" y="0"/>
                </a:cubicBezTo>
                <a:cubicBezTo>
                  <a:pt x="31129" y="0"/>
                  <a:pt x="0" y="31129"/>
                  <a:pt x="0" y="69470"/>
                </a:cubicBezTo>
                <a:cubicBezTo>
                  <a:pt x="0" y="107812"/>
                  <a:pt x="31129" y="138940"/>
                  <a:pt x="69470" y="138940"/>
                </a:cubicBezTo>
                <a:close/>
                <a:moveTo>
                  <a:pt x="83228" y="88222"/>
                </a:moveTo>
                <a:lnTo>
                  <a:pt x="44070" y="103282"/>
                </a:lnTo>
                <a:cubicBezTo>
                  <a:pt x="38806" y="105318"/>
                  <a:pt x="33622" y="100135"/>
                  <a:pt x="35658" y="94870"/>
                </a:cubicBezTo>
                <a:lnTo>
                  <a:pt x="50719" y="55712"/>
                </a:lnTo>
                <a:cubicBezTo>
                  <a:pt x="51614" y="53405"/>
                  <a:pt x="53405" y="51614"/>
                  <a:pt x="55712" y="50719"/>
                </a:cubicBezTo>
                <a:lnTo>
                  <a:pt x="94870" y="35658"/>
                </a:lnTo>
                <a:cubicBezTo>
                  <a:pt x="100135" y="33622"/>
                  <a:pt x="105318" y="38806"/>
                  <a:pt x="103282" y="44070"/>
                </a:cubicBezTo>
                <a:lnTo>
                  <a:pt x="88222" y="83228"/>
                </a:lnTo>
                <a:cubicBezTo>
                  <a:pt x="87353" y="85535"/>
                  <a:pt x="85535" y="87326"/>
                  <a:pt x="83228" y="88222"/>
                </a:cubicBezTo>
                <a:close/>
                <a:moveTo>
                  <a:pt x="78154" y="69470"/>
                </a:moveTo>
                <a:cubicBezTo>
                  <a:pt x="78154" y="64677"/>
                  <a:pt x="74263" y="60786"/>
                  <a:pt x="69470" y="60786"/>
                </a:cubicBezTo>
                <a:cubicBezTo>
                  <a:pt x="64677" y="60786"/>
                  <a:pt x="60786" y="64677"/>
                  <a:pt x="60786" y="69470"/>
                </a:cubicBezTo>
                <a:cubicBezTo>
                  <a:pt x="60786" y="74263"/>
                  <a:pt x="64677" y="78154"/>
                  <a:pt x="69470" y="78154"/>
                </a:cubicBezTo>
                <a:cubicBezTo>
                  <a:pt x="74263" y="78154"/>
                  <a:pt x="78154" y="74263"/>
                  <a:pt x="78154" y="6947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46" name="Text 44"/>
          <p:cNvSpPr/>
          <p:nvPr/>
        </p:nvSpPr>
        <p:spPr>
          <a:xfrm>
            <a:off x="6922857" y="2127521"/>
            <a:ext cx="474133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Guided Investing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22857" y="2335932"/>
            <a:ext cx="4732650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need personalized recommendations based on their risk profile, income, and goals—not just access to tools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49729" y="2891692"/>
            <a:ext cx="5349197" cy="764171"/>
          </a:xfrm>
          <a:custGeom>
            <a:avLst/>
            <a:gdLst/>
            <a:ahLst/>
            <a:cxnLst/>
            <a:rect l="l" t="t" r="r" b="b"/>
            <a:pathLst>
              <a:path w="5349197" h="764171">
                <a:moveTo>
                  <a:pt x="34735" y="0"/>
                </a:moveTo>
                <a:lnTo>
                  <a:pt x="5279726" y="0"/>
                </a:lnTo>
                <a:cubicBezTo>
                  <a:pt x="5318068" y="0"/>
                  <a:pt x="5349197" y="31129"/>
                  <a:pt x="5349197" y="69471"/>
                </a:cubicBezTo>
                <a:lnTo>
                  <a:pt x="5349197" y="694700"/>
                </a:lnTo>
                <a:cubicBezTo>
                  <a:pt x="5349197" y="733068"/>
                  <a:pt x="5318093" y="764171"/>
                  <a:pt x="5279726" y="764171"/>
                </a:cubicBezTo>
                <a:lnTo>
                  <a:pt x="34735" y="764171"/>
                </a:lnTo>
                <a:cubicBezTo>
                  <a:pt x="15551" y="764171"/>
                  <a:pt x="0" y="748620"/>
                  <a:pt x="0" y="72943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49" name="Shape 47"/>
          <p:cNvSpPr/>
          <p:nvPr/>
        </p:nvSpPr>
        <p:spPr>
          <a:xfrm>
            <a:off x="6349729" y="2891692"/>
            <a:ext cx="34735" cy="764171"/>
          </a:xfrm>
          <a:custGeom>
            <a:avLst/>
            <a:gdLst/>
            <a:ahLst/>
            <a:cxnLst/>
            <a:rect l="l" t="t" r="r" b="b"/>
            <a:pathLst>
              <a:path w="34735" h="764171">
                <a:moveTo>
                  <a:pt x="34735" y="0"/>
                </a:moveTo>
                <a:lnTo>
                  <a:pt x="34735" y="0"/>
                </a:lnTo>
                <a:lnTo>
                  <a:pt x="34735" y="764171"/>
                </a:lnTo>
                <a:lnTo>
                  <a:pt x="34735" y="764171"/>
                </a:lnTo>
                <a:cubicBezTo>
                  <a:pt x="15551" y="764171"/>
                  <a:pt x="0" y="748620"/>
                  <a:pt x="0" y="72943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50" name="Shape 48"/>
          <p:cNvSpPr/>
          <p:nvPr/>
        </p:nvSpPr>
        <p:spPr>
          <a:xfrm>
            <a:off x="6471301" y="2995897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75506" y="3100103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130284" y="52103"/>
                </a:moveTo>
                <a:lnTo>
                  <a:pt x="132427" y="52103"/>
                </a:lnTo>
                <a:cubicBezTo>
                  <a:pt x="136037" y="52103"/>
                  <a:pt x="138940" y="49199"/>
                  <a:pt x="138940" y="45590"/>
                </a:cubicBezTo>
                <a:lnTo>
                  <a:pt x="138940" y="6513"/>
                </a:lnTo>
                <a:cubicBezTo>
                  <a:pt x="138940" y="3881"/>
                  <a:pt x="137366" y="1493"/>
                  <a:pt x="134924" y="488"/>
                </a:cubicBezTo>
                <a:cubicBezTo>
                  <a:pt x="132482" y="-516"/>
                  <a:pt x="129687" y="54"/>
                  <a:pt x="127814" y="1900"/>
                </a:cubicBezTo>
                <a:lnTo>
                  <a:pt x="113784" y="15956"/>
                </a:lnTo>
                <a:cubicBezTo>
                  <a:pt x="101763" y="5997"/>
                  <a:pt x="86295" y="0"/>
                  <a:pt x="69470" y="0"/>
                </a:cubicBezTo>
                <a:cubicBezTo>
                  <a:pt x="34464" y="0"/>
                  <a:pt x="5509" y="25888"/>
                  <a:pt x="706" y="59565"/>
                </a:cubicBezTo>
                <a:cubicBezTo>
                  <a:pt x="27" y="64314"/>
                  <a:pt x="3311" y="68710"/>
                  <a:pt x="8060" y="69389"/>
                </a:cubicBezTo>
                <a:cubicBezTo>
                  <a:pt x="12809" y="70067"/>
                  <a:pt x="17205" y="66756"/>
                  <a:pt x="17883" y="62035"/>
                </a:cubicBezTo>
                <a:cubicBezTo>
                  <a:pt x="21492" y="36770"/>
                  <a:pt x="43229" y="17368"/>
                  <a:pt x="69470" y="17368"/>
                </a:cubicBezTo>
                <a:cubicBezTo>
                  <a:pt x="81519" y="17368"/>
                  <a:pt x="92591" y="21438"/>
                  <a:pt x="101410" y="28304"/>
                </a:cubicBezTo>
                <a:lnTo>
                  <a:pt x="88737" y="40976"/>
                </a:lnTo>
                <a:cubicBezTo>
                  <a:pt x="86865" y="42849"/>
                  <a:pt x="86322" y="45644"/>
                  <a:pt x="87326" y="48086"/>
                </a:cubicBezTo>
                <a:cubicBezTo>
                  <a:pt x="88330" y="50529"/>
                  <a:pt x="90718" y="52103"/>
                  <a:pt x="93350" y="52103"/>
                </a:cubicBezTo>
                <a:lnTo>
                  <a:pt x="130284" y="52103"/>
                </a:lnTo>
                <a:close/>
                <a:moveTo>
                  <a:pt x="138262" y="79375"/>
                </a:moveTo>
                <a:cubicBezTo>
                  <a:pt x="138940" y="74626"/>
                  <a:pt x="135629" y="70230"/>
                  <a:pt x="130908" y="69551"/>
                </a:cubicBezTo>
                <a:cubicBezTo>
                  <a:pt x="126186" y="68873"/>
                  <a:pt x="121763" y="72184"/>
                  <a:pt x="121084" y="76906"/>
                </a:cubicBezTo>
                <a:cubicBezTo>
                  <a:pt x="117475" y="102143"/>
                  <a:pt x="95738" y="121546"/>
                  <a:pt x="69497" y="121546"/>
                </a:cubicBezTo>
                <a:cubicBezTo>
                  <a:pt x="57449" y="121546"/>
                  <a:pt x="46377" y="117475"/>
                  <a:pt x="37557" y="110609"/>
                </a:cubicBezTo>
                <a:lnTo>
                  <a:pt x="50203" y="97964"/>
                </a:lnTo>
                <a:cubicBezTo>
                  <a:pt x="52075" y="96091"/>
                  <a:pt x="52618" y="93296"/>
                  <a:pt x="51614" y="90854"/>
                </a:cubicBezTo>
                <a:cubicBezTo>
                  <a:pt x="50610" y="88412"/>
                  <a:pt x="48222" y="86838"/>
                  <a:pt x="45590" y="86838"/>
                </a:cubicBezTo>
                <a:lnTo>
                  <a:pt x="6513" y="86838"/>
                </a:lnTo>
                <a:cubicBezTo>
                  <a:pt x="2904" y="86838"/>
                  <a:pt x="0" y="89741"/>
                  <a:pt x="0" y="93350"/>
                </a:cubicBezTo>
                <a:lnTo>
                  <a:pt x="0" y="132427"/>
                </a:lnTo>
                <a:cubicBezTo>
                  <a:pt x="0" y="135060"/>
                  <a:pt x="1574" y="137448"/>
                  <a:pt x="4016" y="138452"/>
                </a:cubicBezTo>
                <a:cubicBezTo>
                  <a:pt x="6459" y="139456"/>
                  <a:pt x="9254" y="138886"/>
                  <a:pt x="11126" y="137041"/>
                </a:cubicBezTo>
                <a:lnTo>
                  <a:pt x="25183" y="122984"/>
                </a:lnTo>
                <a:cubicBezTo>
                  <a:pt x="37177" y="132943"/>
                  <a:pt x="52645" y="138940"/>
                  <a:pt x="69470" y="138940"/>
                </a:cubicBezTo>
                <a:cubicBezTo>
                  <a:pt x="104476" y="138940"/>
                  <a:pt x="133431" y="113052"/>
                  <a:pt x="138235" y="79375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52" name="Text 50"/>
          <p:cNvSpPr/>
          <p:nvPr/>
        </p:nvSpPr>
        <p:spPr>
          <a:xfrm>
            <a:off x="6922857" y="2995897"/>
            <a:ext cx="474133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Habit Formation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22857" y="3204308"/>
            <a:ext cx="4732650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One-time investments don't build wealth. Users need systematic, recurring investment habits with gentle nudges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49729" y="3760068"/>
            <a:ext cx="5349197" cy="764171"/>
          </a:xfrm>
          <a:custGeom>
            <a:avLst/>
            <a:gdLst/>
            <a:ahLst/>
            <a:cxnLst/>
            <a:rect l="l" t="t" r="r" b="b"/>
            <a:pathLst>
              <a:path w="5349197" h="764171">
                <a:moveTo>
                  <a:pt x="34735" y="0"/>
                </a:moveTo>
                <a:lnTo>
                  <a:pt x="5279726" y="0"/>
                </a:lnTo>
                <a:cubicBezTo>
                  <a:pt x="5318068" y="0"/>
                  <a:pt x="5349197" y="31129"/>
                  <a:pt x="5349197" y="69471"/>
                </a:cubicBezTo>
                <a:lnTo>
                  <a:pt x="5349197" y="694700"/>
                </a:lnTo>
                <a:cubicBezTo>
                  <a:pt x="5349197" y="733068"/>
                  <a:pt x="5318093" y="764171"/>
                  <a:pt x="5279726" y="764171"/>
                </a:cubicBezTo>
                <a:lnTo>
                  <a:pt x="34735" y="764171"/>
                </a:lnTo>
                <a:cubicBezTo>
                  <a:pt x="15551" y="764171"/>
                  <a:pt x="0" y="748620"/>
                  <a:pt x="0" y="72943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55" name="Shape 53"/>
          <p:cNvSpPr/>
          <p:nvPr/>
        </p:nvSpPr>
        <p:spPr>
          <a:xfrm>
            <a:off x="6349729" y="3760068"/>
            <a:ext cx="34735" cy="764171"/>
          </a:xfrm>
          <a:custGeom>
            <a:avLst/>
            <a:gdLst/>
            <a:ahLst/>
            <a:cxnLst/>
            <a:rect l="l" t="t" r="r" b="b"/>
            <a:pathLst>
              <a:path w="34735" h="764171">
                <a:moveTo>
                  <a:pt x="34735" y="0"/>
                </a:moveTo>
                <a:lnTo>
                  <a:pt x="34735" y="0"/>
                </a:lnTo>
                <a:lnTo>
                  <a:pt x="34735" y="764171"/>
                </a:lnTo>
                <a:lnTo>
                  <a:pt x="34735" y="764171"/>
                </a:lnTo>
                <a:cubicBezTo>
                  <a:pt x="15551" y="764171"/>
                  <a:pt x="0" y="748620"/>
                  <a:pt x="0" y="72943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56" name="Shape 54"/>
          <p:cNvSpPr/>
          <p:nvPr/>
        </p:nvSpPr>
        <p:spPr>
          <a:xfrm>
            <a:off x="6471301" y="3864274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566823" y="3968479"/>
            <a:ext cx="156308" cy="138940"/>
          </a:xfrm>
          <a:custGeom>
            <a:avLst/>
            <a:gdLst/>
            <a:ahLst/>
            <a:cxnLst/>
            <a:rect l="l" t="t" r="r" b="b"/>
            <a:pathLst>
              <a:path w="156308" h="138940">
                <a:moveTo>
                  <a:pt x="75874" y="8412"/>
                </a:moveTo>
                <a:cubicBezTo>
                  <a:pt x="72048" y="3121"/>
                  <a:pt x="65915" y="0"/>
                  <a:pt x="59402" y="0"/>
                </a:cubicBezTo>
                <a:cubicBezTo>
                  <a:pt x="48168" y="0"/>
                  <a:pt x="39077" y="9091"/>
                  <a:pt x="39077" y="20325"/>
                </a:cubicBezTo>
                <a:lnTo>
                  <a:pt x="39077" y="20977"/>
                </a:lnTo>
                <a:cubicBezTo>
                  <a:pt x="39077" y="38453"/>
                  <a:pt x="61329" y="57177"/>
                  <a:pt x="72238" y="65291"/>
                </a:cubicBezTo>
                <a:cubicBezTo>
                  <a:pt x="75766" y="67923"/>
                  <a:pt x="80515" y="67923"/>
                  <a:pt x="84043" y="65291"/>
                </a:cubicBezTo>
                <a:cubicBezTo>
                  <a:pt x="94951" y="57150"/>
                  <a:pt x="117204" y="38453"/>
                  <a:pt x="117204" y="20977"/>
                </a:cubicBezTo>
                <a:lnTo>
                  <a:pt x="117204" y="20325"/>
                </a:lnTo>
                <a:cubicBezTo>
                  <a:pt x="117204" y="9091"/>
                  <a:pt x="108113" y="0"/>
                  <a:pt x="96878" y="0"/>
                </a:cubicBezTo>
                <a:cubicBezTo>
                  <a:pt x="90365" y="0"/>
                  <a:pt x="84232" y="3121"/>
                  <a:pt x="80406" y="8412"/>
                </a:cubicBezTo>
                <a:lnTo>
                  <a:pt x="78154" y="11587"/>
                </a:lnTo>
                <a:lnTo>
                  <a:pt x="75874" y="8412"/>
                </a:lnTo>
                <a:close/>
                <a:moveTo>
                  <a:pt x="29660" y="92672"/>
                </a:moveTo>
                <a:lnTo>
                  <a:pt x="18100" y="104205"/>
                </a:lnTo>
                <a:lnTo>
                  <a:pt x="8684" y="104205"/>
                </a:lnTo>
                <a:cubicBezTo>
                  <a:pt x="3881" y="104205"/>
                  <a:pt x="0" y="108086"/>
                  <a:pt x="0" y="112889"/>
                </a:cubicBezTo>
                <a:lnTo>
                  <a:pt x="0" y="130256"/>
                </a:lnTo>
                <a:cubicBezTo>
                  <a:pt x="0" y="135060"/>
                  <a:pt x="3881" y="138940"/>
                  <a:pt x="8684" y="138940"/>
                </a:cubicBezTo>
                <a:lnTo>
                  <a:pt x="95657" y="138940"/>
                </a:lnTo>
                <a:cubicBezTo>
                  <a:pt x="103527" y="138940"/>
                  <a:pt x="111206" y="136416"/>
                  <a:pt x="117556" y="131749"/>
                </a:cubicBezTo>
                <a:lnTo>
                  <a:pt x="151912" y="106430"/>
                </a:lnTo>
                <a:cubicBezTo>
                  <a:pt x="156742" y="102875"/>
                  <a:pt x="157773" y="96091"/>
                  <a:pt x="154218" y="91261"/>
                </a:cubicBezTo>
                <a:cubicBezTo>
                  <a:pt x="150663" y="86431"/>
                  <a:pt x="143879" y="85399"/>
                  <a:pt x="139049" y="88954"/>
                </a:cubicBezTo>
                <a:lnTo>
                  <a:pt x="106539" y="112889"/>
                </a:lnTo>
                <a:lnTo>
                  <a:pt x="75983" y="112889"/>
                </a:lnTo>
                <a:cubicBezTo>
                  <a:pt x="72374" y="112889"/>
                  <a:pt x="69470" y="109985"/>
                  <a:pt x="69470" y="106376"/>
                </a:cubicBezTo>
                <a:cubicBezTo>
                  <a:pt x="69470" y="102767"/>
                  <a:pt x="72374" y="99863"/>
                  <a:pt x="75983" y="99863"/>
                </a:cubicBezTo>
                <a:lnTo>
                  <a:pt x="95521" y="99863"/>
                </a:lnTo>
                <a:cubicBezTo>
                  <a:pt x="100325" y="99863"/>
                  <a:pt x="104205" y="95983"/>
                  <a:pt x="104205" y="91179"/>
                </a:cubicBezTo>
                <a:cubicBezTo>
                  <a:pt x="104205" y="86376"/>
                  <a:pt x="100325" y="82496"/>
                  <a:pt x="95521" y="82496"/>
                </a:cubicBezTo>
                <a:lnTo>
                  <a:pt x="54219" y="82496"/>
                </a:lnTo>
                <a:cubicBezTo>
                  <a:pt x="45020" y="82496"/>
                  <a:pt x="36173" y="86159"/>
                  <a:pt x="29660" y="92672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58" name="Text 56"/>
          <p:cNvSpPr/>
          <p:nvPr/>
        </p:nvSpPr>
        <p:spPr>
          <a:xfrm>
            <a:off x="6922857" y="3864274"/>
            <a:ext cx="474133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First-Time Investor Confidence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22857" y="4072684"/>
            <a:ext cx="4732650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investors need handholding, education, and confidence-building before making their first investment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89079" y="4815145"/>
            <a:ext cx="5653128" cy="1276513"/>
          </a:xfrm>
          <a:custGeom>
            <a:avLst/>
            <a:gdLst/>
            <a:ahLst/>
            <a:cxnLst/>
            <a:rect l="l" t="t" r="r" b="b"/>
            <a:pathLst>
              <a:path w="5653128" h="1276513">
                <a:moveTo>
                  <a:pt x="104202" y="0"/>
                </a:moveTo>
                <a:lnTo>
                  <a:pt x="5548926" y="0"/>
                </a:lnTo>
                <a:cubicBezTo>
                  <a:pt x="5606475" y="0"/>
                  <a:pt x="5653128" y="46653"/>
                  <a:pt x="5653128" y="104202"/>
                </a:cubicBezTo>
                <a:lnTo>
                  <a:pt x="5653128" y="1172311"/>
                </a:lnTo>
                <a:cubicBezTo>
                  <a:pt x="5653128" y="1229860"/>
                  <a:pt x="5606475" y="1276513"/>
                  <a:pt x="5548926" y="1276513"/>
                </a:cubicBezTo>
                <a:lnTo>
                  <a:pt x="104202" y="1276513"/>
                </a:lnTo>
                <a:cubicBezTo>
                  <a:pt x="46653" y="1276513"/>
                  <a:pt x="0" y="1229860"/>
                  <a:pt x="0" y="1172311"/>
                </a:cubicBezTo>
                <a:lnTo>
                  <a:pt x="0" y="104202"/>
                </a:lnTo>
                <a:cubicBezTo>
                  <a:pt x="0" y="46653"/>
                  <a:pt x="46653" y="0"/>
                  <a:pt x="104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>
                  <a:alpha val="10000"/>
                </a:srgbClr>
              </a:gs>
              <a:gs pos="100000">
                <a:srgbClr val="00D09C">
                  <a:alpha val="10000"/>
                </a:srgbClr>
              </a:gs>
            </a:gsLst>
            <a:lin ang="0" scaled="1"/>
          </a:gradFill>
          <a:ln w="12700">
            <a:solidFill>
              <a:srgbClr val="387ED1">
                <a:alpha val="2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32361" y="4958427"/>
            <a:ext cx="544471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Opportunity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32361" y="5271043"/>
            <a:ext cx="5436034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addressing these gaps, Zerodha can evolve from a trading platform to a </a:t>
            </a:r>
            <a:pPr>
              <a:lnSpc>
                <a:spcPct val="140000"/>
              </a:lnSpc>
            </a:pPr>
            <a:r>
              <a:rPr lang="en-US" sz="1094" b="1" dirty="0">
                <a:solidFill>
                  <a:srgbClr val="387ED1"/>
                </a:solidFill>
                <a:highlight>
                  <a:srgbClr val="387ED1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wealth creation companion </a:t>
            </a:r>
            <a:pPr>
              <a:lnSpc>
                <a:spcPct val="140000"/>
              </a:lnSpc>
            </a:pPr>
            <a:r>
              <a:rPr lang="en-US" sz="1094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capturing the massive untapped market of first-time investors.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47350" y="6234940"/>
            <a:ext cx="11497299" cy="416821"/>
          </a:xfrm>
          <a:custGeom>
            <a:avLst/>
            <a:gdLst/>
            <a:ahLst/>
            <a:cxnLst/>
            <a:rect l="l" t="t" r="r" b="b"/>
            <a:pathLst>
              <a:path w="11497299" h="416821">
                <a:moveTo>
                  <a:pt x="69471" y="0"/>
                </a:moveTo>
                <a:lnTo>
                  <a:pt x="11427828" y="0"/>
                </a:lnTo>
                <a:cubicBezTo>
                  <a:pt x="11466196" y="0"/>
                  <a:pt x="11497299" y="31103"/>
                  <a:pt x="11497299" y="69471"/>
                </a:cubicBezTo>
                <a:lnTo>
                  <a:pt x="11497299" y="347349"/>
                </a:lnTo>
                <a:cubicBezTo>
                  <a:pt x="11497299" y="385717"/>
                  <a:pt x="11466196" y="416821"/>
                  <a:pt x="11427828" y="416821"/>
                </a:cubicBezTo>
                <a:lnTo>
                  <a:pt x="69471" y="416821"/>
                </a:lnTo>
                <a:cubicBezTo>
                  <a:pt x="31129" y="416821"/>
                  <a:pt x="0" y="385691"/>
                  <a:pt x="0" y="347349"/>
                </a:cubicBezTo>
                <a:lnTo>
                  <a:pt x="0" y="69471"/>
                </a:lnTo>
                <a:cubicBezTo>
                  <a:pt x="0" y="31103"/>
                  <a:pt x="31103" y="0"/>
                  <a:pt x="69471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64" name="Shape 62"/>
          <p:cNvSpPr/>
          <p:nvPr/>
        </p:nvSpPr>
        <p:spPr>
          <a:xfrm>
            <a:off x="2153030" y="6373880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34735" y="86838"/>
                </a:moveTo>
                <a:lnTo>
                  <a:pt x="6649" y="86838"/>
                </a:lnTo>
                <a:cubicBezTo>
                  <a:pt x="-109" y="86838"/>
                  <a:pt x="-4260" y="79484"/>
                  <a:pt x="-787" y="73676"/>
                </a:cubicBezTo>
                <a:lnTo>
                  <a:pt x="13568" y="49742"/>
                </a:lnTo>
                <a:cubicBezTo>
                  <a:pt x="15929" y="45807"/>
                  <a:pt x="20163" y="43419"/>
                  <a:pt x="24749" y="43419"/>
                </a:cubicBezTo>
                <a:lnTo>
                  <a:pt x="50529" y="43419"/>
                </a:lnTo>
                <a:cubicBezTo>
                  <a:pt x="71180" y="8440"/>
                  <a:pt x="101980" y="6676"/>
                  <a:pt x="122577" y="9688"/>
                </a:cubicBezTo>
                <a:cubicBezTo>
                  <a:pt x="126050" y="10203"/>
                  <a:pt x="128764" y="12917"/>
                  <a:pt x="129252" y="16363"/>
                </a:cubicBezTo>
                <a:cubicBezTo>
                  <a:pt x="132265" y="36960"/>
                  <a:pt x="130501" y="67760"/>
                  <a:pt x="95521" y="88412"/>
                </a:cubicBezTo>
                <a:lnTo>
                  <a:pt x="95521" y="114191"/>
                </a:lnTo>
                <a:cubicBezTo>
                  <a:pt x="95521" y="118778"/>
                  <a:pt x="93133" y="123011"/>
                  <a:pt x="89199" y="125372"/>
                </a:cubicBezTo>
                <a:lnTo>
                  <a:pt x="65264" y="139727"/>
                </a:lnTo>
                <a:cubicBezTo>
                  <a:pt x="59484" y="143201"/>
                  <a:pt x="52103" y="139022"/>
                  <a:pt x="52103" y="132292"/>
                </a:cubicBezTo>
                <a:lnTo>
                  <a:pt x="52103" y="104205"/>
                </a:lnTo>
                <a:cubicBezTo>
                  <a:pt x="52103" y="94626"/>
                  <a:pt x="44314" y="86838"/>
                  <a:pt x="34735" y="86838"/>
                </a:cubicBezTo>
                <a:lnTo>
                  <a:pt x="34708" y="86838"/>
                </a:lnTo>
                <a:close/>
                <a:moveTo>
                  <a:pt x="108547" y="43419"/>
                </a:moveTo>
                <a:cubicBezTo>
                  <a:pt x="108547" y="36230"/>
                  <a:pt x="102710" y="30393"/>
                  <a:pt x="95521" y="30393"/>
                </a:cubicBezTo>
                <a:cubicBezTo>
                  <a:pt x="88332" y="30393"/>
                  <a:pt x="82496" y="36230"/>
                  <a:pt x="82496" y="43419"/>
                </a:cubicBezTo>
                <a:cubicBezTo>
                  <a:pt x="82496" y="50608"/>
                  <a:pt x="88332" y="56444"/>
                  <a:pt x="95521" y="56444"/>
                </a:cubicBezTo>
                <a:cubicBezTo>
                  <a:pt x="102710" y="56444"/>
                  <a:pt x="108547" y="50608"/>
                  <a:pt x="108547" y="434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637997" y="6339145"/>
            <a:ext cx="1113718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 algn="ctr">
              <a:lnSpc>
                <a:spcPct val="130000"/>
              </a:lnSpc>
            </a:pPr>
            <a:r>
              <a:rPr lang="en-US" sz="109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Zerodha has successfully democratized trading access, but the next frontier is </a:t>
            </a:r>
            <a:pPr algn="ctr">
              <a:lnSpc>
                <a:spcPct val="130000"/>
              </a:lnSpc>
            </a:pPr>
            <a:r>
              <a:rPr lang="en-US" sz="1094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democratizing investing confidence </a:t>
            </a:r>
            <a:pPr algn="ctr">
              <a:lnSpc>
                <a:spcPct val="130000"/>
              </a:lnSpc>
            </a:pPr>
            <a:r>
              <a:rPr lang="en-US" sz="109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295248" y="6721231"/>
            <a:ext cx="11549402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21" dirty="0">
                <a:solidFill>
                  <a:srgbClr val="1A1A2E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Analysis based on Zerodha's market position and user research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255" y="405319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64851" y="0"/>
                </a:moveTo>
                <a:lnTo>
                  <a:pt x="259404" y="0"/>
                </a:lnTo>
                <a:cubicBezTo>
                  <a:pt x="295221" y="0"/>
                  <a:pt x="324255" y="29035"/>
                  <a:pt x="324255" y="64851"/>
                </a:cubicBezTo>
                <a:lnTo>
                  <a:pt x="324255" y="259404"/>
                </a:lnTo>
                <a:cubicBezTo>
                  <a:pt x="324255" y="295221"/>
                  <a:pt x="295221" y="324255"/>
                  <a:pt x="259404" y="324255"/>
                </a:cubicBezTo>
                <a:lnTo>
                  <a:pt x="64851" y="324255"/>
                </a:lnTo>
                <a:cubicBezTo>
                  <a:pt x="29035" y="324255"/>
                  <a:pt x="0" y="295221"/>
                  <a:pt x="0" y="259404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3" name="Text 1"/>
          <p:cNvSpPr/>
          <p:nvPr/>
        </p:nvSpPr>
        <p:spPr>
          <a:xfrm>
            <a:off x="457124" y="453957"/>
            <a:ext cx="129702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5787" y="324255"/>
            <a:ext cx="2537298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spc="51" kern="0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5787" y="518809"/>
            <a:ext cx="2594043" cy="29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Guided Investing Mode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8309" y="944394"/>
            <a:ext cx="4531468" cy="980872"/>
          </a:xfrm>
          <a:custGeom>
            <a:avLst/>
            <a:gdLst/>
            <a:ahLst/>
            <a:cxnLst/>
            <a:rect l="l" t="t" r="r" b="b"/>
            <a:pathLst>
              <a:path w="4531468" h="980872">
                <a:moveTo>
                  <a:pt x="97273" y="0"/>
                </a:moveTo>
                <a:lnTo>
                  <a:pt x="4434195" y="0"/>
                </a:lnTo>
                <a:cubicBezTo>
                  <a:pt x="4487917" y="0"/>
                  <a:pt x="4531468" y="43551"/>
                  <a:pt x="4531468" y="97273"/>
                </a:cubicBezTo>
                <a:lnTo>
                  <a:pt x="4531468" y="883599"/>
                </a:lnTo>
                <a:cubicBezTo>
                  <a:pt x="4531468" y="937322"/>
                  <a:pt x="4487917" y="980872"/>
                  <a:pt x="4434195" y="980872"/>
                </a:cubicBezTo>
                <a:lnTo>
                  <a:pt x="97273" y="980872"/>
                </a:lnTo>
                <a:cubicBezTo>
                  <a:pt x="43551" y="980872"/>
                  <a:pt x="0" y="937322"/>
                  <a:pt x="0" y="883599"/>
                </a:cubicBezTo>
                <a:lnTo>
                  <a:pt x="0" y="97273"/>
                </a:lnTo>
                <a:cubicBezTo>
                  <a:pt x="0" y="43551"/>
                  <a:pt x="43551" y="0"/>
                  <a:pt x="9727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4319" dist="8106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2064" y="1078149"/>
            <a:ext cx="4336915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2064" y="1369979"/>
            <a:ext cx="4328809" cy="42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Guided Investing Mode integrated into Kite and Coin that helps users invest based on their </a:t>
            </a:r>
            <a:pPr>
              <a:lnSpc>
                <a:spcPct val="140000"/>
              </a:lnSpc>
            </a:pPr>
            <a:r>
              <a:rPr lang="en-US" sz="1021" b="1" dirty="0">
                <a:solidFill>
                  <a:srgbClr val="387ED1"/>
                </a:solidFill>
                <a:highlight>
                  <a:srgbClr val="387ED1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financial profile and goals 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8309" y="2063074"/>
            <a:ext cx="4531468" cy="1840149"/>
          </a:xfrm>
          <a:custGeom>
            <a:avLst/>
            <a:gdLst/>
            <a:ahLst/>
            <a:cxnLst/>
            <a:rect l="l" t="t" r="r" b="b"/>
            <a:pathLst>
              <a:path w="4531468" h="1840149">
                <a:moveTo>
                  <a:pt x="97270" y="0"/>
                </a:moveTo>
                <a:lnTo>
                  <a:pt x="4434198" y="0"/>
                </a:lnTo>
                <a:cubicBezTo>
                  <a:pt x="4487919" y="0"/>
                  <a:pt x="4531468" y="43549"/>
                  <a:pt x="4531468" y="97270"/>
                </a:cubicBezTo>
                <a:lnTo>
                  <a:pt x="4531468" y="1742879"/>
                </a:lnTo>
                <a:cubicBezTo>
                  <a:pt x="4531468" y="1796600"/>
                  <a:pt x="4487919" y="1840149"/>
                  <a:pt x="4434198" y="1840149"/>
                </a:cubicBezTo>
                <a:lnTo>
                  <a:pt x="97270" y="1840149"/>
                </a:lnTo>
                <a:cubicBezTo>
                  <a:pt x="43549" y="1840149"/>
                  <a:pt x="0" y="1796600"/>
                  <a:pt x="0" y="1742879"/>
                </a:cubicBezTo>
                <a:lnTo>
                  <a:pt x="0" y="97270"/>
                </a:lnTo>
                <a:cubicBezTo>
                  <a:pt x="0" y="43549"/>
                  <a:pt x="43549" y="0"/>
                  <a:pt x="9727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4319" dist="8106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064" y="2196830"/>
            <a:ext cx="4336915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Personalization Parameters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2064" y="2521085"/>
            <a:ext cx="2083340" cy="551234"/>
          </a:xfrm>
          <a:custGeom>
            <a:avLst/>
            <a:gdLst/>
            <a:ahLst/>
            <a:cxnLst/>
            <a:rect l="l" t="t" r="r" b="b"/>
            <a:pathLst>
              <a:path w="2083340" h="551234">
                <a:moveTo>
                  <a:pt x="64853" y="0"/>
                </a:moveTo>
                <a:lnTo>
                  <a:pt x="2018488" y="0"/>
                </a:lnTo>
                <a:cubicBezTo>
                  <a:pt x="2054305" y="0"/>
                  <a:pt x="2083340" y="29036"/>
                  <a:pt x="2083340" y="64853"/>
                </a:cubicBezTo>
                <a:lnTo>
                  <a:pt x="2083340" y="486381"/>
                </a:lnTo>
                <a:cubicBezTo>
                  <a:pt x="2083340" y="522199"/>
                  <a:pt x="2054305" y="551234"/>
                  <a:pt x="2018488" y="551234"/>
                </a:cubicBezTo>
                <a:lnTo>
                  <a:pt x="64853" y="551234"/>
                </a:lnTo>
                <a:cubicBezTo>
                  <a:pt x="29036" y="551234"/>
                  <a:pt x="0" y="522199"/>
                  <a:pt x="0" y="486381"/>
                </a:cubicBezTo>
                <a:lnTo>
                  <a:pt x="0" y="64853"/>
                </a:lnTo>
                <a:cubicBezTo>
                  <a:pt x="0" y="29036"/>
                  <a:pt x="29036" y="0"/>
                  <a:pt x="64853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412537" y="2618362"/>
            <a:ext cx="182394" cy="162128"/>
          </a:xfrm>
          <a:custGeom>
            <a:avLst/>
            <a:gdLst/>
            <a:ahLst/>
            <a:cxnLst/>
            <a:rect l="l" t="t" r="r" b="b"/>
            <a:pathLst>
              <a:path w="182394" h="162128">
                <a:moveTo>
                  <a:pt x="162254" y="75997"/>
                </a:moveTo>
                <a:lnTo>
                  <a:pt x="106523" y="75997"/>
                </a:lnTo>
                <a:cubicBezTo>
                  <a:pt x="100918" y="75997"/>
                  <a:pt x="96390" y="71469"/>
                  <a:pt x="96390" y="65864"/>
                </a:cubicBezTo>
                <a:lnTo>
                  <a:pt x="96390" y="10133"/>
                </a:lnTo>
                <a:cubicBezTo>
                  <a:pt x="96390" y="4528"/>
                  <a:pt x="100950" y="-63"/>
                  <a:pt x="106491" y="665"/>
                </a:cubicBezTo>
                <a:cubicBezTo>
                  <a:pt x="140373" y="5161"/>
                  <a:pt x="167226" y="32014"/>
                  <a:pt x="171722" y="65896"/>
                </a:cubicBezTo>
                <a:cubicBezTo>
                  <a:pt x="172451" y="71438"/>
                  <a:pt x="167859" y="75997"/>
                  <a:pt x="162254" y="75997"/>
                </a:cubicBezTo>
                <a:close/>
                <a:moveTo>
                  <a:pt x="70488" y="11780"/>
                </a:moveTo>
                <a:cubicBezTo>
                  <a:pt x="76219" y="10576"/>
                  <a:pt x="81190" y="15263"/>
                  <a:pt x="81190" y="21121"/>
                </a:cubicBezTo>
                <a:lnTo>
                  <a:pt x="81190" y="83597"/>
                </a:lnTo>
                <a:cubicBezTo>
                  <a:pt x="81190" y="85370"/>
                  <a:pt x="81824" y="87080"/>
                  <a:pt x="82932" y="88442"/>
                </a:cubicBezTo>
                <a:lnTo>
                  <a:pt x="124762" y="138917"/>
                </a:lnTo>
                <a:cubicBezTo>
                  <a:pt x="128467" y="143382"/>
                  <a:pt x="127676" y="150126"/>
                  <a:pt x="122577" y="152881"/>
                </a:cubicBezTo>
                <a:cubicBezTo>
                  <a:pt x="111779" y="158771"/>
                  <a:pt x="99398" y="162128"/>
                  <a:pt x="86257" y="162128"/>
                </a:cubicBezTo>
                <a:cubicBezTo>
                  <a:pt x="44300" y="162128"/>
                  <a:pt x="10260" y="128087"/>
                  <a:pt x="10260" y="86130"/>
                </a:cubicBezTo>
                <a:cubicBezTo>
                  <a:pt x="10260" y="49557"/>
                  <a:pt x="36067" y="19031"/>
                  <a:pt x="70488" y="11780"/>
                </a:cubicBezTo>
                <a:close/>
                <a:moveTo>
                  <a:pt x="151298" y="91197"/>
                </a:moveTo>
                <a:lnTo>
                  <a:pt x="171564" y="91197"/>
                </a:lnTo>
                <a:cubicBezTo>
                  <a:pt x="177422" y="91197"/>
                  <a:pt x="182109" y="96168"/>
                  <a:pt x="180905" y="101900"/>
                </a:cubicBezTo>
                <a:cubicBezTo>
                  <a:pt x="177675" y="117226"/>
                  <a:pt x="169822" y="130842"/>
                  <a:pt x="158866" y="141228"/>
                </a:cubicBezTo>
                <a:cubicBezTo>
                  <a:pt x="154971" y="144933"/>
                  <a:pt x="148860" y="144142"/>
                  <a:pt x="145440" y="139993"/>
                </a:cubicBezTo>
                <a:lnTo>
                  <a:pt x="118714" y="107790"/>
                </a:lnTo>
                <a:cubicBezTo>
                  <a:pt x="113236" y="101171"/>
                  <a:pt x="117954" y="91197"/>
                  <a:pt x="126504" y="91197"/>
                </a:cubicBezTo>
                <a:lnTo>
                  <a:pt x="151266" y="91197"/>
                </a:ln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13" name="Text 11"/>
          <p:cNvSpPr/>
          <p:nvPr/>
        </p:nvSpPr>
        <p:spPr>
          <a:xfrm>
            <a:off x="530968" y="2812915"/>
            <a:ext cx="1945532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Appetite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42681" y="2521085"/>
            <a:ext cx="2083340" cy="551234"/>
          </a:xfrm>
          <a:custGeom>
            <a:avLst/>
            <a:gdLst/>
            <a:ahLst/>
            <a:cxnLst/>
            <a:rect l="l" t="t" r="r" b="b"/>
            <a:pathLst>
              <a:path w="2083340" h="551234">
                <a:moveTo>
                  <a:pt x="64853" y="0"/>
                </a:moveTo>
                <a:lnTo>
                  <a:pt x="2018488" y="0"/>
                </a:lnTo>
                <a:cubicBezTo>
                  <a:pt x="2054305" y="0"/>
                  <a:pt x="2083340" y="29036"/>
                  <a:pt x="2083340" y="64853"/>
                </a:cubicBezTo>
                <a:lnTo>
                  <a:pt x="2083340" y="486381"/>
                </a:lnTo>
                <a:cubicBezTo>
                  <a:pt x="2083340" y="522199"/>
                  <a:pt x="2054305" y="551234"/>
                  <a:pt x="2018488" y="551234"/>
                </a:cubicBezTo>
                <a:lnTo>
                  <a:pt x="64853" y="551234"/>
                </a:lnTo>
                <a:cubicBezTo>
                  <a:pt x="29036" y="551234"/>
                  <a:pt x="0" y="522199"/>
                  <a:pt x="0" y="486381"/>
                </a:cubicBezTo>
                <a:lnTo>
                  <a:pt x="0" y="64853"/>
                </a:lnTo>
                <a:cubicBezTo>
                  <a:pt x="0" y="29036"/>
                  <a:pt x="29036" y="0"/>
                  <a:pt x="64853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603287" y="2618362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20266" y="10133"/>
                </a:moveTo>
                <a:cubicBezTo>
                  <a:pt x="9088" y="10133"/>
                  <a:pt x="0" y="19221"/>
                  <a:pt x="0" y="30399"/>
                </a:cubicBezTo>
                <a:lnTo>
                  <a:pt x="0" y="121596"/>
                </a:lnTo>
                <a:cubicBezTo>
                  <a:pt x="0" y="132774"/>
                  <a:pt x="9088" y="141862"/>
                  <a:pt x="20266" y="141862"/>
                </a:cubicBezTo>
                <a:lnTo>
                  <a:pt x="141862" y="141862"/>
                </a:lnTo>
                <a:cubicBezTo>
                  <a:pt x="153040" y="141862"/>
                  <a:pt x="162128" y="132774"/>
                  <a:pt x="162128" y="121596"/>
                </a:cubicBezTo>
                <a:lnTo>
                  <a:pt x="162128" y="60798"/>
                </a:lnTo>
                <a:cubicBezTo>
                  <a:pt x="162128" y="49620"/>
                  <a:pt x="153040" y="40532"/>
                  <a:pt x="141862" y="40532"/>
                </a:cubicBezTo>
                <a:lnTo>
                  <a:pt x="22799" y="40532"/>
                </a:lnTo>
                <a:cubicBezTo>
                  <a:pt x="18588" y="40532"/>
                  <a:pt x="15199" y="37144"/>
                  <a:pt x="15199" y="32932"/>
                </a:cubicBezTo>
                <a:cubicBezTo>
                  <a:pt x="15199" y="28721"/>
                  <a:pt x="18588" y="25332"/>
                  <a:pt x="22799" y="25332"/>
                </a:cubicBezTo>
                <a:lnTo>
                  <a:pt x="144395" y="25332"/>
                </a:lnTo>
                <a:cubicBezTo>
                  <a:pt x="148606" y="25332"/>
                  <a:pt x="151995" y="21944"/>
                  <a:pt x="151995" y="17733"/>
                </a:cubicBezTo>
                <a:cubicBezTo>
                  <a:pt x="151995" y="13521"/>
                  <a:pt x="148606" y="10133"/>
                  <a:pt x="144395" y="10133"/>
                </a:cubicBezTo>
                <a:lnTo>
                  <a:pt x="20266" y="10133"/>
                </a:lnTo>
                <a:close/>
                <a:moveTo>
                  <a:pt x="131729" y="81064"/>
                </a:moveTo>
                <a:cubicBezTo>
                  <a:pt x="137321" y="81064"/>
                  <a:pt x="141862" y="85604"/>
                  <a:pt x="141862" y="91197"/>
                </a:cubicBezTo>
                <a:cubicBezTo>
                  <a:pt x="141862" y="96789"/>
                  <a:pt x="137321" y="101330"/>
                  <a:pt x="131729" y="101330"/>
                </a:cubicBezTo>
                <a:cubicBezTo>
                  <a:pt x="126136" y="101330"/>
                  <a:pt x="121596" y="96789"/>
                  <a:pt x="121596" y="91197"/>
                </a:cubicBezTo>
                <a:cubicBezTo>
                  <a:pt x="121596" y="85604"/>
                  <a:pt x="126136" y="81064"/>
                  <a:pt x="131729" y="81064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16" name="Text 14"/>
          <p:cNvSpPr/>
          <p:nvPr/>
        </p:nvSpPr>
        <p:spPr>
          <a:xfrm>
            <a:off x="2711585" y="2812915"/>
            <a:ext cx="1945532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Income Level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2064" y="3169596"/>
            <a:ext cx="2083340" cy="551234"/>
          </a:xfrm>
          <a:custGeom>
            <a:avLst/>
            <a:gdLst/>
            <a:ahLst/>
            <a:cxnLst/>
            <a:rect l="l" t="t" r="r" b="b"/>
            <a:pathLst>
              <a:path w="2083340" h="551234">
                <a:moveTo>
                  <a:pt x="64853" y="0"/>
                </a:moveTo>
                <a:lnTo>
                  <a:pt x="2018488" y="0"/>
                </a:lnTo>
                <a:cubicBezTo>
                  <a:pt x="2054305" y="0"/>
                  <a:pt x="2083340" y="29036"/>
                  <a:pt x="2083340" y="64853"/>
                </a:cubicBezTo>
                <a:lnTo>
                  <a:pt x="2083340" y="486381"/>
                </a:lnTo>
                <a:cubicBezTo>
                  <a:pt x="2083340" y="522199"/>
                  <a:pt x="2054305" y="551234"/>
                  <a:pt x="2018488" y="551234"/>
                </a:cubicBezTo>
                <a:lnTo>
                  <a:pt x="64853" y="551234"/>
                </a:lnTo>
                <a:cubicBezTo>
                  <a:pt x="29036" y="551234"/>
                  <a:pt x="0" y="522199"/>
                  <a:pt x="0" y="486381"/>
                </a:cubicBezTo>
                <a:lnTo>
                  <a:pt x="0" y="64853"/>
                </a:lnTo>
                <a:cubicBezTo>
                  <a:pt x="0" y="29036"/>
                  <a:pt x="29036" y="0"/>
                  <a:pt x="64853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18" name="Shape 16"/>
          <p:cNvSpPr/>
          <p:nvPr/>
        </p:nvSpPr>
        <p:spPr>
          <a:xfrm>
            <a:off x="1422670" y="3266872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81064" y="0"/>
                </a:moveTo>
                <a:cubicBezTo>
                  <a:pt x="125804" y="0"/>
                  <a:pt x="162128" y="36323"/>
                  <a:pt x="162128" y="81064"/>
                </a:cubicBezTo>
                <a:cubicBezTo>
                  <a:pt x="162128" y="125804"/>
                  <a:pt x="125804" y="162128"/>
                  <a:pt x="81064" y="162128"/>
                </a:cubicBezTo>
                <a:cubicBezTo>
                  <a:pt x="36323" y="162128"/>
                  <a:pt x="0" y="125804"/>
                  <a:pt x="0" y="81064"/>
                </a:cubicBezTo>
                <a:cubicBezTo>
                  <a:pt x="0" y="36323"/>
                  <a:pt x="36323" y="0"/>
                  <a:pt x="81064" y="0"/>
                </a:cubicBezTo>
                <a:close/>
                <a:moveTo>
                  <a:pt x="73464" y="37999"/>
                </a:moveTo>
                <a:lnTo>
                  <a:pt x="73464" y="81064"/>
                </a:lnTo>
                <a:cubicBezTo>
                  <a:pt x="73464" y="83597"/>
                  <a:pt x="74731" y="85972"/>
                  <a:pt x="76852" y="87397"/>
                </a:cubicBezTo>
                <a:lnTo>
                  <a:pt x="107251" y="107663"/>
                </a:lnTo>
                <a:cubicBezTo>
                  <a:pt x="110734" y="110006"/>
                  <a:pt x="115453" y="109056"/>
                  <a:pt x="117796" y="105541"/>
                </a:cubicBezTo>
                <a:cubicBezTo>
                  <a:pt x="120139" y="102026"/>
                  <a:pt x="119189" y="97340"/>
                  <a:pt x="115674" y="94997"/>
                </a:cubicBezTo>
                <a:lnTo>
                  <a:pt x="88664" y="77011"/>
                </a:lnTo>
                <a:lnTo>
                  <a:pt x="88664" y="37999"/>
                </a:lnTo>
                <a:cubicBezTo>
                  <a:pt x="88664" y="33787"/>
                  <a:pt x="85275" y="30399"/>
                  <a:pt x="81064" y="30399"/>
                </a:cubicBezTo>
                <a:cubicBezTo>
                  <a:pt x="76852" y="30399"/>
                  <a:pt x="73464" y="33787"/>
                  <a:pt x="73464" y="37999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968" y="3461426"/>
            <a:ext cx="1945532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Horizon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42681" y="3169596"/>
            <a:ext cx="2083340" cy="551234"/>
          </a:xfrm>
          <a:custGeom>
            <a:avLst/>
            <a:gdLst/>
            <a:ahLst/>
            <a:cxnLst/>
            <a:rect l="l" t="t" r="r" b="b"/>
            <a:pathLst>
              <a:path w="2083340" h="551234">
                <a:moveTo>
                  <a:pt x="64853" y="0"/>
                </a:moveTo>
                <a:lnTo>
                  <a:pt x="2018488" y="0"/>
                </a:lnTo>
                <a:cubicBezTo>
                  <a:pt x="2054305" y="0"/>
                  <a:pt x="2083340" y="29036"/>
                  <a:pt x="2083340" y="64853"/>
                </a:cubicBezTo>
                <a:lnTo>
                  <a:pt x="2083340" y="486381"/>
                </a:lnTo>
                <a:cubicBezTo>
                  <a:pt x="2083340" y="522199"/>
                  <a:pt x="2054305" y="551234"/>
                  <a:pt x="2018488" y="551234"/>
                </a:cubicBezTo>
                <a:lnTo>
                  <a:pt x="64853" y="551234"/>
                </a:lnTo>
                <a:cubicBezTo>
                  <a:pt x="29036" y="551234"/>
                  <a:pt x="0" y="522199"/>
                  <a:pt x="0" y="486381"/>
                </a:cubicBezTo>
                <a:lnTo>
                  <a:pt x="0" y="64853"/>
                </a:lnTo>
                <a:cubicBezTo>
                  <a:pt x="0" y="29036"/>
                  <a:pt x="29036" y="0"/>
                  <a:pt x="64853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21" name="Shape 19"/>
          <p:cNvSpPr/>
          <p:nvPr/>
        </p:nvSpPr>
        <p:spPr>
          <a:xfrm>
            <a:off x="3603287" y="3266872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141862" y="81064"/>
                </a:moveTo>
                <a:cubicBezTo>
                  <a:pt x="141862" y="47509"/>
                  <a:pt x="114619" y="20266"/>
                  <a:pt x="81064" y="20266"/>
                </a:cubicBezTo>
                <a:cubicBezTo>
                  <a:pt x="47509" y="20266"/>
                  <a:pt x="20266" y="47509"/>
                  <a:pt x="20266" y="81064"/>
                </a:cubicBezTo>
                <a:cubicBezTo>
                  <a:pt x="20266" y="114619"/>
                  <a:pt x="47509" y="141862"/>
                  <a:pt x="81064" y="141862"/>
                </a:cubicBezTo>
                <a:cubicBezTo>
                  <a:pt x="114619" y="141862"/>
                  <a:pt x="141862" y="114619"/>
                  <a:pt x="141862" y="81064"/>
                </a:cubicBezTo>
                <a:close/>
                <a:moveTo>
                  <a:pt x="0" y="81064"/>
                </a:moveTo>
                <a:cubicBezTo>
                  <a:pt x="0" y="36323"/>
                  <a:pt x="36323" y="0"/>
                  <a:pt x="81064" y="0"/>
                </a:cubicBezTo>
                <a:cubicBezTo>
                  <a:pt x="125804" y="0"/>
                  <a:pt x="162128" y="36323"/>
                  <a:pt x="162128" y="81064"/>
                </a:cubicBezTo>
                <a:cubicBezTo>
                  <a:pt x="162128" y="125804"/>
                  <a:pt x="125804" y="162128"/>
                  <a:pt x="81064" y="162128"/>
                </a:cubicBezTo>
                <a:cubicBezTo>
                  <a:pt x="36323" y="162128"/>
                  <a:pt x="0" y="125804"/>
                  <a:pt x="0" y="81064"/>
                </a:cubicBezTo>
                <a:close/>
                <a:moveTo>
                  <a:pt x="81064" y="106396"/>
                </a:moveTo>
                <a:cubicBezTo>
                  <a:pt x="95045" y="106396"/>
                  <a:pt x="106396" y="95045"/>
                  <a:pt x="106396" y="81064"/>
                </a:cubicBezTo>
                <a:cubicBezTo>
                  <a:pt x="106396" y="67082"/>
                  <a:pt x="95045" y="55731"/>
                  <a:pt x="81064" y="55731"/>
                </a:cubicBezTo>
                <a:cubicBezTo>
                  <a:pt x="67082" y="55731"/>
                  <a:pt x="55731" y="67082"/>
                  <a:pt x="55731" y="81064"/>
                </a:cubicBezTo>
                <a:cubicBezTo>
                  <a:pt x="55731" y="95045"/>
                  <a:pt x="67082" y="106396"/>
                  <a:pt x="81064" y="106396"/>
                </a:cubicBezTo>
                <a:close/>
                <a:moveTo>
                  <a:pt x="81064" y="35465"/>
                </a:moveTo>
                <a:cubicBezTo>
                  <a:pt x="106230" y="35465"/>
                  <a:pt x="126662" y="55897"/>
                  <a:pt x="126662" y="81064"/>
                </a:cubicBezTo>
                <a:cubicBezTo>
                  <a:pt x="126662" y="106230"/>
                  <a:pt x="106230" y="126662"/>
                  <a:pt x="81064" y="126662"/>
                </a:cubicBezTo>
                <a:cubicBezTo>
                  <a:pt x="55897" y="126662"/>
                  <a:pt x="35465" y="106230"/>
                  <a:pt x="35465" y="81064"/>
                </a:cubicBezTo>
                <a:cubicBezTo>
                  <a:pt x="35465" y="55897"/>
                  <a:pt x="55897" y="35465"/>
                  <a:pt x="81064" y="35465"/>
                </a:cubicBezTo>
                <a:close/>
                <a:moveTo>
                  <a:pt x="70931" y="81064"/>
                </a:moveTo>
                <a:cubicBezTo>
                  <a:pt x="70931" y="75471"/>
                  <a:pt x="75471" y="70931"/>
                  <a:pt x="81064" y="70931"/>
                </a:cubicBezTo>
                <a:cubicBezTo>
                  <a:pt x="86656" y="70931"/>
                  <a:pt x="91197" y="75471"/>
                  <a:pt x="91197" y="81064"/>
                </a:cubicBezTo>
                <a:cubicBezTo>
                  <a:pt x="91197" y="86656"/>
                  <a:pt x="86656" y="91197"/>
                  <a:pt x="81064" y="91197"/>
                </a:cubicBezTo>
                <a:cubicBezTo>
                  <a:pt x="75471" y="91197"/>
                  <a:pt x="70931" y="86656"/>
                  <a:pt x="70931" y="810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2711585" y="3461426"/>
            <a:ext cx="1945532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Goals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4255" y="4036979"/>
            <a:ext cx="4539574" cy="1977957"/>
          </a:xfrm>
          <a:custGeom>
            <a:avLst/>
            <a:gdLst/>
            <a:ahLst/>
            <a:cxnLst/>
            <a:rect l="l" t="t" r="r" b="b"/>
            <a:pathLst>
              <a:path w="4539574" h="1977957">
                <a:moveTo>
                  <a:pt x="97276" y="0"/>
                </a:moveTo>
                <a:lnTo>
                  <a:pt x="4442299" y="0"/>
                </a:lnTo>
                <a:cubicBezTo>
                  <a:pt x="4496023" y="0"/>
                  <a:pt x="4539574" y="43552"/>
                  <a:pt x="4539574" y="97276"/>
                </a:cubicBezTo>
                <a:lnTo>
                  <a:pt x="4539574" y="1880681"/>
                </a:lnTo>
                <a:cubicBezTo>
                  <a:pt x="4539574" y="1934406"/>
                  <a:pt x="4496023" y="1977957"/>
                  <a:pt x="4442299" y="1977957"/>
                </a:cubicBezTo>
                <a:lnTo>
                  <a:pt x="97276" y="1977957"/>
                </a:lnTo>
                <a:cubicBezTo>
                  <a:pt x="43552" y="1977957"/>
                  <a:pt x="0" y="1934406"/>
                  <a:pt x="0" y="1880681"/>
                </a:cubicBezTo>
                <a:lnTo>
                  <a:pt x="0" y="97276"/>
                </a:lnTo>
                <a:cubicBezTo>
                  <a:pt x="0" y="43588"/>
                  <a:pt x="43588" y="0"/>
                  <a:pt x="97276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/>
              </a:gs>
              <a:gs pos="100000">
                <a:srgbClr val="0056B3"/>
              </a:gs>
            </a:gsLst>
            <a:lin ang="270000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453957" y="4166681"/>
            <a:ext cx="4353128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Suggested Portfolio Allocation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3957" y="4474723"/>
            <a:ext cx="74578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 Funds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06579" y="4458511"/>
            <a:ext cx="405319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3957" y="4750340"/>
            <a:ext cx="4280170" cy="64851"/>
          </a:xfrm>
          <a:custGeom>
            <a:avLst/>
            <a:gdLst/>
            <a:ahLst/>
            <a:cxnLst/>
            <a:rect l="l" t="t" r="r" b="b"/>
            <a:pathLst>
              <a:path w="4280170" h="64851">
                <a:moveTo>
                  <a:pt x="32426" y="0"/>
                </a:moveTo>
                <a:lnTo>
                  <a:pt x="4247745" y="0"/>
                </a:lnTo>
                <a:cubicBezTo>
                  <a:pt x="4265653" y="0"/>
                  <a:pt x="4280170" y="14517"/>
                  <a:pt x="4280170" y="32426"/>
                </a:cubicBezTo>
                <a:lnTo>
                  <a:pt x="4280170" y="32426"/>
                </a:lnTo>
                <a:cubicBezTo>
                  <a:pt x="4280170" y="50334"/>
                  <a:pt x="4265653" y="64851"/>
                  <a:pt x="4247745" y="64851"/>
                </a:cubicBezTo>
                <a:lnTo>
                  <a:pt x="32426" y="64851"/>
                </a:lnTo>
                <a:cubicBezTo>
                  <a:pt x="14517" y="64851"/>
                  <a:pt x="0" y="50334"/>
                  <a:pt x="0" y="32426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3957" y="4750340"/>
            <a:ext cx="1710447" cy="64851"/>
          </a:xfrm>
          <a:custGeom>
            <a:avLst/>
            <a:gdLst/>
            <a:ahLst/>
            <a:cxnLst/>
            <a:rect l="l" t="t" r="r" b="b"/>
            <a:pathLst>
              <a:path w="1710447" h="64851">
                <a:moveTo>
                  <a:pt x="32426" y="0"/>
                </a:moveTo>
                <a:lnTo>
                  <a:pt x="1678021" y="0"/>
                </a:lnTo>
                <a:cubicBezTo>
                  <a:pt x="1695929" y="0"/>
                  <a:pt x="1710447" y="14517"/>
                  <a:pt x="1710447" y="32426"/>
                </a:cubicBezTo>
                <a:lnTo>
                  <a:pt x="1710447" y="32426"/>
                </a:lnTo>
                <a:cubicBezTo>
                  <a:pt x="1710447" y="50334"/>
                  <a:pt x="1695929" y="64851"/>
                  <a:pt x="1678021" y="64851"/>
                </a:cubicBezTo>
                <a:lnTo>
                  <a:pt x="32426" y="64851"/>
                </a:lnTo>
                <a:cubicBezTo>
                  <a:pt x="14517" y="64851"/>
                  <a:pt x="0" y="50334"/>
                  <a:pt x="0" y="32426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3957" y="4896255"/>
            <a:ext cx="818745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Mutual Funds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16459" y="4880043"/>
            <a:ext cx="39721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3957" y="5171872"/>
            <a:ext cx="4280170" cy="64851"/>
          </a:xfrm>
          <a:custGeom>
            <a:avLst/>
            <a:gdLst/>
            <a:ahLst/>
            <a:cxnLst/>
            <a:rect l="l" t="t" r="r" b="b"/>
            <a:pathLst>
              <a:path w="4280170" h="64851">
                <a:moveTo>
                  <a:pt x="32426" y="0"/>
                </a:moveTo>
                <a:lnTo>
                  <a:pt x="4247745" y="0"/>
                </a:lnTo>
                <a:cubicBezTo>
                  <a:pt x="4265653" y="0"/>
                  <a:pt x="4280170" y="14517"/>
                  <a:pt x="4280170" y="32426"/>
                </a:cubicBezTo>
                <a:lnTo>
                  <a:pt x="4280170" y="32426"/>
                </a:lnTo>
                <a:cubicBezTo>
                  <a:pt x="4280170" y="50334"/>
                  <a:pt x="4265653" y="64851"/>
                  <a:pt x="4247745" y="64851"/>
                </a:cubicBezTo>
                <a:lnTo>
                  <a:pt x="32426" y="64851"/>
                </a:lnTo>
                <a:cubicBezTo>
                  <a:pt x="14517" y="64851"/>
                  <a:pt x="0" y="50334"/>
                  <a:pt x="0" y="32426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3957" y="5171872"/>
            <a:ext cx="1499681" cy="64851"/>
          </a:xfrm>
          <a:custGeom>
            <a:avLst/>
            <a:gdLst/>
            <a:ahLst/>
            <a:cxnLst/>
            <a:rect l="l" t="t" r="r" b="b"/>
            <a:pathLst>
              <a:path w="1499681" h="64851">
                <a:moveTo>
                  <a:pt x="32426" y="0"/>
                </a:moveTo>
                <a:lnTo>
                  <a:pt x="1467255" y="0"/>
                </a:lnTo>
                <a:cubicBezTo>
                  <a:pt x="1485163" y="0"/>
                  <a:pt x="1499681" y="14517"/>
                  <a:pt x="1499681" y="32426"/>
                </a:cubicBezTo>
                <a:lnTo>
                  <a:pt x="1499681" y="32426"/>
                </a:lnTo>
                <a:cubicBezTo>
                  <a:pt x="1499681" y="50334"/>
                  <a:pt x="1485163" y="64851"/>
                  <a:pt x="1467255" y="64851"/>
                </a:cubicBezTo>
                <a:lnTo>
                  <a:pt x="32426" y="64851"/>
                </a:lnTo>
                <a:cubicBezTo>
                  <a:pt x="14517" y="64851"/>
                  <a:pt x="0" y="50334"/>
                  <a:pt x="0" y="32426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3957" y="5317787"/>
            <a:ext cx="105383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Large-Cap Stocks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17979" y="5301574"/>
            <a:ext cx="39721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3957" y="5593404"/>
            <a:ext cx="4280170" cy="64851"/>
          </a:xfrm>
          <a:custGeom>
            <a:avLst/>
            <a:gdLst/>
            <a:ahLst/>
            <a:cxnLst/>
            <a:rect l="l" t="t" r="r" b="b"/>
            <a:pathLst>
              <a:path w="4280170" h="64851">
                <a:moveTo>
                  <a:pt x="32426" y="0"/>
                </a:moveTo>
                <a:lnTo>
                  <a:pt x="4247745" y="0"/>
                </a:lnTo>
                <a:cubicBezTo>
                  <a:pt x="4265653" y="0"/>
                  <a:pt x="4280170" y="14517"/>
                  <a:pt x="4280170" y="32426"/>
                </a:cubicBezTo>
                <a:lnTo>
                  <a:pt x="4280170" y="32426"/>
                </a:lnTo>
                <a:cubicBezTo>
                  <a:pt x="4280170" y="50334"/>
                  <a:pt x="4265653" y="64851"/>
                  <a:pt x="4247745" y="64851"/>
                </a:cubicBezTo>
                <a:lnTo>
                  <a:pt x="32426" y="64851"/>
                </a:lnTo>
                <a:cubicBezTo>
                  <a:pt x="14517" y="64851"/>
                  <a:pt x="0" y="50334"/>
                  <a:pt x="0" y="32426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3957" y="5593404"/>
            <a:ext cx="1070043" cy="64851"/>
          </a:xfrm>
          <a:custGeom>
            <a:avLst/>
            <a:gdLst/>
            <a:ahLst/>
            <a:cxnLst/>
            <a:rect l="l" t="t" r="r" b="b"/>
            <a:pathLst>
              <a:path w="1070043" h="64851">
                <a:moveTo>
                  <a:pt x="32426" y="0"/>
                </a:moveTo>
                <a:lnTo>
                  <a:pt x="1037617" y="0"/>
                </a:lnTo>
                <a:cubicBezTo>
                  <a:pt x="1055525" y="0"/>
                  <a:pt x="1070043" y="14517"/>
                  <a:pt x="1070043" y="32426"/>
                </a:cubicBezTo>
                <a:lnTo>
                  <a:pt x="1070043" y="32426"/>
                </a:lnTo>
                <a:cubicBezTo>
                  <a:pt x="1070043" y="50334"/>
                  <a:pt x="1055525" y="64851"/>
                  <a:pt x="1037617" y="64851"/>
                </a:cubicBezTo>
                <a:lnTo>
                  <a:pt x="32426" y="64851"/>
                </a:lnTo>
                <a:cubicBezTo>
                  <a:pt x="14517" y="64851"/>
                  <a:pt x="0" y="50334"/>
                  <a:pt x="0" y="32426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70170" y="5747426"/>
            <a:ext cx="113489" cy="113489"/>
          </a:xfrm>
          <a:custGeom>
            <a:avLst/>
            <a:gdLst/>
            <a:ahLst/>
            <a:cxnLst/>
            <a:rect l="l" t="t" r="r" b="b"/>
            <a:pathLst>
              <a:path w="113489" h="113489">
                <a:moveTo>
                  <a:pt x="56745" y="113489"/>
                </a:moveTo>
                <a:cubicBezTo>
                  <a:pt x="88063" y="113489"/>
                  <a:pt x="113489" y="88063"/>
                  <a:pt x="113489" y="56745"/>
                </a:cubicBezTo>
                <a:cubicBezTo>
                  <a:pt x="113489" y="25426"/>
                  <a:pt x="88063" y="0"/>
                  <a:pt x="56745" y="0"/>
                </a:cubicBezTo>
                <a:cubicBezTo>
                  <a:pt x="25426" y="0"/>
                  <a:pt x="0" y="25426"/>
                  <a:pt x="0" y="56745"/>
                </a:cubicBezTo>
                <a:cubicBezTo>
                  <a:pt x="0" y="88063"/>
                  <a:pt x="25426" y="113489"/>
                  <a:pt x="56745" y="113489"/>
                </a:cubicBezTo>
                <a:close/>
                <a:moveTo>
                  <a:pt x="49652" y="35465"/>
                </a:moveTo>
                <a:cubicBezTo>
                  <a:pt x="49652" y="31551"/>
                  <a:pt x="52830" y="28372"/>
                  <a:pt x="56745" y="28372"/>
                </a:cubicBezTo>
                <a:cubicBezTo>
                  <a:pt x="60659" y="28372"/>
                  <a:pt x="63838" y="31551"/>
                  <a:pt x="63838" y="35465"/>
                </a:cubicBezTo>
                <a:cubicBezTo>
                  <a:pt x="63838" y="39380"/>
                  <a:pt x="60659" y="42559"/>
                  <a:pt x="56745" y="42559"/>
                </a:cubicBezTo>
                <a:cubicBezTo>
                  <a:pt x="52830" y="42559"/>
                  <a:pt x="49652" y="39380"/>
                  <a:pt x="49652" y="35465"/>
                </a:cubicBezTo>
                <a:close/>
                <a:moveTo>
                  <a:pt x="47878" y="49652"/>
                </a:moveTo>
                <a:lnTo>
                  <a:pt x="58518" y="49652"/>
                </a:lnTo>
                <a:cubicBezTo>
                  <a:pt x="61466" y="49652"/>
                  <a:pt x="63838" y="52023"/>
                  <a:pt x="63838" y="54971"/>
                </a:cubicBezTo>
                <a:lnTo>
                  <a:pt x="63838" y="74477"/>
                </a:lnTo>
                <a:lnTo>
                  <a:pt x="65611" y="74477"/>
                </a:lnTo>
                <a:cubicBezTo>
                  <a:pt x="68559" y="74477"/>
                  <a:pt x="70931" y="76849"/>
                  <a:pt x="70931" y="79797"/>
                </a:cubicBezTo>
                <a:cubicBezTo>
                  <a:pt x="70931" y="82745"/>
                  <a:pt x="68559" y="85117"/>
                  <a:pt x="65611" y="85117"/>
                </a:cubicBezTo>
                <a:lnTo>
                  <a:pt x="47878" y="85117"/>
                </a:lnTo>
                <a:cubicBezTo>
                  <a:pt x="44930" y="85117"/>
                  <a:pt x="42559" y="82745"/>
                  <a:pt x="42559" y="79797"/>
                </a:cubicBezTo>
                <a:cubicBezTo>
                  <a:pt x="42559" y="76849"/>
                  <a:pt x="44930" y="74477"/>
                  <a:pt x="47878" y="74477"/>
                </a:cubicBezTo>
                <a:lnTo>
                  <a:pt x="53198" y="74477"/>
                </a:lnTo>
                <a:lnTo>
                  <a:pt x="53198" y="60291"/>
                </a:lnTo>
                <a:lnTo>
                  <a:pt x="47878" y="60291"/>
                </a:lnTo>
                <a:cubicBezTo>
                  <a:pt x="44930" y="60291"/>
                  <a:pt x="42559" y="57919"/>
                  <a:pt x="42559" y="54971"/>
                </a:cubicBezTo>
                <a:cubicBezTo>
                  <a:pt x="42559" y="52023"/>
                  <a:pt x="44930" y="49652"/>
                  <a:pt x="47878" y="49652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20569" y="5723106"/>
            <a:ext cx="4170303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Allocation dynamically adjusts based on user's risk profile and market conditions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97585" y="944394"/>
            <a:ext cx="6866106" cy="1499681"/>
          </a:xfrm>
          <a:custGeom>
            <a:avLst/>
            <a:gdLst/>
            <a:ahLst/>
            <a:cxnLst/>
            <a:rect l="l" t="t" r="r" b="b"/>
            <a:pathLst>
              <a:path w="6866106" h="1499681">
                <a:moveTo>
                  <a:pt x="97269" y="0"/>
                </a:moveTo>
                <a:lnTo>
                  <a:pt x="6768837" y="0"/>
                </a:lnTo>
                <a:cubicBezTo>
                  <a:pt x="6822557" y="0"/>
                  <a:pt x="6866106" y="43549"/>
                  <a:pt x="6866106" y="97269"/>
                </a:cubicBezTo>
                <a:lnTo>
                  <a:pt x="6866106" y="1402412"/>
                </a:lnTo>
                <a:cubicBezTo>
                  <a:pt x="6866106" y="1456132"/>
                  <a:pt x="6822557" y="1499681"/>
                  <a:pt x="6768837" y="1499681"/>
                </a:cubicBezTo>
                <a:lnTo>
                  <a:pt x="97269" y="1499681"/>
                </a:lnTo>
                <a:cubicBezTo>
                  <a:pt x="43549" y="1499681"/>
                  <a:pt x="0" y="1456132"/>
                  <a:pt x="0" y="1402412"/>
                </a:cubicBezTo>
                <a:lnTo>
                  <a:pt x="0" y="97269"/>
                </a:lnTo>
                <a:cubicBezTo>
                  <a:pt x="0" y="43585"/>
                  <a:pt x="43585" y="0"/>
                  <a:pt x="972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4319" dist="8106" dir="5400000">
              <a:srgbClr val="000000">
                <a:alpha val="10196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131340" y="1078149"/>
            <a:ext cx="6679660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25133" y="1402404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194553" y="0"/>
                </a:moveTo>
                <a:lnTo>
                  <a:pt x="194553" y="0"/>
                </a:lnTo>
                <a:cubicBezTo>
                  <a:pt x="301930" y="0"/>
                  <a:pt x="389106" y="87176"/>
                  <a:pt x="389106" y="194553"/>
                </a:cubicBezTo>
                <a:lnTo>
                  <a:pt x="389106" y="194553"/>
                </a:lnTo>
                <a:cubicBezTo>
                  <a:pt x="389106" y="301930"/>
                  <a:pt x="301930" y="389106"/>
                  <a:pt x="194553" y="389106"/>
                </a:cubicBezTo>
                <a:lnTo>
                  <a:pt x="194553" y="389106"/>
                </a:lnTo>
                <a:cubicBezTo>
                  <a:pt x="87176" y="389106"/>
                  <a:pt x="0" y="301930"/>
                  <a:pt x="0" y="194553"/>
                </a:cubicBezTo>
                <a:lnTo>
                  <a:pt x="0" y="194553"/>
                </a:lnTo>
                <a:cubicBezTo>
                  <a:pt x="0" y="87176"/>
                  <a:pt x="87176" y="0"/>
                  <a:pt x="194553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42" name="Text 40"/>
          <p:cNvSpPr/>
          <p:nvPr/>
        </p:nvSpPr>
        <p:spPr>
          <a:xfrm>
            <a:off x="5846729" y="1483468"/>
            <a:ext cx="145915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02968" y="1856362"/>
            <a:ext cx="163748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Guided Mode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07021" y="2050915"/>
            <a:ext cx="162938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6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opts into Guided Investing Mode from Kite/Coin dashboard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99101" y="1402404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194553" y="0"/>
                </a:moveTo>
                <a:lnTo>
                  <a:pt x="194553" y="0"/>
                </a:lnTo>
                <a:cubicBezTo>
                  <a:pt x="301930" y="0"/>
                  <a:pt x="389106" y="87176"/>
                  <a:pt x="389106" y="194553"/>
                </a:cubicBezTo>
                <a:lnTo>
                  <a:pt x="389106" y="194553"/>
                </a:lnTo>
                <a:cubicBezTo>
                  <a:pt x="389106" y="301930"/>
                  <a:pt x="301930" y="389106"/>
                  <a:pt x="194553" y="389106"/>
                </a:cubicBezTo>
                <a:lnTo>
                  <a:pt x="194553" y="389106"/>
                </a:lnTo>
                <a:cubicBezTo>
                  <a:pt x="87176" y="389106"/>
                  <a:pt x="0" y="301930"/>
                  <a:pt x="0" y="194553"/>
                </a:cubicBezTo>
                <a:lnTo>
                  <a:pt x="0" y="194553"/>
                </a:lnTo>
                <a:cubicBezTo>
                  <a:pt x="0" y="87176"/>
                  <a:pt x="87176" y="0"/>
                  <a:pt x="194553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46" name="Text 44"/>
          <p:cNvSpPr/>
          <p:nvPr/>
        </p:nvSpPr>
        <p:spPr>
          <a:xfrm>
            <a:off x="7506004" y="1483468"/>
            <a:ext cx="178340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76936" y="1856362"/>
            <a:ext cx="163748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 Simple Questions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80989" y="2050915"/>
            <a:ext cx="162938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6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4-5 questions about risk tolerance, income, goals, and timeline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73069" y="1402404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194553" y="0"/>
                </a:moveTo>
                <a:lnTo>
                  <a:pt x="194553" y="0"/>
                </a:lnTo>
                <a:cubicBezTo>
                  <a:pt x="301930" y="0"/>
                  <a:pt x="389106" y="87176"/>
                  <a:pt x="389106" y="194553"/>
                </a:cubicBezTo>
                <a:lnTo>
                  <a:pt x="389106" y="194553"/>
                </a:lnTo>
                <a:cubicBezTo>
                  <a:pt x="389106" y="301930"/>
                  <a:pt x="301930" y="389106"/>
                  <a:pt x="194553" y="389106"/>
                </a:cubicBezTo>
                <a:lnTo>
                  <a:pt x="194553" y="389106"/>
                </a:lnTo>
                <a:cubicBezTo>
                  <a:pt x="87176" y="389106"/>
                  <a:pt x="0" y="301930"/>
                  <a:pt x="0" y="194553"/>
                </a:cubicBezTo>
                <a:lnTo>
                  <a:pt x="0" y="194553"/>
                </a:lnTo>
                <a:cubicBezTo>
                  <a:pt x="0" y="87176"/>
                  <a:pt x="87176" y="0"/>
                  <a:pt x="194553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50" name="Text 48"/>
          <p:cNvSpPr/>
          <p:nvPr/>
        </p:nvSpPr>
        <p:spPr>
          <a:xfrm>
            <a:off x="9179212" y="1483468"/>
            <a:ext cx="178340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50904" y="1856362"/>
            <a:ext cx="163748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Personalized Allocation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54957" y="2050915"/>
            <a:ext cx="162938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6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suggests balanced portfolio across asset classes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747037" y="1402404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194553" y="0"/>
                </a:moveTo>
                <a:lnTo>
                  <a:pt x="194553" y="0"/>
                </a:lnTo>
                <a:cubicBezTo>
                  <a:pt x="301930" y="0"/>
                  <a:pt x="389106" y="87176"/>
                  <a:pt x="389106" y="194553"/>
                </a:cubicBezTo>
                <a:lnTo>
                  <a:pt x="389106" y="194553"/>
                </a:lnTo>
                <a:cubicBezTo>
                  <a:pt x="389106" y="301930"/>
                  <a:pt x="301930" y="389106"/>
                  <a:pt x="194553" y="389106"/>
                </a:cubicBezTo>
                <a:lnTo>
                  <a:pt x="194553" y="389106"/>
                </a:lnTo>
                <a:cubicBezTo>
                  <a:pt x="87176" y="389106"/>
                  <a:pt x="0" y="301930"/>
                  <a:pt x="0" y="194553"/>
                </a:cubicBezTo>
                <a:lnTo>
                  <a:pt x="0" y="194553"/>
                </a:lnTo>
                <a:cubicBezTo>
                  <a:pt x="0" y="87176"/>
                  <a:pt x="87176" y="0"/>
                  <a:pt x="19455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2"/>
          <p:cNvSpPr/>
          <p:nvPr/>
        </p:nvSpPr>
        <p:spPr>
          <a:xfrm>
            <a:off x="10853307" y="1483468"/>
            <a:ext cx="178340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124872" y="1856362"/>
            <a:ext cx="163748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&amp; Invest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128926" y="2050915"/>
            <a:ext cx="162938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6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can modify suggestions and proceed with one-click investing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997585" y="2581883"/>
            <a:ext cx="6866106" cy="3429000"/>
          </a:xfrm>
          <a:custGeom>
            <a:avLst/>
            <a:gdLst/>
            <a:ahLst/>
            <a:cxnLst/>
            <a:rect l="l" t="t" r="r" b="b"/>
            <a:pathLst>
              <a:path w="6866106" h="3429000">
                <a:moveTo>
                  <a:pt x="97281" y="0"/>
                </a:moveTo>
                <a:lnTo>
                  <a:pt x="6768826" y="0"/>
                </a:lnTo>
                <a:cubicBezTo>
                  <a:pt x="6822552" y="0"/>
                  <a:pt x="6866106" y="43554"/>
                  <a:pt x="6866106" y="97281"/>
                </a:cubicBezTo>
                <a:lnTo>
                  <a:pt x="6866106" y="3331719"/>
                </a:lnTo>
                <a:cubicBezTo>
                  <a:pt x="6866106" y="3385446"/>
                  <a:pt x="6822552" y="3429000"/>
                  <a:pt x="6768826" y="3429000"/>
                </a:cubicBezTo>
                <a:lnTo>
                  <a:pt x="97281" y="3429000"/>
                </a:lnTo>
                <a:cubicBezTo>
                  <a:pt x="43554" y="3429000"/>
                  <a:pt x="0" y="3385446"/>
                  <a:pt x="0" y="3331719"/>
                </a:cubicBezTo>
                <a:lnTo>
                  <a:pt x="0" y="97281"/>
                </a:lnTo>
                <a:cubicBezTo>
                  <a:pt x="0" y="43554"/>
                  <a:pt x="43554" y="0"/>
                  <a:pt x="9728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4319" dist="8106" dir="5400000">
              <a:srgbClr val="000000">
                <a:alpha val="10196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131340" y="2715638"/>
            <a:ext cx="6679660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Problems Solved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147553" y="3039894"/>
            <a:ext cx="2099553" cy="1167319"/>
          </a:xfrm>
          <a:custGeom>
            <a:avLst/>
            <a:gdLst/>
            <a:ahLst/>
            <a:cxnLst/>
            <a:rect l="l" t="t" r="r" b="b"/>
            <a:pathLst>
              <a:path w="2099553" h="1167319">
                <a:moveTo>
                  <a:pt x="32426" y="0"/>
                </a:moveTo>
                <a:lnTo>
                  <a:pt x="2034697" y="0"/>
                </a:lnTo>
                <a:cubicBezTo>
                  <a:pt x="2070516" y="0"/>
                  <a:pt x="2099553" y="29037"/>
                  <a:pt x="2099553" y="64856"/>
                </a:cubicBezTo>
                <a:lnTo>
                  <a:pt x="2099553" y="1102463"/>
                </a:lnTo>
                <a:cubicBezTo>
                  <a:pt x="2099553" y="1138282"/>
                  <a:pt x="2070516" y="1167319"/>
                  <a:pt x="2034697" y="1167319"/>
                </a:cubicBezTo>
                <a:lnTo>
                  <a:pt x="32426" y="1167319"/>
                </a:lnTo>
                <a:cubicBezTo>
                  <a:pt x="14517" y="1167319"/>
                  <a:pt x="0" y="1152802"/>
                  <a:pt x="0" y="113489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60" name="Shape 58"/>
          <p:cNvSpPr/>
          <p:nvPr/>
        </p:nvSpPr>
        <p:spPr>
          <a:xfrm>
            <a:off x="5147553" y="3039894"/>
            <a:ext cx="32426" cy="1167319"/>
          </a:xfrm>
          <a:custGeom>
            <a:avLst/>
            <a:gdLst/>
            <a:ahLst/>
            <a:cxnLst/>
            <a:rect l="l" t="t" r="r" b="b"/>
            <a:pathLst>
              <a:path w="32426" h="1167319">
                <a:moveTo>
                  <a:pt x="32426" y="0"/>
                </a:moveTo>
                <a:lnTo>
                  <a:pt x="32426" y="0"/>
                </a:lnTo>
                <a:lnTo>
                  <a:pt x="32426" y="1167319"/>
                </a:lnTo>
                <a:lnTo>
                  <a:pt x="32426" y="1167319"/>
                </a:lnTo>
                <a:cubicBezTo>
                  <a:pt x="14517" y="1167319"/>
                  <a:pt x="0" y="1152802"/>
                  <a:pt x="0" y="113489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61" name="Shape 59"/>
          <p:cNvSpPr/>
          <p:nvPr/>
        </p:nvSpPr>
        <p:spPr>
          <a:xfrm>
            <a:off x="5304614" y="3193915"/>
            <a:ext cx="164154" cy="145915"/>
          </a:xfrm>
          <a:custGeom>
            <a:avLst/>
            <a:gdLst/>
            <a:ahLst/>
            <a:cxnLst/>
            <a:rect l="l" t="t" r="r" b="b"/>
            <a:pathLst>
              <a:path w="164154" h="145915">
                <a:moveTo>
                  <a:pt x="13680" y="55801"/>
                </a:moveTo>
                <a:lnTo>
                  <a:pt x="73299" y="80339"/>
                </a:lnTo>
                <a:cubicBezTo>
                  <a:pt x="76092" y="81479"/>
                  <a:pt x="79056" y="82077"/>
                  <a:pt x="82077" y="82077"/>
                </a:cubicBezTo>
                <a:cubicBezTo>
                  <a:pt x="85098" y="82077"/>
                  <a:pt x="88062" y="81479"/>
                  <a:pt x="90855" y="80339"/>
                </a:cubicBezTo>
                <a:lnTo>
                  <a:pt x="159936" y="51897"/>
                </a:lnTo>
                <a:cubicBezTo>
                  <a:pt x="162501" y="50842"/>
                  <a:pt x="164154" y="48363"/>
                  <a:pt x="164154" y="45598"/>
                </a:cubicBezTo>
                <a:cubicBezTo>
                  <a:pt x="164154" y="42834"/>
                  <a:pt x="162501" y="40355"/>
                  <a:pt x="159936" y="39300"/>
                </a:cubicBezTo>
                <a:lnTo>
                  <a:pt x="90855" y="10858"/>
                </a:lnTo>
                <a:cubicBezTo>
                  <a:pt x="88062" y="9718"/>
                  <a:pt x="85098" y="9120"/>
                  <a:pt x="82077" y="9120"/>
                </a:cubicBezTo>
                <a:cubicBezTo>
                  <a:pt x="79056" y="9120"/>
                  <a:pt x="76092" y="9718"/>
                  <a:pt x="73299" y="10858"/>
                </a:cubicBezTo>
                <a:lnTo>
                  <a:pt x="4218" y="39300"/>
                </a:lnTo>
                <a:cubicBezTo>
                  <a:pt x="1653" y="40355"/>
                  <a:pt x="0" y="42834"/>
                  <a:pt x="0" y="45598"/>
                </a:cubicBezTo>
                <a:lnTo>
                  <a:pt x="0" y="129955"/>
                </a:lnTo>
                <a:cubicBezTo>
                  <a:pt x="0" y="133746"/>
                  <a:pt x="3049" y="136795"/>
                  <a:pt x="6840" y="136795"/>
                </a:cubicBezTo>
                <a:cubicBezTo>
                  <a:pt x="10630" y="136795"/>
                  <a:pt x="13680" y="133746"/>
                  <a:pt x="13680" y="129955"/>
                </a:cubicBezTo>
                <a:lnTo>
                  <a:pt x="13680" y="55801"/>
                </a:lnTo>
                <a:close/>
                <a:moveTo>
                  <a:pt x="27359" y="76235"/>
                </a:moveTo>
                <a:lnTo>
                  <a:pt x="27359" y="109436"/>
                </a:lnTo>
                <a:cubicBezTo>
                  <a:pt x="27359" y="124541"/>
                  <a:pt x="51868" y="136795"/>
                  <a:pt x="82077" y="136795"/>
                </a:cubicBezTo>
                <a:cubicBezTo>
                  <a:pt x="112286" y="136795"/>
                  <a:pt x="136795" y="124541"/>
                  <a:pt x="136795" y="109436"/>
                </a:cubicBezTo>
                <a:lnTo>
                  <a:pt x="136795" y="76206"/>
                </a:lnTo>
                <a:lnTo>
                  <a:pt x="96070" y="92992"/>
                </a:lnTo>
                <a:cubicBezTo>
                  <a:pt x="91624" y="94816"/>
                  <a:pt x="86893" y="95757"/>
                  <a:pt x="82077" y="95757"/>
                </a:cubicBezTo>
                <a:cubicBezTo>
                  <a:pt x="77261" y="95757"/>
                  <a:pt x="72530" y="94816"/>
                  <a:pt x="68084" y="92992"/>
                </a:cubicBezTo>
                <a:lnTo>
                  <a:pt x="27359" y="76206"/>
                </a:ln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62" name="Text 60"/>
          <p:cNvSpPr/>
          <p:nvPr/>
        </p:nvSpPr>
        <p:spPr>
          <a:xfrm>
            <a:off x="5540713" y="3169596"/>
            <a:ext cx="1151106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Knowledge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293468" y="3429000"/>
            <a:ext cx="1880681" cy="64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need to understand complex financial concepts—guided recommendations handle the analysis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390235" y="3039894"/>
            <a:ext cx="2099553" cy="1167319"/>
          </a:xfrm>
          <a:custGeom>
            <a:avLst/>
            <a:gdLst/>
            <a:ahLst/>
            <a:cxnLst/>
            <a:rect l="l" t="t" r="r" b="b"/>
            <a:pathLst>
              <a:path w="2099553" h="1167319">
                <a:moveTo>
                  <a:pt x="32426" y="0"/>
                </a:moveTo>
                <a:lnTo>
                  <a:pt x="2034697" y="0"/>
                </a:lnTo>
                <a:cubicBezTo>
                  <a:pt x="2070516" y="0"/>
                  <a:pt x="2099553" y="29037"/>
                  <a:pt x="2099553" y="64856"/>
                </a:cubicBezTo>
                <a:lnTo>
                  <a:pt x="2099553" y="1102463"/>
                </a:lnTo>
                <a:cubicBezTo>
                  <a:pt x="2099553" y="1138282"/>
                  <a:pt x="2070516" y="1167319"/>
                  <a:pt x="2034697" y="1167319"/>
                </a:cubicBezTo>
                <a:lnTo>
                  <a:pt x="32426" y="1167319"/>
                </a:lnTo>
                <a:cubicBezTo>
                  <a:pt x="14517" y="1167319"/>
                  <a:pt x="0" y="1152802"/>
                  <a:pt x="0" y="113489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65" name="Shape 63"/>
          <p:cNvSpPr/>
          <p:nvPr/>
        </p:nvSpPr>
        <p:spPr>
          <a:xfrm>
            <a:off x="7390235" y="3039894"/>
            <a:ext cx="32426" cy="1167319"/>
          </a:xfrm>
          <a:custGeom>
            <a:avLst/>
            <a:gdLst/>
            <a:ahLst/>
            <a:cxnLst/>
            <a:rect l="l" t="t" r="r" b="b"/>
            <a:pathLst>
              <a:path w="32426" h="1167319">
                <a:moveTo>
                  <a:pt x="32426" y="0"/>
                </a:moveTo>
                <a:lnTo>
                  <a:pt x="32426" y="0"/>
                </a:lnTo>
                <a:lnTo>
                  <a:pt x="32426" y="1167319"/>
                </a:lnTo>
                <a:lnTo>
                  <a:pt x="32426" y="1167319"/>
                </a:lnTo>
                <a:cubicBezTo>
                  <a:pt x="14517" y="1167319"/>
                  <a:pt x="0" y="1152802"/>
                  <a:pt x="0" y="113489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66" name="Shape 64"/>
          <p:cNvSpPr/>
          <p:nvPr/>
        </p:nvSpPr>
        <p:spPr>
          <a:xfrm>
            <a:off x="7556416" y="3193915"/>
            <a:ext cx="145915" cy="145915"/>
          </a:xfrm>
          <a:custGeom>
            <a:avLst/>
            <a:gdLst/>
            <a:ahLst/>
            <a:cxnLst/>
            <a:rect l="l" t="t" r="r" b="b"/>
            <a:pathLst>
              <a:path w="145915" h="145915">
                <a:moveTo>
                  <a:pt x="34199" y="15959"/>
                </a:moveTo>
                <a:cubicBezTo>
                  <a:pt x="34199" y="7153"/>
                  <a:pt x="41352" y="0"/>
                  <a:pt x="50158" y="0"/>
                </a:cubicBezTo>
                <a:lnTo>
                  <a:pt x="56998" y="0"/>
                </a:lnTo>
                <a:cubicBezTo>
                  <a:pt x="62042" y="0"/>
                  <a:pt x="66118" y="4075"/>
                  <a:pt x="66118" y="9120"/>
                </a:cubicBezTo>
                <a:lnTo>
                  <a:pt x="66118" y="136795"/>
                </a:lnTo>
                <a:cubicBezTo>
                  <a:pt x="66118" y="141840"/>
                  <a:pt x="62042" y="145915"/>
                  <a:pt x="56998" y="145915"/>
                </a:cubicBezTo>
                <a:lnTo>
                  <a:pt x="47878" y="145915"/>
                </a:lnTo>
                <a:cubicBezTo>
                  <a:pt x="39386" y="145915"/>
                  <a:pt x="32232" y="140101"/>
                  <a:pt x="30209" y="132235"/>
                </a:cubicBezTo>
                <a:cubicBezTo>
                  <a:pt x="30009" y="132235"/>
                  <a:pt x="29838" y="132235"/>
                  <a:pt x="29639" y="132235"/>
                </a:cubicBezTo>
                <a:cubicBezTo>
                  <a:pt x="17042" y="132235"/>
                  <a:pt x="6840" y="122033"/>
                  <a:pt x="6840" y="109436"/>
                </a:cubicBezTo>
                <a:cubicBezTo>
                  <a:pt x="6840" y="104306"/>
                  <a:pt x="8550" y="99576"/>
                  <a:pt x="11400" y="95757"/>
                </a:cubicBezTo>
                <a:cubicBezTo>
                  <a:pt x="5871" y="91596"/>
                  <a:pt x="2280" y="84984"/>
                  <a:pt x="2280" y="77517"/>
                </a:cubicBezTo>
                <a:cubicBezTo>
                  <a:pt x="2280" y="68711"/>
                  <a:pt x="7296" y="61045"/>
                  <a:pt x="14591" y="57254"/>
                </a:cubicBezTo>
                <a:cubicBezTo>
                  <a:pt x="12568" y="53835"/>
                  <a:pt x="11400" y="49845"/>
                  <a:pt x="11400" y="45598"/>
                </a:cubicBezTo>
                <a:cubicBezTo>
                  <a:pt x="11400" y="33002"/>
                  <a:pt x="21602" y="22799"/>
                  <a:pt x="34199" y="22799"/>
                </a:cubicBezTo>
                <a:lnTo>
                  <a:pt x="34199" y="15959"/>
                </a:lnTo>
                <a:close/>
                <a:moveTo>
                  <a:pt x="111716" y="15959"/>
                </a:moveTo>
                <a:lnTo>
                  <a:pt x="111716" y="22799"/>
                </a:lnTo>
                <a:cubicBezTo>
                  <a:pt x="124313" y="22799"/>
                  <a:pt x="134515" y="33002"/>
                  <a:pt x="134515" y="45598"/>
                </a:cubicBezTo>
                <a:cubicBezTo>
                  <a:pt x="134515" y="49873"/>
                  <a:pt x="133347" y="53863"/>
                  <a:pt x="131323" y="57254"/>
                </a:cubicBezTo>
                <a:cubicBezTo>
                  <a:pt x="138648" y="61045"/>
                  <a:pt x="143635" y="68683"/>
                  <a:pt x="143635" y="77517"/>
                </a:cubicBezTo>
                <a:cubicBezTo>
                  <a:pt x="143635" y="84984"/>
                  <a:pt x="140044" y="91596"/>
                  <a:pt x="134515" y="95757"/>
                </a:cubicBezTo>
                <a:cubicBezTo>
                  <a:pt x="137365" y="99576"/>
                  <a:pt x="139075" y="104306"/>
                  <a:pt x="139075" y="109436"/>
                </a:cubicBezTo>
                <a:cubicBezTo>
                  <a:pt x="139075" y="122033"/>
                  <a:pt x="128872" y="132235"/>
                  <a:pt x="116276" y="132235"/>
                </a:cubicBezTo>
                <a:cubicBezTo>
                  <a:pt x="116076" y="132235"/>
                  <a:pt x="115905" y="132235"/>
                  <a:pt x="115706" y="132235"/>
                </a:cubicBezTo>
                <a:cubicBezTo>
                  <a:pt x="113683" y="140101"/>
                  <a:pt x="106529" y="145915"/>
                  <a:pt x="98037" y="145915"/>
                </a:cubicBezTo>
                <a:lnTo>
                  <a:pt x="88917" y="145915"/>
                </a:lnTo>
                <a:cubicBezTo>
                  <a:pt x="83873" y="145915"/>
                  <a:pt x="79797" y="141840"/>
                  <a:pt x="79797" y="136795"/>
                </a:cubicBezTo>
                <a:lnTo>
                  <a:pt x="79797" y="9120"/>
                </a:lnTo>
                <a:cubicBezTo>
                  <a:pt x="79797" y="4075"/>
                  <a:pt x="83873" y="0"/>
                  <a:pt x="88917" y="0"/>
                </a:cubicBezTo>
                <a:lnTo>
                  <a:pt x="95757" y="0"/>
                </a:lnTo>
                <a:cubicBezTo>
                  <a:pt x="104563" y="0"/>
                  <a:pt x="111716" y="7153"/>
                  <a:pt x="111716" y="15959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67" name="Text 65"/>
          <p:cNvSpPr/>
          <p:nvPr/>
        </p:nvSpPr>
        <p:spPr>
          <a:xfrm>
            <a:off x="7783394" y="3169596"/>
            <a:ext cx="1086255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Paralysis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536150" y="3429000"/>
            <a:ext cx="1880681" cy="486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Clear, actionable recommendations eliminate decision fatigue from too many choices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633043" y="3039894"/>
            <a:ext cx="2099553" cy="1167319"/>
          </a:xfrm>
          <a:custGeom>
            <a:avLst/>
            <a:gdLst/>
            <a:ahLst/>
            <a:cxnLst/>
            <a:rect l="l" t="t" r="r" b="b"/>
            <a:pathLst>
              <a:path w="2099553" h="1167319">
                <a:moveTo>
                  <a:pt x="32426" y="0"/>
                </a:moveTo>
                <a:lnTo>
                  <a:pt x="2034697" y="0"/>
                </a:lnTo>
                <a:cubicBezTo>
                  <a:pt x="2070516" y="0"/>
                  <a:pt x="2099553" y="29037"/>
                  <a:pt x="2099553" y="64856"/>
                </a:cubicBezTo>
                <a:lnTo>
                  <a:pt x="2099553" y="1102463"/>
                </a:lnTo>
                <a:cubicBezTo>
                  <a:pt x="2099553" y="1138282"/>
                  <a:pt x="2070516" y="1167319"/>
                  <a:pt x="2034697" y="1167319"/>
                </a:cubicBezTo>
                <a:lnTo>
                  <a:pt x="32426" y="1167319"/>
                </a:lnTo>
                <a:cubicBezTo>
                  <a:pt x="14517" y="1167319"/>
                  <a:pt x="0" y="1152802"/>
                  <a:pt x="0" y="113489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70" name="Shape 68"/>
          <p:cNvSpPr/>
          <p:nvPr/>
        </p:nvSpPr>
        <p:spPr>
          <a:xfrm>
            <a:off x="9633043" y="3039894"/>
            <a:ext cx="32426" cy="1167319"/>
          </a:xfrm>
          <a:custGeom>
            <a:avLst/>
            <a:gdLst/>
            <a:ahLst/>
            <a:cxnLst/>
            <a:rect l="l" t="t" r="r" b="b"/>
            <a:pathLst>
              <a:path w="32426" h="1167319">
                <a:moveTo>
                  <a:pt x="32426" y="0"/>
                </a:moveTo>
                <a:lnTo>
                  <a:pt x="32426" y="0"/>
                </a:lnTo>
                <a:lnTo>
                  <a:pt x="32426" y="1167319"/>
                </a:lnTo>
                <a:lnTo>
                  <a:pt x="32426" y="1167319"/>
                </a:lnTo>
                <a:cubicBezTo>
                  <a:pt x="14517" y="1167319"/>
                  <a:pt x="0" y="1152802"/>
                  <a:pt x="0" y="113489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71" name="Shape 69"/>
          <p:cNvSpPr/>
          <p:nvPr/>
        </p:nvSpPr>
        <p:spPr>
          <a:xfrm>
            <a:off x="9799224" y="3193915"/>
            <a:ext cx="145915" cy="145915"/>
          </a:xfrm>
          <a:custGeom>
            <a:avLst/>
            <a:gdLst/>
            <a:ahLst/>
            <a:cxnLst/>
            <a:rect l="l" t="t" r="r" b="b"/>
            <a:pathLst>
              <a:path w="145915" h="145915">
                <a:moveTo>
                  <a:pt x="72957" y="0"/>
                </a:moveTo>
                <a:cubicBezTo>
                  <a:pt x="113224" y="0"/>
                  <a:pt x="145915" y="32691"/>
                  <a:pt x="145915" y="72957"/>
                </a:cubicBezTo>
                <a:cubicBezTo>
                  <a:pt x="145915" y="113224"/>
                  <a:pt x="113224" y="145915"/>
                  <a:pt x="72957" y="145915"/>
                </a:cubicBezTo>
                <a:cubicBezTo>
                  <a:pt x="32691" y="145915"/>
                  <a:pt x="0" y="113224"/>
                  <a:pt x="0" y="72957"/>
                </a:cubicBezTo>
                <a:cubicBezTo>
                  <a:pt x="0" y="32691"/>
                  <a:pt x="32691" y="0"/>
                  <a:pt x="72957" y="0"/>
                </a:cubicBezTo>
                <a:close/>
                <a:moveTo>
                  <a:pt x="66118" y="34199"/>
                </a:moveTo>
                <a:lnTo>
                  <a:pt x="66118" y="72957"/>
                </a:lnTo>
                <a:cubicBezTo>
                  <a:pt x="66118" y="75237"/>
                  <a:pt x="67258" y="77375"/>
                  <a:pt x="69167" y="78657"/>
                </a:cubicBezTo>
                <a:lnTo>
                  <a:pt x="96526" y="96897"/>
                </a:lnTo>
                <a:cubicBezTo>
                  <a:pt x="99661" y="99006"/>
                  <a:pt x="103907" y="98151"/>
                  <a:pt x="106016" y="94987"/>
                </a:cubicBezTo>
                <a:cubicBezTo>
                  <a:pt x="108125" y="91824"/>
                  <a:pt x="107270" y="87606"/>
                  <a:pt x="104107" y="85497"/>
                </a:cubicBezTo>
                <a:lnTo>
                  <a:pt x="79797" y="69310"/>
                </a:lnTo>
                <a:lnTo>
                  <a:pt x="79797" y="34199"/>
                </a:lnTo>
                <a:cubicBezTo>
                  <a:pt x="79797" y="30408"/>
                  <a:pt x="76748" y="27359"/>
                  <a:pt x="72957" y="27359"/>
                </a:cubicBezTo>
                <a:cubicBezTo>
                  <a:pt x="69167" y="27359"/>
                  <a:pt x="66118" y="30408"/>
                  <a:pt x="66118" y="34199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72" name="Text 70"/>
          <p:cNvSpPr/>
          <p:nvPr/>
        </p:nvSpPr>
        <p:spPr>
          <a:xfrm>
            <a:off x="10026202" y="3169596"/>
            <a:ext cx="103761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Constraints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778958" y="3429000"/>
            <a:ext cx="1880681" cy="486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5-minute onboarding vs. hours of research—investing made accessible for busy professionals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24255" y="6144638"/>
            <a:ext cx="11543489" cy="389106"/>
          </a:xfrm>
          <a:custGeom>
            <a:avLst/>
            <a:gdLst/>
            <a:ahLst/>
            <a:cxnLst/>
            <a:rect l="l" t="t" r="r" b="b"/>
            <a:pathLst>
              <a:path w="11543489" h="389106">
                <a:moveTo>
                  <a:pt x="64852" y="0"/>
                </a:moveTo>
                <a:lnTo>
                  <a:pt x="11478637" y="0"/>
                </a:lnTo>
                <a:cubicBezTo>
                  <a:pt x="11514454" y="0"/>
                  <a:pt x="11543489" y="29035"/>
                  <a:pt x="11543489" y="64852"/>
                </a:cubicBezTo>
                <a:lnTo>
                  <a:pt x="11543489" y="324254"/>
                </a:lnTo>
                <a:cubicBezTo>
                  <a:pt x="11543489" y="360071"/>
                  <a:pt x="11514454" y="389106"/>
                  <a:pt x="11478637" y="389106"/>
                </a:cubicBezTo>
                <a:lnTo>
                  <a:pt x="64852" y="389106"/>
                </a:lnTo>
                <a:cubicBezTo>
                  <a:pt x="29035" y="389106"/>
                  <a:pt x="0" y="360071"/>
                  <a:pt x="0" y="324254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>
                  <a:alpha val="10000"/>
                </a:srgbClr>
              </a:gs>
              <a:gs pos="100000">
                <a:srgbClr val="00D09C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75" name="Shape 73"/>
          <p:cNvSpPr/>
          <p:nvPr/>
        </p:nvSpPr>
        <p:spPr>
          <a:xfrm>
            <a:off x="470170" y="6241915"/>
            <a:ext cx="145915" cy="194553"/>
          </a:xfrm>
          <a:custGeom>
            <a:avLst/>
            <a:gdLst/>
            <a:ahLst/>
            <a:cxnLst/>
            <a:rect l="l" t="t" r="r" b="b"/>
            <a:pathLst>
              <a:path w="145915" h="194553">
                <a:moveTo>
                  <a:pt x="111298" y="145915"/>
                </a:moveTo>
                <a:cubicBezTo>
                  <a:pt x="114072" y="137441"/>
                  <a:pt x="119620" y="129765"/>
                  <a:pt x="125890" y="123154"/>
                </a:cubicBezTo>
                <a:cubicBezTo>
                  <a:pt x="138315" y="110082"/>
                  <a:pt x="145915" y="92413"/>
                  <a:pt x="145915" y="72957"/>
                </a:cubicBezTo>
                <a:cubicBezTo>
                  <a:pt x="145915" y="32679"/>
                  <a:pt x="113236" y="0"/>
                  <a:pt x="72957" y="0"/>
                </a:cubicBezTo>
                <a:cubicBezTo>
                  <a:pt x="32679" y="0"/>
                  <a:pt x="0" y="32679"/>
                  <a:pt x="0" y="72957"/>
                </a:cubicBezTo>
                <a:cubicBezTo>
                  <a:pt x="0" y="92413"/>
                  <a:pt x="7600" y="110082"/>
                  <a:pt x="20025" y="123154"/>
                </a:cubicBezTo>
                <a:cubicBezTo>
                  <a:pt x="26295" y="129765"/>
                  <a:pt x="31881" y="137441"/>
                  <a:pt x="34617" y="145915"/>
                </a:cubicBezTo>
                <a:lnTo>
                  <a:pt x="111260" y="145915"/>
                </a:lnTo>
                <a:close/>
                <a:moveTo>
                  <a:pt x="109436" y="164154"/>
                </a:moveTo>
                <a:lnTo>
                  <a:pt x="36479" y="164154"/>
                </a:lnTo>
                <a:lnTo>
                  <a:pt x="36479" y="170234"/>
                </a:lnTo>
                <a:cubicBezTo>
                  <a:pt x="36479" y="187029"/>
                  <a:pt x="50082" y="200633"/>
                  <a:pt x="66878" y="200633"/>
                </a:cubicBezTo>
                <a:lnTo>
                  <a:pt x="79037" y="200633"/>
                </a:lnTo>
                <a:cubicBezTo>
                  <a:pt x="95833" y="200633"/>
                  <a:pt x="109436" y="187029"/>
                  <a:pt x="109436" y="170234"/>
                </a:cubicBezTo>
                <a:lnTo>
                  <a:pt x="109436" y="164154"/>
                </a:lnTo>
                <a:close/>
                <a:moveTo>
                  <a:pt x="69918" y="42559"/>
                </a:moveTo>
                <a:cubicBezTo>
                  <a:pt x="54794" y="42559"/>
                  <a:pt x="42559" y="54794"/>
                  <a:pt x="42559" y="69918"/>
                </a:cubicBezTo>
                <a:cubicBezTo>
                  <a:pt x="42559" y="74971"/>
                  <a:pt x="38493" y="79037"/>
                  <a:pt x="33439" y="79037"/>
                </a:cubicBezTo>
                <a:cubicBezTo>
                  <a:pt x="28385" y="79037"/>
                  <a:pt x="24319" y="74971"/>
                  <a:pt x="24319" y="69918"/>
                </a:cubicBezTo>
                <a:cubicBezTo>
                  <a:pt x="24319" y="44724"/>
                  <a:pt x="44724" y="24319"/>
                  <a:pt x="69918" y="24319"/>
                </a:cubicBezTo>
                <a:cubicBezTo>
                  <a:pt x="74971" y="24319"/>
                  <a:pt x="79037" y="28385"/>
                  <a:pt x="79037" y="33439"/>
                </a:cubicBezTo>
                <a:cubicBezTo>
                  <a:pt x="79037" y="38493"/>
                  <a:pt x="74971" y="42559"/>
                  <a:pt x="69918" y="42559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76" name="Text 74"/>
          <p:cNvSpPr/>
          <p:nvPr/>
        </p:nvSpPr>
        <p:spPr>
          <a:xfrm>
            <a:off x="762000" y="6241915"/>
            <a:ext cx="644457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1 of 3:</a:t>
            </a:r>
            <a:pPr>
              <a:lnSpc>
                <a:spcPct val="130000"/>
              </a:lnSpc>
            </a:pPr>
            <a:r>
              <a:rPr lang="en-US" sz="102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Guided Investing Mode transforms complex investment decisions into simple, personalized actions.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419" y="443023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3" name="Text 1"/>
          <p:cNvSpPr/>
          <p:nvPr/>
        </p:nvSpPr>
        <p:spPr>
          <a:xfrm>
            <a:off x="485249" y="496186"/>
            <a:ext cx="168349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5163" y="354419"/>
            <a:ext cx="446567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spc="56" kern="0" dirty="0">
                <a:solidFill>
                  <a:srgbClr val="00D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5163" y="567070"/>
            <a:ext cx="4527698" cy="318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93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Zerodha Varsity+ (Gamified Learning)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8849" y="1032244"/>
            <a:ext cx="5644116" cy="1745512"/>
          </a:xfrm>
          <a:custGeom>
            <a:avLst/>
            <a:gdLst/>
            <a:ahLst/>
            <a:cxnLst/>
            <a:rect l="l" t="t" r="r" b="b"/>
            <a:pathLst>
              <a:path w="5644116" h="1745512">
                <a:moveTo>
                  <a:pt x="106319" y="0"/>
                </a:moveTo>
                <a:lnTo>
                  <a:pt x="5537797" y="0"/>
                </a:lnTo>
                <a:cubicBezTo>
                  <a:pt x="5596516" y="0"/>
                  <a:pt x="5644116" y="47601"/>
                  <a:pt x="5644116" y="106319"/>
                </a:cubicBezTo>
                <a:lnTo>
                  <a:pt x="5644116" y="1639193"/>
                </a:lnTo>
                <a:cubicBezTo>
                  <a:pt x="5644116" y="1697911"/>
                  <a:pt x="5596516" y="1745512"/>
                  <a:pt x="5537797" y="1745512"/>
                </a:cubicBezTo>
                <a:lnTo>
                  <a:pt x="106319" y="1745512"/>
                </a:lnTo>
                <a:cubicBezTo>
                  <a:pt x="47601" y="1745512"/>
                  <a:pt x="0" y="1697911"/>
                  <a:pt x="0" y="1639193"/>
                </a:cubicBezTo>
                <a:lnTo>
                  <a:pt x="0" y="106319"/>
                </a:lnTo>
                <a:cubicBezTo>
                  <a:pt x="0" y="47640"/>
                  <a:pt x="47640" y="0"/>
                  <a:pt x="10631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6581" dist="8860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5047" y="1178442"/>
            <a:ext cx="543146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5047" y="1497419"/>
            <a:ext cx="5422605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enhancement of the popular Varsity platform with </a:t>
            </a:r>
            <a:pPr>
              <a:lnSpc>
                <a:spcPct val="140000"/>
              </a:lnSpc>
            </a:pPr>
            <a:r>
              <a:rPr lang="en-US" sz="1116" b="1" dirty="0">
                <a:solidFill>
                  <a:srgbClr val="00D09C"/>
                </a:solidFill>
                <a:highlight>
                  <a:srgbClr val="00D09C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in-app incentives and gamification </a:t>
            </a:r>
            <a:pPr>
              <a:lnSpc>
                <a:spcPct val="140000"/>
              </a:lnSpc>
            </a:pPr>
            <a:r>
              <a:rPr lang="en-US" sz="111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make financial education engaging and rewarding.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2767" y="2064488"/>
            <a:ext cx="5334000" cy="567070"/>
          </a:xfrm>
          <a:custGeom>
            <a:avLst/>
            <a:gdLst/>
            <a:ahLst/>
            <a:cxnLst/>
            <a:rect l="l" t="t" r="r" b="b"/>
            <a:pathLst>
              <a:path w="5334000" h="567070">
                <a:moveTo>
                  <a:pt x="35442" y="0"/>
                </a:moveTo>
                <a:lnTo>
                  <a:pt x="5263116" y="0"/>
                </a:lnTo>
                <a:cubicBezTo>
                  <a:pt x="5302264" y="0"/>
                  <a:pt x="5334000" y="31736"/>
                  <a:pt x="5334000" y="70884"/>
                </a:cubicBezTo>
                <a:lnTo>
                  <a:pt x="5334000" y="496186"/>
                </a:lnTo>
                <a:cubicBezTo>
                  <a:pt x="5334000" y="535334"/>
                  <a:pt x="5302264" y="567070"/>
                  <a:pt x="5263116" y="567070"/>
                </a:cubicBezTo>
                <a:lnTo>
                  <a:pt x="35442" y="567070"/>
                </a:lnTo>
                <a:cubicBezTo>
                  <a:pt x="15868" y="567070"/>
                  <a:pt x="0" y="551202"/>
                  <a:pt x="0" y="531628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09C">
                  <a:alpha val="10000"/>
                </a:srgbClr>
              </a:gs>
              <a:gs pos="100000">
                <a:srgbClr val="387ED1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522767" y="2064488"/>
            <a:ext cx="35442" cy="567070"/>
          </a:xfrm>
          <a:custGeom>
            <a:avLst/>
            <a:gdLst/>
            <a:ahLst/>
            <a:cxnLst/>
            <a:rect l="l" t="t" r="r" b="b"/>
            <a:pathLst>
              <a:path w="35442" h="567070">
                <a:moveTo>
                  <a:pt x="35442" y="0"/>
                </a:moveTo>
                <a:lnTo>
                  <a:pt x="35442" y="0"/>
                </a:lnTo>
                <a:lnTo>
                  <a:pt x="35442" y="567070"/>
                </a:lnTo>
                <a:lnTo>
                  <a:pt x="35442" y="567070"/>
                </a:lnTo>
                <a:cubicBezTo>
                  <a:pt x="15868" y="567070"/>
                  <a:pt x="0" y="551202"/>
                  <a:pt x="0" y="531628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11" name="Shape 9"/>
          <p:cNvSpPr/>
          <p:nvPr/>
        </p:nvSpPr>
        <p:spPr>
          <a:xfrm>
            <a:off x="672288" y="2197395"/>
            <a:ext cx="108541" cy="124047"/>
          </a:xfrm>
          <a:custGeom>
            <a:avLst/>
            <a:gdLst/>
            <a:ahLst/>
            <a:cxnLst/>
            <a:rect l="l" t="t" r="r" b="b"/>
            <a:pathLst>
              <a:path w="108541" h="124047">
                <a:moveTo>
                  <a:pt x="0" y="52332"/>
                </a:moveTo>
                <a:cubicBezTo>
                  <a:pt x="0" y="36269"/>
                  <a:pt x="13010" y="23259"/>
                  <a:pt x="29073" y="23259"/>
                </a:cubicBezTo>
                <a:lnTo>
                  <a:pt x="31012" y="23259"/>
                </a:lnTo>
                <a:cubicBezTo>
                  <a:pt x="35300" y="23259"/>
                  <a:pt x="38765" y="26723"/>
                  <a:pt x="38765" y="31012"/>
                </a:cubicBezTo>
                <a:cubicBezTo>
                  <a:pt x="38765" y="35300"/>
                  <a:pt x="35300" y="38765"/>
                  <a:pt x="31012" y="38765"/>
                </a:cubicBezTo>
                <a:lnTo>
                  <a:pt x="29073" y="38765"/>
                </a:lnTo>
                <a:cubicBezTo>
                  <a:pt x="21587" y="38765"/>
                  <a:pt x="15506" y="44846"/>
                  <a:pt x="15506" y="52332"/>
                </a:cubicBezTo>
                <a:lnTo>
                  <a:pt x="15506" y="54270"/>
                </a:lnTo>
                <a:lnTo>
                  <a:pt x="31012" y="54270"/>
                </a:lnTo>
                <a:cubicBezTo>
                  <a:pt x="39564" y="54270"/>
                  <a:pt x="46517" y="61224"/>
                  <a:pt x="46517" y="69776"/>
                </a:cubicBezTo>
                <a:lnTo>
                  <a:pt x="46517" y="85282"/>
                </a:lnTo>
                <a:cubicBezTo>
                  <a:pt x="46517" y="93834"/>
                  <a:pt x="39564" y="100788"/>
                  <a:pt x="31012" y="100788"/>
                </a:cubicBezTo>
                <a:lnTo>
                  <a:pt x="15506" y="100788"/>
                </a:lnTo>
                <a:cubicBezTo>
                  <a:pt x="6953" y="100788"/>
                  <a:pt x="0" y="93834"/>
                  <a:pt x="0" y="85282"/>
                </a:cubicBezTo>
                <a:lnTo>
                  <a:pt x="0" y="52332"/>
                </a:lnTo>
                <a:close/>
                <a:moveTo>
                  <a:pt x="62023" y="52332"/>
                </a:moveTo>
                <a:cubicBezTo>
                  <a:pt x="62023" y="36269"/>
                  <a:pt x="75034" y="23259"/>
                  <a:pt x="91097" y="23259"/>
                </a:cubicBezTo>
                <a:lnTo>
                  <a:pt x="93035" y="23259"/>
                </a:lnTo>
                <a:cubicBezTo>
                  <a:pt x="97323" y="23259"/>
                  <a:pt x="100788" y="26723"/>
                  <a:pt x="100788" y="31012"/>
                </a:cubicBezTo>
                <a:cubicBezTo>
                  <a:pt x="100788" y="35300"/>
                  <a:pt x="97323" y="38765"/>
                  <a:pt x="93035" y="38765"/>
                </a:cubicBezTo>
                <a:lnTo>
                  <a:pt x="91097" y="38765"/>
                </a:lnTo>
                <a:cubicBezTo>
                  <a:pt x="83610" y="38765"/>
                  <a:pt x="77529" y="44846"/>
                  <a:pt x="77529" y="52332"/>
                </a:cubicBezTo>
                <a:lnTo>
                  <a:pt x="77529" y="54270"/>
                </a:lnTo>
                <a:lnTo>
                  <a:pt x="93035" y="54270"/>
                </a:lnTo>
                <a:cubicBezTo>
                  <a:pt x="101587" y="54270"/>
                  <a:pt x="108541" y="61224"/>
                  <a:pt x="108541" y="69776"/>
                </a:cubicBezTo>
                <a:lnTo>
                  <a:pt x="108541" y="85282"/>
                </a:lnTo>
                <a:cubicBezTo>
                  <a:pt x="108541" y="93834"/>
                  <a:pt x="101587" y="100788"/>
                  <a:pt x="93035" y="100788"/>
                </a:cubicBezTo>
                <a:lnTo>
                  <a:pt x="77529" y="100788"/>
                </a:lnTo>
                <a:cubicBezTo>
                  <a:pt x="68977" y="100788"/>
                  <a:pt x="62023" y="93834"/>
                  <a:pt x="62023" y="85282"/>
                </a:cubicBezTo>
                <a:lnTo>
                  <a:pt x="62023" y="52332"/>
                </a:ln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12" name="Text 10"/>
          <p:cNvSpPr/>
          <p:nvPr/>
        </p:nvSpPr>
        <p:spPr>
          <a:xfrm>
            <a:off x="855756" y="2170814"/>
            <a:ext cx="4956709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"Learning is very boring. So to make it a habit for users, we incentivize them with rewards on completing learning exercises."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849" y="2928384"/>
            <a:ext cx="5644116" cy="3358116"/>
          </a:xfrm>
          <a:custGeom>
            <a:avLst/>
            <a:gdLst/>
            <a:ahLst/>
            <a:cxnLst/>
            <a:rect l="l" t="t" r="r" b="b"/>
            <a:pathLst>
              <a:path w="5644116" h="3358116">
                <a:moveTo>
                  <a:pt x="106318" y="0"/>
                </a:moveTo>
                <a:lnTo>
                  <a:pt x="5537798" y="0"/>
                </a:lnTo>
                <a:cubicBezTo>
                  <a:pt x="5596516" y="0"/>
                  <a:pt x="5644116" y="47600"/>
                  <a:pt x="5644116" y="106318"/>
                </a:cubicBezTo>
                <a:lnTo>
                  <a:pt x="5644116" y="3251798"/>
                </a:lnTo>
                <a:cubicBezTo>
                  <a:pt x="5644116" y="3310516"/>
                  <a:pt x="5596516" y="3358116"/>
                  <a:pt x="5537798" y="3358116"/>
                </a:cubicBezTo>
                <a:lnTo>
                  <a:pt x="106318" y="3358116"/>
                </a:lnTo>
                <a:cubicBezTo>
                  <a:pt x="47600" y="3358116"/>
                  <a:pt x="0" y="3310516"/>
                  <a:pt x="0" y="3251798"/>
                </a:cubicBezTo>
                <a:lnTo>
                  <a:pt x="0" y="106318"/>
                </a:lnTo>
                <a:cubicBezTo>
                  <a:pt x="0" y="47600"/>
                  <a:pt x="47600" y="0"/>
                  <a:pt x="10631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6581" dist="8860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5047" y="3074581"/>
            <a:ext cx="543146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5047" y="3429000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387ED1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1372" y="3535326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39124"/>
                </a:moveTo>
                <a:lnTo>
                  <a:pt x="70884" y="124766"/>
                </a:lnTo>
                <a:lnTo>
                  <a:pt x="71022" y="124711"/>
                </a:lnTo>
                <a:cubicBezTo>
                  <a:pt x="86140" y="118426"/>
                  <a:pt x="102366" y="115186"/>
                  <a:pt x="118730" y="115186"/>
                </a:cubicBezTo>
                <a:lnTo>
                  <a:pt x="124047" y="115186"/>
                </a:lnTo>
                <a:lnTo>
                  <a:pt x="124047" y="26581"/>
                </a:lnTo>
                <a:lnTo>
                  <a:pt x="118730" y="26581"/>
                </a:lnTo>
                <a:cubicBezTo>
                  <a:pt x="107045" y="26581"/>
                  <a:pt x="95444" y="28907"/>
                  <a:pt x="84645" y="33393"/>
                </a:cubicBezTo>
                <a:cubicBezTo>
                  <a:pt x="79993" y="35331"/>
                  <a:pt x="75397" y="37242"/>
                  <a:pt x="70884" y="39124"/>
                </a:cubicBezTo>
                <a:close/>
                <a:moveTo>
                  <a:pt x="63934" y="17029"/>
                </a:moveTo>
                <a:lnTo>
                  <a:pt x="70884" y="19936"/>
                </a:lnTo>
                <a:lnTo>
                  <a:pt x="77834" y="17029"/>
                </a:lnTo>
                <a:cubicBezTo>
                  <a:pt x="90792" y="11629"/>
                  <a:pt x="104692" y="8860"/>
                  <a:pt x="118730" y="8860"/>
                </a:cubicBezTo>
                <a:lnTo>
                  <a:pt x="128477" y="8860"/>
                </a:lnTo>
                <a:cubicBezTo>
                  <a:pt x="135814" y="8860"/>
                  <a:pt x="141767" y="14814"/>
                  <a:pt x="141767" y="22151"/>
                </a:cubicBezTo>
                <a:lnTo>
                  <a:pt x="141767" y="119616"/>
                </a:lnTo>
                <a:cubicBezTo>
                  <a:pt x="141767" y="126954"/>
                  <a:pt x="135814" y="132907"/>
                  <a:pt x="128477" y="132907"/>
                </a:cubicBezTo>
                <a:lnTo>
                  <a:pt x="118730" y="132907"/>
                </a:lnTo>
                <a:cubicBezTo>
                  <a:pt x="104692" y="132907"/>
                  <a:pt x="90792" y="135676"/>
                  <a:pt x="77834" y="141075"/>
                </a:cubicBezTo>
                <a:lnTo>
                  <a:pt x="74289" y="142543"/>
                </a:lnTo>
                <a:cubicBezTo>
                  <a:pt x="72102" y="143456"/>
                  <a:pt x="69665" y="143456"/>
                  <a:pt x="67478" y="142543"/>
                </a:cubicBezTo>
                <a:lnTo>
                  <a:pt x="63934" y="141075"/>
                </a:lnTo>
                <a:cubicBezTo>
                  <a:pt x="50975" y="135676"/>
                  <a:pt x="37076" y="132907"/>
                  <a:pt x="23037" y="132907"/>
                </a:cubicBezTo>
                <a:lnTo>
                  <a:pt x="13291" y="132907"/>
                </a:lnTo>
                <a:cubicBezTo>
                  <a:pt x="5953" y="132907"/>
                  <a:pt x="0" y="126954"/>
                  <a:pt x="0" y="119616"/>
                </a:cubicBezTo>
                <a:lnTo>
                  <a:pt x="0" y="22151"/>
                </a:lnTo>
                <a:cubicBezTo>
                  <a:pt x="0" y="14814"/>
                  <a:pt x="5953" y="8860"/>
                  <a:pt x="13291" y="8860"/>
                </a:cubicBezTo>
                <a:lnTo>
                  <a:pt x="23037" y="8860"/>
                </a:lnTo>
                <a:cubicBezTo>
                  <a:pt x="37076" y="8860"/>
                  <a:pt x="50975" y="11629"/>
                  <a:pt x="63934" y="17029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17" name="Text 15"/>
          <p:cNvSpPr/>
          <p:nvPr/>
        </p:nvSpPr>
        <p:spPr>
          <a:xfrm>
            <a:off x="965791" y="3429000"/>
            <a:ext cx="496186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 Learning Modules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791" y="3641651"/>
            <a:ext cx="4953000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Bite-sized lessons inside Kite/Coin, 5-10 minutes each, covering stocks, MFs, and market basics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5047" y="4066953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11372" y="4173279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35442" y="26581"/>
                </a:moveTo>
                <a:lnTo>
                  <a:pt x="35442" y="22151"/>
                </a:lnTo>
                <a:cubicBezTo>
                  <a:pt x="35442" y="9913"/>
                  <a:pt x="59254" y="0"/>
                  <a:pt x="88605" y="0"/>
                </a:cubicBezTo>
                <a:cubicBezTo>
                  <a:pt x="117955" y="0"/>
                  <a:pt x="141767" y="9913"/>
                  <a:pt x="141767" y="22151"/>
                </a:cubicBezTo>
                <a:lnTo>
                  <a:pt x="141767" y="26581"/>
                </a:lnTo>
                <a:cubicBezTo>
                  <a:pt x="141767" y="35054"/>
                  <a:pt x="130332" y="42419"/>
                  <a:pt x="113525" y="46157"/>
                </a:cubicBezTo>
                <a:cubicBezTo>
                  <a:pt x="112860" y="45382"/>
                  <a:pt x="112168" y="44635"/>
                  <a:pt x="111476" y="43942"/>
                </a:cubicBezTo>
                <a:cubicBezTo>
                  <a:pt x="107184" y="39706"/>
                  <a:pt x="101646" y="36494"/>
                  <a:pt x="95859" y="34113"/>
                </a:cubicBezTo>
                <a:cubicBezTo>
                  <a:pt x="84257" y="29267"/>
                  <a:pt x="69139" y="26609"/>
                  <a:pt x="53163" y="26609"/>
                </a:cubicBezTo>
                <a:cubicBezTo>
                  <a:pt x="47099" y="26609"/>
                  <a:pt x="41173" y="26997"/>
                  <a:pt x="35497" y="27744"/>
                </a:cubicBezTo>
                <a:cubicBezTo>
                  <a:pt x="35442" y="27384"/>
                  <a:pt x="35442" y="26997"/>
                  <a:pt x="35442" y="26609"/>
                </a:cubicBezTo>
                <a:close/>
                <a:moveTo>
                  <a:pt x="119616" y="97742"/>
                </a:moveTo>
                <a:lnTo>
                  <a:pt x="119616" y="84950"/>
                </a:lnTo>
                <a:cubicBezTo>
                  <a:pt x="123797" y="83870"/>
                  <a:pt x="127729" y="82596"/>
                  <a:pt x="131301" y="81101"/>
                </a:cubicBezTo>
                <a:cubicBezTo>
                  <a:pt x="134956" y="79578"/>
                  <a:pt x="138528" y="77723"/>
                  <a:pt x="141767" y="75480"/>
                </a:cubicBezTo>
                <a:lnTo>
                  <a:pt x="141767" y="79744"/>
                </a:lnTo>
                <a:cubicBezTo>
                  <a:pt x="141767" y="87165"/>
                  <a:pt x="133045" y="93727"/>
                  <a:pt x="119616" y="97742"/>
                </a:cubicBezTo>
                <a:close/>
                <a:moveTo>
                  <a:pt x="119616" y="71161"/>
                </a:moveTo>
                <a:lnTo>
                  <a:pt x="119616" y="62023"/>
                </a:lnTo>
                <a:cubicBezTo>
                  <a:pt x="119616" y="60777"/>
                  <a:pt x="119506" y="59587"/>
                  <a:pt x="119339" y="58424"/>
                </a:cubicBezTo>
                <a:cubicBezTo>
                  <a:pt x="123631" y="57344"/>
                  <a:pt x="127646" y="56042"/>
                  <a:pt x="131301" y="54492"/>
                </a:cubicBezTo>
                <a:cubicBezTo>
                  <a:pt x="134956" y="52941"/>
                  <a:pt x="138528" y="51114"/>
                  <a:pt x="141767" y="48871"/>
                </a:cubicBezTo>
                <a:lnTo>
                  <a:pt x="141767" y="53135"/>
                </a:lnTo>
                <a:cubicBezTo>
                  <a:pt x="141767" y="60556"/>
                  <a:pt x="133045" y="67118"/>
                  <a:pt x="119616" y="71133"/>
                </a:cubicBezTo>
                <a:close/>
                <a:moveTo>
                  <a:pt x="0" y="66453"/>
                </a:moveTo>
                <a:lnTo>
                  <a:pt x="0" y="62023"/>
                </a:lnTo>
                <a:cubicBezTo>
                  <a:pt x="0" y="49785"/>
                  <a:pt x="23813" y="39872"/>
                  <a:pt x="53163" y="39872"/>
                </a:cubicBezTo>
                <a:cubicBezTo>
                  <a:pt x="82513" y="39872"/>
                  <a:pt x="106326" y="49785"/>
                  <a:pt x="106326" y="62023"/>
                </a:cubicBezTo>
                <a:lnTo>
                  <a:pt x="106326" y="66453"/>
                </a:lnTo>
                <a:cubicBezTo>
                  <a:pt x="106326" y="78692"/>
                  <a:pt x="82513" y="88605"/>
                  <a:pt x="53163" y="88605"/>
                </a:cubicBezTo>
                <a:cubicBezTo>
                  <a:pt x="23813" y="88605"/>
                  <a:pt x="0" y="78692"/>
                  <a:pt x="0" y="66453"/>
                </a:cubicBezTo>
                <a:close/>
                <a:moveTo>
                  <a:pt x="106326" y="93035"/>
                </a:moveTo>
                <a:cubicBezTo>
                  <a:pt x="106326" y="105273"/>
                  <a:pt x="82513" y="115186"/>
                  <a:pt x="53163" y="115186"/>
                </a:cubicBezTo>
                <a:cubicBezTo>
                  <a:pt x="23813" y="115186"/>
                  <a:pt x="0" y="105273"/>
                  <a:pt x="0" y="93035"/>
                </a:cubicBezTo>
                <a:lnTo>
                  <a:pt x="0" y="88771"/>
                </a:lnTo>
                <a:cubicBezTo>
                  <a:pt x="3212" y="91014"/>
                  <a:pt x="6784" y="92841"/>
                  <a:pt x="10466" y="94392"/>
                </a:cubicBezTo>
                <a:cubicBezTo>
                  <a:pt x="22068" y="99237"/>
                  <a:pt x="37186" y="101895"/>
                  <a:pt x="53163" y="101895"/>
                </a:cubicBezTo>
                <a:cubicBezTo>
                  <a:pt x="69139" y="101895"/>
                  <a:pt x="84257" y="99210"/>
                  <a:pt x="95859" y="94392"/>
                </a:cubicBezTo>
                <a:cubicBezTo>
                  <a:pt x="99514" y="92869"/>
                  <a:pt x="103086" y="91014"/>
                  <a:pt x="106326" y="88771"/>
                </a:cubicBezTo>
                <a:lnTo>
                  <a:pt x="106326" y="93035"/>
                </a:lnTo>
                <a:close/>
                <a:moveTo>
                  <a:pt x="106326" y="115352"/>
                </a:moveTo>
                <a:lnTo>
                  <a:pt x="106326" y="119616"/>
                </a:lnTo>
                <a:cubicBezTo>
                  <a:pt x="106326" y="131855"/>
                  <a:pt x="82513" y="141767"/>
                  <a:pt x="53163" y="141767"/>
                </a:cubicBezTo>
                <a:cubicBezTo>
                  <a:pt x="23813" y="141767"/>
                  <a:pt x="0" y="131855"/>
                  <a:pt x="0" y="119616"/>
                </a:cubicBezTo>
                <a:lnTo>
                  <a:pt x="0" y="115352"/>
                </a:lnTo>
                <a:cubicBezTo>
                  <a:pt x="3212" y="117595"/>
                  <a:pt x="6784" y="119422"/>
                  <a:pt x="10466" y="120973"/>
                </a:cubicBezTo>
                <a:cubicBezTo>
                  <a:pt x="22068" y="125819"/>
                  <a:pt x="37186" y="128477"/>
                  <a:pt x="53163" y="128477"/>
                </a:cubicBezTo>
                <a:cubicBezTo>
                  <a:pt x="69139" y="128477"/>
                  <a:pt x="84257" y="125791"/>
                  <a:pt x="95859" y="120973"/>
                </a:cubicBezTo>
                <a:cubicBezTo>
                  <a:pt x="99514" y="119450"/>
                  <a:pt x="103086" y="117595"/>
                  <a:pt x="106326" y="115352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21" name="Text 19"/>
          <p:cNvSpPr/>
          <p:nvPr/>
        </p:nvSpPr>
        <p:spPr>
          <a:xfrm>
            <a:off x="965791" y="4066953"/>
            <a:ext cx="496186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Coins System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5791" y="4279605"/>
            <a:ext cx="4953000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Earn Zerodha Coins for completing lessons, streaks, and achievements—redeemable for benefits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5047" y="4704907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3651" y="4811233"/>
            <a:ext cx="177209" cy="141767"/>
          </a:xfrm>
          <a:custGeom>
            <a:avLst/>
            <a:gdLst/>
            <a:ahLst/>
            <a:cxnLst/>
            <a:rect l="l" t="t" r="r" b="b"/>
            <a:pathLst>
              <a:path w="177209" h="141767">
                <a:moveTo>
                  <a:pt x="124047" y="17721"/>
                </a:moveTo>
                <a:cubicBezTo>
                  <a:pt x="153397" y="17721"/>
                  <a:pt x="177209" y="41533"/>
                  <a:pt x="177209" y="70884"/>
                </a:cubicBezTo>
                <a:cubicBezTo>
                  <a:pt x="177209" y="100234"/>
                  <a:pt x="153397" y="124047"/>
                  <a:pt x="124047" y="124047"/>
                </a:cubicBezTo>
                <a:lnTo>
                  <a:pt x="53163" y="124047"/>
                </a:lnTo>
                <a:cubicBezTo>
                  <a:pt x="23813" y="124047"/>
                  <a:pt x="0" y="100234"/>
                  <a:pt x="0" y="70884"/>
                </a:cubicBezTo>
                <a:cubicBezTo>
                  <a:pt x="0" y="41533"/>
                  <a:pt x="23813" y="17721"/>
                  <a:pt x="53163" y="17721"/>
                </a:cubicBezTo>
                <a:lnTo>
                  <a:pt x="124047" y="17721"/>
                </a:lnTo>
                <a:close/>
                <a:moveTo>
                  <a:pt x="53163" y="48733"/>
                </a:moveTo>
                <a:cubicBezTo>
                  <a:pt x="49480" y="48733"/>
                  <a:pt x="46517" y="51695"/>
                  <a:pt x="46517" y="55378"/>
                </a:cubicBezTo>
                <a:lnTo>
                  <a:pt x="46517" y="64238"/>
                </a:lnTo>
                <a:lnTo>
                  <a:pt x="37657" y="64238"/>
                </a:lnTo>
                <a:cubicBezTo>
                  <a:pt x="33974" y="64238"/>
                  <a:pt x="31012" y="67201"/>
                  <a:pt x="31012" y="70884"/>
                </a:cubicBezTo>
                <a:cubicBezTo>
                  <a:pt x="31012" y="74566"/>
                  <a:pt x="33974" y="77529"/>
                  <a:pt x="37657" y="77529"/>
                </a:cubicBezTo>
                <a:lnTo>
                  <a:pt x="46517" y="77529"/>
                </a:lnTo>
                <a:lnTo>
                  <a:pt x="46517" y="86390"/>
                </a:lnTo>
                <a:cubicBezTo>
                  <a:pt x="46517" y="90072"/>
                  <a:pt x="49480" y="93035"/>
                  <a:pt x="53163" y="93035"/>
                </a:cubicBezTo>
                <a:cubicBezTo>
                  <a:pt x="56845" y="93035"/>
                  <a:pt x="59808" y="90072"/>
                  <a:pt x="59808" y="86390"/>
                </a:cubicBezTo>
                <a:lnTo>
                  <a:pt x="59808" y="77529"/>
                </a:lnTo>
                <a:lnTo>
                  <a:pt x="68669" y="77529"/>
                </a:lnTo>
                <a:cubicBezTo>
                  <a:pt x="72351" y="77529"/>
                  <a:pt x="75314" y="74566"/>
                  <a:pt x="75314" y="70884"/>
                </a:cubicBezTo>
                <a:cubicBezTo>
                  <a:pt x="75314" y="67201"/>
                  <a:pt x="72351" y="64238"/>
                  <a:pt x="68669" y="64238"/>
                </a:cubicBezTo>
                <a:lnTo>
                  <a:pt x="59808" y="64238"/>
                </a:lnTo>
                <a:lnTo>
                  <a:pt x="59808" y="55378"/>
                </a:lnTo>
                <a:cubicBezTo>
                  <a:pt x="59808" y="51695"/>
                  <a:pt x="56845" y="48733"/>
                  <a:pt x="53163" y="48733"/>
                </a:cubicBezTo>
                <a:close/>
                <a:moveTo>
                  <a:pt x="119616" y="75314"/>
                </a:moveTo>
                <a:cubicBezTo>
                  <a:pt x="114726" y="75314"/>
                  <a:pt x="110756" y="79284"/>
                  <a:pt x="110756" y="84174"/>
                </a:cubicBezTo>
                <a:cubicBezTo>
                  <a:pt x="110756" y="89065"/>
                  <a:pt x="114726" y="93035"/>
                  <a:pt x="119616" y="93035"/>
                </a:cubicBezTo>
                <a:cubicBezTo>
                  <a:pt x="124507" y="93035"/>
                  <a:pt x="128477" y="89065"/>
                  <a:pt x="128477" y="84174"/>
                </a:cubicBezTo>
                <a:cubicBezTo>
                  <a:pt x="128477" y="79284"/>
                  <a:pt x="124507" y="75314"/>
                  <a:pt x="119616" y="75314"/>
                </a:cubicBezTo>
                <a:close/>
                <a:moveTo>
                  <a:pt x="137337" y="48733"/>
                </a:moveTo>
                <a:cubicBezTo>
                  <a:pt x="132447" y="48733"/>
                  <a:pt x="128477" y="52703"/>
                  <a:pt x="128477" y="57593"/>
                </a:cubicBezTo>
                <a:cubicBezTo>
                  <a:pt x="128477" y="62483"/>
                  <a:pt x="132447" y="66453"/>
                  <a:pt x="137337" y="66453"/>
                </a:cubicBezTo>
                <a:cubicBezTo>
                  <a:pt x="142227" y="66453"/>
                  <a:pt x="146198" y="62483"/>
                  <a:pt x="146198" y="57593"/>
                </a:cubicBezTo>
                <a:cubicBezTo>
                  <a:pt x="146198" y="52703"/>
                  <a:pt x="142227" y="48733"/>
                  <a:pt x="137337" y="48733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25" name="Text 23"/>
          <p:cNvSpPr/>
          <p:nvPr/>
        </p:nvSpPr>
        <p:spPr>
          <a:xfrm>
            <a:off x="965791" y="4704907"/>
            <a:ext cx="480237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Simulated Investing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5791" y="4917558"/>
            <a:ext cx="4793512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with virtual money in real market conditions—learn without risking actual capital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5047" y="5165651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11372" y="5271977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70884" y="48733"/>
                </a:moveTo>
                <a:cubicBezTo>
                  <a:pt x="65983" y="48733"/>
                  <a:pt x="62023" y="52692"/>
                  <a:pt x="62023" y="57593"/>
                </a:cubicBezTo>
                <a:cubicBezTo>
                  <a:pt x="62023" y="61276"/>
                  <a:pt x="59061" y="64238"/>
                  <a:pt x="55378" y="64238"/>
                </a:cubicBezTo>
                <a:cubicBezTo>
                  <a:pt x="51695" y="64238"/>
                  <a:pt x="48733" y="61276"/>
                  <a:pt x="48733" y="57593"/>
                </a:cubicBezTo>
                <a:cubicBezTo>
                  <a:pt x="48733" y="45355"/>
                  <a:pt x="58645" y="35442"/>
                  <a:pt x="70884" y="35442"/>
                </a:cubicBezTo>
                <a:cubicBezTo>
                  <a:pt x="83122" y="35442"/>
                  <a:pt x="93035" y="45355"/>
                  <a:pt x="93035" y="57593"/>
                </a:cubicBezTo>
                <a:cubicBezTo>
                  <a:pt x="93035" y="70662"/>
                  <a:pt x="83067" y="76200"/>
                  <a:pt x="77529" y="78221"/>
                </a:cubicBezTo>
                <a:lnTo>
                  <a:pt x="77529" y="79273"/>
                </a:lnTo>
                <a:cubicBezTo>
                  <a:pt x="77529" y="82956"/>
                  <a:pt x="74566" y="85919"/>
                  <a:pt x="70884" y="85919"/>
                </a:cubicBezTo>
                <a:cubicBezTo>
                  <a:pt x="67201" y="85919"/>
                  <a:pt x="64238" y="82956"/>
                  <a:pt x="64238" y="79273"/>
                </a:cubicBezTo>
                <a:lnTo>
                  <a:pt x="64238" y="77031"/>
                </a:lnTo>
                <a:cubicBezTo>
                  <a:pt x="64238" y="71354"/>
                  <a:pt x="68336" y="67284"/>
                  <a:pt x="72573" y="65900"/>
                </a:cubicBezTo>
                <a:cubicBezTo>
                  <a:pt x="74345" y="65318"/>
                  <a:pt x="76228" y="64377"/>
                  <a:pt x="77612" y="63048"/>
                </a:cubicBezTo>
                <a:cubicBezTo>
                  <a:pt x="78803" y="61885"/>
                  <a:pt x="79744" y="60279"/>
                  <a:pt x="79744" y="57621"/>
                </a:cubicBezTo>
                <a:cubicBezTo>
                  <a:pt x="79744" y="52720"/>
                  <a:pt x="75785" y="48760"/>
                  <a:pt x="70884" y="48760"/>
                </a:cubicBezTo>
                <a:close/>
                <a:moveTo>
                  <a:pt x="62023" y="101895"/>
                </a:moveTo>
                <a:cubicBezTo>
                  <a:pt x="62023" y="97005"/>
                  <a:pt x="65993" y="93035"/>
                  <a:pt x="70884" y="93035"/>
                </a:cubicBezTo>
                <a:cubicBezTo>
                  <a:pt x="75774" y="93035"/>
                  <a:pt x="79744" y="97005"/>
                  <a:pt x="79744" y="101895"/>
                </a:cubicBezTo>
                <a:cubicBezTo>
                  <a:pt x="79744" y="106786"/>
                  <a:pt x="75774" y="110756"/>
                  <a:pt x="70884" y="110756"/>
                </a:cubicBezTo>
                <a:cubicBezTo>
                  <a:pt x="65993" y="110756"/>
                  <a:pt x="62023" y="106786"/>
                  <a:pt x="62023" y="10189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965791" y="5165651"/>
            <a:ext cx="370367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Quizzes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5791" y="5378302"/>
            <a:ext cx="3694814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 learning with quizzes—earn bonus coins for perfect scores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4605" y="1027814"/>
            <a:ext cx="5652977" cy="2410047"/>
          </a:xfrm>
          <a:custGeom>
            <a:avLst/>
            <a:gdLst/>
            <a:ahLst/>
            <a:cxnLst/>
            <a:rect l="l" t="t" r="r" b="b"/>
            <a:pathLst>
              <a:path w="5652977" h="2410047">
                <a:moveTo>
                  <a:pt x="106331" y="0"/>
                </a:moveTo>
                <a:lnTo>
                  <a:pt x="5546645" y="0"/>
                </a:lnTo>
                <a:cubicBezTo>
                  <a:pt x="5605371" y="0"/>
                  <a:pt x="5652977" y="47606"/>
                  <a:pt x="5652977" y="106331"/>
                </a:cubicBezTo>
                <a:lnTo>
                  <a:pt x="5652977" y="2303715"/>
                </a:lnTo>
                <a:cubicBezTo>
                  <a:pt x="5652977" y="2362440"/>
                  <a:pt x="5605371" y="2410047"/>
                  <a:pt x="5546645" y="2410047"/>
                </a:cubicBezTo>
                <a:lnTo>
                  <a:pt x="106331" y="2410047"/>
                </a:lnTo>
                <a:cubicBezTo>
                  <a:pt x="47606" y="2410047"/>
                  <a:pt x="0" y="2362440"/>
                  <a:pt x="0" y="2303715"/>
                </a:cubicBezTo>
                <a:lnTo>
                  <a:pt x="0" y="106331"/>
                </a:lnTo>
                <a:cubicBezTo>
                  <a:pt x="0" y="47645"/>
                  <a:pt x="47645" y="0"/>
                  <a:pt x="106331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09C"/>
              </a:gs>
              <a:gs pos="100000">
                <a:srgbClr val="00B386"/>
              </a:gs>
            </a:gsLst>
            <a:lin ang="2700000" scaled="1"/>
          </a:gradFill>
          <a:ln/>
        </p:spPr>
      </p:sp>
      <p:sp>
        <p:nvSpPr>
          <p:cNvPr id="32" name="Text 30"/>
          <p:cNvSpPr/>
          <p:nvPr/>
        </p:nvSpPr>
        <p:spPr>
          <a:xfrm>
            <a:off x="6326372" y="1169581"/>
            <a:ext cx="545804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Journey Flow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26372" y="1541721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75200" y="1612605"/>
            <a:ext cx="124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87116" y="1524000"/>
            <a:ext cx="2029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Module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87116" y="1736651"/>
            <a:ext cx="202018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topic: Stocks, MFs, ETFs, etc.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6372" y="2002465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62325" y="2073349"/>
            <a:ext cx="15062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87116" y="1984744"/>
            <a:ext cx="210879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&amp; Practice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87116" y="2197395"/>
            <a:ext cx="2099930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lessons with real examples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26372" y="2463209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61633" y="2534093"/>
            <a:ext cx="15062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87116" y="2445488"/>
            <a:ext cx="194930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Earn Rewards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87116" y="2658140"/>
            <a:ext cx="1940442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quiz, earn Zerodha Coins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26372" y="2923953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61771" y="2994837"/>
            <a:ext cx="15062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87116" y="2906233"/>
            <a:ext cx="193158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Investment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87116" y="3118884"/>
            <a:ext cx="192272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knowledge for actual investing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89035" y="3584058"/>
            <a:ext cx="5644116" cy="2702442"/>
          </a:xfrm>
          <a:custGeom>
            <a:avLst/>
            <a:gdLst/>
            <a:ahLst/>
            <a:cxnLst/>
            <a:rect l="l" t="t" r="r" b="b"/>
            <a:pathLst>
              <a:path w="5644116" h="2702442">
                <a:moveTo>
                  <a:pt x="106314" y="0"/>
                </a:moveTo>
                <a:lnTo>
                  <a:pt x="5537802" y="0"/>
                </a:lnTo>
                <a:cubicBezTo>
                  <a:pt x="5596518" y="0"/>
                  <a:pt x="5644116" y="47598"/>
                  <a:pt x="5644116" y="106314"/>
                </a:cubicBezTo>
                <a:lnTo>
                  <a:pt x="5644116" y="2596128"/>
                </a:lnTo>
                <a:cubicBezTo>
                  <a:pt x="5644116" y="2654843"/>
                  <a:pt x="5596518" y="2702442"/>
                  <a:pt x="5537802" y="2702442"/>
                </a:cubicBezTo>
                <a:lnTo>
                  <a:pt x="106314" y="2702442"/>
                </a:lnTo>
                <a:cubicBezTo>
                  <a:pt x="47598" y="2702442"/>
                  <a:pt x="0" y="2654843"/>
                  <a:pt x="0" y="2596128"/>
                </a:cubicBezTo>
                <a:lnTo>
                  <a:pt x="0" y="106314"/>
                </a:lnTo>
                <a:cubicBezTo>
                  <a:pt x="0" y="47598"/>
                  <a:pt x="47598" y="0"/>
                  <a:pt x="10631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6581" dist="8860" dir="5400000">
              <a:srgbClr val="000000">
                <a:alpha val="10196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35233" y="3730256"/>
            <a:ext cx="5440326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2953" y="4084674"/>
            <a:ext cx="5334000" cy="637953"/>
          </a:xfrm>
          <a:custGeom>
            <a:avLst/>
            <a:gdLst/>
            <a:ahLst/>
            <a:cxnLst/>
            <a:rect l="l" t="t" r="r" b="b"/>
            <a:pathLst>
              <a:path w="5334000" h="637953">
                <a:moveTo>
                  <a:pt x="35442" y="0"/>
                </a:moveTo>
                <a:lnTo>
                  <a:pt x="5263117" y="0"/>
                </a:lnTo>
                <a:cubicBezTo>
                  <a:pt x="5302265" y="0"/>
                  <a:pt x="5334000" y="31735"/>
                  <a:pt x="5334000" y="70883"/>
                </a:cubicBezTo>
                <a:lnTo>
                  <a:pt x="5334000" y="567070"/>
                </a:lnTo>
                <a:cubicBezTo>
                  <a:pt x="5334000" y="606218"/>
                  <a:pt x="5302265" y="637953"/>
                  <a:pt x="5263117" y="637953"/>
                </a:cubicBezTo>
                <a:lnTo>
                  <a:pt x="35442" y="637953"/>
                </a:lnTo>
                <a:cubicBezTo>
                  <a:pt x="15868" y="637953"/>
                  <a:pt x="0" y="622086"/>
                  <a:pt x="0" y="60251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52" name="Shape 50"/>
          <p:cNvSpPr/>
          <p:nvPr/>
        </p:nvSpPr>
        <p:spPr>
          <a:xfrm>
            <a:off x="6352953" y="4084674"/>
            <a:ext cx="35442" cy="637953"/>
          </a:xfrm>
          <a:custGeom>
            <a:avLst/>
            <a:gdLst/>
            <a:ahLst/>
            <a:cxnLst/>
            <a:rect l="l" t="t" r="r" b="b"/>
            <a:pathLst>
              <a:path w="35442" h="637953">
                <a:moveTo>
                  <a:pt x="35442" y="0"/>
                </a:moveTo>
                <a:lnTo>
                  <a:pt x="35442" y="0"/>
                </a:lnTo>
                <a:lnTo>
                  <a:pt x="35442" y="637953"/>
                </a:lnTo>
                <a:lnTo>
                  <a:pt x="35442" y="637953"/>
                </a:lnTo>
                <a:cubicBezTo>
                  <a:pt x="15868" y="637953"/>
                  <a:pt x="0" y="622086"/>
                  <a:pt x="0" y="60251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53" name="Shape 51"/>
          <p:cNvSpPr/>
          <p:nvPr/>
        </p:nvSpPr>
        <p:spPr>
          <a:xfrm>
            <a:off x="6494721" y="4226442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17721" y="17721"/>
                </a:moveTo>
                <a:cubicBezTo>
                  <a:pt x="17721" y="12820"/>
                  <a:pt x="13761" y="8860"/>
                  <a:pt x="8860" y="8860"/>
                </a:cubicBezTo>
                <a:cubicBezTo>
                  <a:pt x="3960" y="8860"/>
                  <a:pt x="0" y="12820"/>
                  <a:pt x="0" y="17721"/>
                </a:cubicBezTo>
                <a:lnTo>
                  <a:pt x="0" y="110756"/>
                </a:lnTo>
                <a:cubicBezTo>
                  <a:pt x="0" y="122994"/>
                  <a:pt x="9913" y="132907"/>
                  <a:pt x="22151" y="132907"/>
                </a:cubicBezTo>
                <a:lnTo>
                  <a:pt x="132907" y="132907"/>
                </a:lnTo>
                <a:cubicBezTo>
                  <a:pt x="137808" y="132907"/>
                  <a:pt x="141767" y="128947"/>
                  <a:pt x="141767" y="124047"/>
                </a:cubicBezTo>
                <a:cubicBezTo>
                  <a:pt x="141767" y="119146"/>
                  <a:pt x="137808" y="115186"/>
                  <a:pt x="132907" y="115186"/>
                </a:cubicBezTo>
                <a:lnTo>
                  <a:pt x="22151" y="115186"/>
                </a:lnTo>
                <a:cubicBezTo>
                  <a:pt x="19715" y="115186"/>
                  <a:pt x="17721" y="113192"/>
                  <a:pt x="17721" y="110756"/>
                </a:cubicBezTo>
                <a:lnTo>
                  <a:pt x="17721" y="17721"/>
                </a:lnTo>
                <a:close/>
                <a:moveTo>
                  <a:pt x="130304" y="41700"/>
                </a:moveTo>
                <a:cubicBezTo>
                  <a:pt x="133765" y="38238"/>
                  <a:pt x="133765" y="32618"/>
                  <a:pt x="130304" y="29156"/>
                </a:cubicBezTo>
                <a:cubicBezTo>
                  <a:pt x="126843" y="25695"/>
                  <a:pt x="121222" y="25695"/>
                  <a:pt x="117761" y="29156"/>
                </a:cubicBezTo>
                <a:lnTo>
                  <a:pt x="88605" y="58341"/>
                </a:lnTo>
                <a:lnTo>
                  <a:pt x="72711" y="42475"/>
                </a:lnTo>
                <a:cubicBezTo>
                  <a:pt x="69250" y="39014"/>
                  <a:pt x="63629" y="39014"/>
                  <a:pt x="60168" y="42475"/>
                </a:cubicBezTo>
                <a:lnTo>
                  <a:pt x="33587" y="69056"/>
                </a:lnTo>
                <a:cubicBezTo>
                  <a:pt x="30126" y="72517"/>
                  <a:pt x="30126" y="78138"/>
                  <a:pt x="33587" y="81599"/>
                </a:cubicBezTo>
                <a:cubicBezTo>
                  <a:pt x="37048" y="85060"/>
                  <a:pt x="42669" y="85060"/>
                  <a:pt x="46130" y="81599"/>
                </a:cubicBezTo>
                <a:lnTo>
                  <a:pt x="66453" y="61276"/>
                </a:lnTo>
                <a:lnTo>
                  <a:pt x="82347" y="77169"/>
                </a:lnTo>
                <a:cubicBezTo>
                  <a:pt x="85808" y="80630"/>
                  <a:pt x="91429" y="80630"/>
                  <a:pt x="94890" y="77169"/>
                </a:cubicBezTo>
                <a:lnTo>
                  <a:pt x="130332" y="41727"/>
                </a:ln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54" name="Text 52"/>
          <p:cNvSpPr/>
          <p:nvPr/>
        </p:nvSpPr>
        <p:spPr>
          <a:xfrm>
            <a:off x="6725093" y="4191000"/>
            <a:ext cx="178981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Builds Financial Confidence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77000" y="4439093"/>
            <a:ext cx="516565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Transforms fear into understanding through practical, hands-on learning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52953" y="4793512"/>
            <a:ext cx="5334000" cy="637953"/>
          </a:xfrm>
          <a:custGeom>
            <a:avLst/>
            <a:gdLst/>
            <a:ahLst/>
            <a:cxnLst/>
            <a:rect l="l" t="t" r="r" b="b"/>
            <a:pathLst>
              <a:path w="5334000" h="637953">
                <a:moveTo>
                  <a:pt x="35442" y="0"/>
                </a:moveTo>
                <a:lnTo>
                  <a:pt x="5263117" y="0"/>
                </a:lnTo>
                <a:cubicBezTo>
                  <a:pt x="5302265" y="0"/>
                  <a:pt x="5334000" y="31735"/>
                  <a:pt x="5334000" y="70883"/>
                </a:cubicBezTo>
                <a:lnTo>
                  <a:pt x="5334000" y="567070"/>
                </a:lnTo>
                <a:cubicBezTo>
                  <a:pt x="5334000" y="606218"/>
                  <a:pt x="5302265" y="637953"/>
                  <a:pt x="5263117" y="637953"/>
                </a:cubicBezTo>
                <a:lnTo>
                  <a:pt x="35442" y="637953"/>
                </a:lnTo>
                <a:cubicBezTo>
                  <a:pt x="15868" y="637953"/>
                  <a:pt x="0" y="622086"/>
                  <a:pt x="0" y="60251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57" name="Shape 55"/>
          <p:cNvSpPr/>
          <p:nvPr/>
        </p:nvSpPr>
        <p:spPr>
          <a:xfrm>
            <a:off x="6352953" y="4793512"/>
            <a:ext cx="35442" cy="637953"/>
          </a:xfrm>
          <a:custGeom>
            <a:avLst/>
            <a:gdLst/>
            <a:ahLst/>
            <a:cxnLst/>
            <a:rect l="l" t="t" r="r" b="b"/>
            <a:pathLst>
              <a:path w="35442" h="637953">
                <a:moveTo>
                  <a:pt x="35442" y="0"/>
                </a:moveTo>
                <a:lnTo>
                  <a:pt x="35442" y="0"/>
                </a:lnTo>
                <a:lnTo>
                  <a:pt x="35442" y="637953"/>
                </a:lnTo>
                <a:lnTo>
                  <a:pt x="35442" y="637953"/>
                </a:lnTo>
                <a:cubicBezTo>
                  <a:pt x="15868" y="637953"/>
                  <a:pt x="0" y="622086"/>
                  <a:pt x="0" y="60251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58" name="Shape 56"/>
          <p:cNvSpPr/>
          <p:nvPr/>
        </p:nvSpPr>
        <p:spPr>
          <a:xfrm>
            <a:off x="6494721" y="4935279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0"/>
                </a:moveTo>
                <a:cubicBezTo>
                  <a:pt x="72157" y="0"/>
                  <a:pt x="73431" y="277"/>
                  <a:pt x="74594" y="803"/>
                </a:cubicBezTo>
                <a:lnTo>
                  <a:pt x="126760" y="22926"/>
                </a:lnTo>
                <a:cubicBezTo>
                  <a:pt x="132852" y="25502"/>
                  <a:pt x="137393" y="31510"/>
                  <a:pt x="137365" y="38765"/>
                </a:cubicBezTo>
                <a:cubicBezTo>
                  <a:pt x="137226" y="66232"/>
                  <a:pt x="125929" y="116487"/>
                  <a:pt x="78221" y="139331"/>
                </a:cubicBezTo>
                <a:cubicBezTo>
                  <a:pt x="73597" y="141546"/>
                  <a:pt x="68226" y="141546"/>
                  <a:pt x="63602" y="139331"/>
                </a:cubicBezTo>
                <a:cubicBezTo>
                  <a:pt x="15866" y="116487"/>
                  <a:pt x="4596" y="66232"/>
                  <a:pt x="4458" y="38765"/>
                </a:cubicBezTo>
                <a:cubicBezTo>
                  <a:pt x="4430" y="31510"/>
                  <a:pt x="8971" y="25502"/>
                  <a:pt x="15063" y="22926"/>
                </a:cubicBezTo>
                <a:lnTo>
                  <a:pt x="67201" y="803"/>
                </a:lnTo>
                <a:cubicBezTo>
                  <a:pt x="68364" y="277"/>
                  <a:pt x="69610" y="0"/>
                  <a:pt x="70884" y="0"/>
                </a:cubicBezTo>
                <a:close/>
                <a:moveTo>
                  <a:pt x="70884" y="18496"/>
                </a:moveTo>
                <a:lnTo>
                  <a:pt x="70884" y="123188"/>
                </a:lnTo>
                <a:cubicBezTo>
                  <a:pt x="109094" y="104692"/>
                  <a:pt x="119367" y="63712"/>
                  <a:pt x="119616" y="39180"/>
                </a:cubicBezTo>
                <a:lnTo>
                  <a:pt x="70884" y="18524"/>
                </a:lnTo>
                <a:lnTo>
                  <a:pt x="70884" y="18524"/>
                </a:ln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59" name="Text 57"/>
          <p:cNvSpPr/>
          <p:nvPr/>
        </p:nvSpPr>
        <p:spPr>
          <a:xfrm>
            <a:off x="6725093" y="4899837"/>
            <a:ext cx="1621465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Fear of Markets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77000" y="5147930"/>
            <a:ext cx="516565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Simulated investing removes risk while building comfort with market volatility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52953" y="5502349"/>
            <a:ext cx="5334000" cy="637953"/>
          </a:xfrm>
          <a:custGeom>
            <a:avLst/>
            <a:gdLst/>
            <a:ahLst/>
            <a:cxnLst/>
            <a:rect l="l" t="t" r="r" b="b"/>
            <a:pathLst>
              <a:path w="5334000" h="637953">
                <a:moveTo>
                  <a:pt x="35442" y="0"/>
                </a:moveTo>
                <a:lnTo>
                  <a:pt x="5263117" y="0"/>
                </a:lnTo>
                <a:cubicBezTo>
                  <a:pt x="5302265" y="0"/>
                  <a:pt x="5334000" y="31735"/>
                  <a:pt x="5334000" y="70883"/>
                </a:cubicBezTo>
                <a:lnTo>
                  <a:pt x="5334000" y="567070"/>
                </a:lnTo>
                <a:cubicBezTo>
                  <a:pt x="5334000" y="606218"/>
                  <a:pt x="5302265" y="637953"/>
                  <a:pt x="5263117" y="637953"/>
                </a:cubicBezTo>
                <a:lnTo>
                  <a:pt x="35442" y="637953"/>
                </a:lnTo>
                <a:cubicBezTo>
                  <a:pt x="15868" y="637953"/>
                  <a:pt x="0" y="622086"/>
                  <a:pt x="0" y="60251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62" name="Shape 60"/>
          <p:cNvSpPr/>
          <p:nvPr/>
        </p:nvSpPr>
        <p:spPr>
          <a:xfrm>
            <a:off x="6352953" y="5502349"/>
            <a:ext cx="35442" cy="637953"/>
          </a:xfrm>
          <a:custGeom>
            <a:avLst/>
            <a:gdLst/>
            <a:ahLst/>
            <a:cxnLst/>
            <a:rect l="l" t="t" r="r" b="b"/>
            <a:pathLst>
              <a:path w="35442" h="637953">
                <a:moveTo>
                  <a:pt x="35442" y="0"/>
                </a:moveTo>
                <a:lnTo>
                  <a:pt x="35442" y="0"/>
                </a:lnTo>
                <a:lnTo>
                  <a:pt x="35442" y="637953"/>
                </a:lnTo>
                <a:lnTo>
                  <a:pt x="35442" y="637953"/>
                </a:lnTo>
                <a:cubicBezTo>
                  <a:pt x="15868" y="637953"/>
                  <a:pt x="0" y="622086"/>
                  <a:pt x="0" y="60251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63" name="Shape 61"/>
          <p:cNvSpPr/>
          <p:nvPr/>
        </p:nvSpPr>
        <p:spPr>
          <a:xfrm>
            <a:off x="6494721" y="5644116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35442" y="88605"/>
                </a:moveTo>
                <a:lnTo>
                  <a:pt x="6784" y="88605"/>
                </a:lnTo>
                <a:cubicBezTo>
                  <a:pt x="-111" y="88605"/>
                  <a:pt x="-4347" y="81101"/>
                  <a:pt x="-803" y="75176"/>
                </a:cubicBezTo>
                <a:lnTo>
                  <a:pt x="13844" y="50754"/>
                </a:lnTo>
                <a:cubicBezTo>
                  <a:pt x="16253" y="46739"/>
                  <a:pt x="20573" y="44302"/>
                  <a:pt x="25252" y="44302"/>
                </a:cubicBezTo>
                <a:lnTo>
                  <a:pt x="51557" y="44302"/>
                </a:lnTo>
                <a:cubicBezTo>
                  <a:pt x="72628" y="8611"/>
                  <a:pt x="104055" y="6811"/>
                  <a:pt x="125071" y="9885"/>
                </a:cubicBezTo>
                <a:cubicBezTo>
                  <a:pt x="128615" y="10411"/>
                  <a:pt x="131384" y="13180"/>
                  <a:pt x="131882" y="16696"/>
                </a:cubicBezTo>
                <a:cubicBezTo>
                  <a:pt x="134956" y="37712"/>
                  <a:pt x="133156" y="69139"/>
                  <a:pt x="97465" y="90211"/>
                </a:cubicBezTo>
                <a:lnTo>
                  <a:pt x="97465" y="116515"/>
                </a:lnTo>
                <a:cubicBezTo>
                  <a:pt x="97465" y="121195"/>
                  <a:pt x="95028" y="125514"/>
                  <a:pt x="91014" y="127923"/>
                </a:cubicBezTo>
                <a:lnTo>
                  <a:pt x="66592" y="142570"/>
                </a:lnTo>
                <a:cubicBezTo>
                  <a:pt x="60694" y="146115"/>
                  <a:pt x="53163" y="141851"/>
                  <a:pt x="53163" y="134984"/>
                </a:cubicBezTo>
                <a:lnTo>
                  <a:pt x="53163" y="106326"/>
                </a:lnTo>
                <a:cubicBezTo>
                  <a:pt x="53163" y="96551"/>
                  <a:pt x="45216" y="88605"/>
                  <a:pt x="35442" y="88605"/>
                </a:cubicBezTo>
                <a:lnTo>
                  <a:pt x="35414" y="88605"/>
                </a:lnTo>
                <a:close/>
                <a:moveTo>
                  <a:pt x="110756" y="44302"/>
                </a:moveTo>
                <a:cubicBezTo>
                  <a:pt x="110756" y="36967"/>
                  <a:pt x="104800" y="31012"/>
                  <a:pt x="97465" y="31012"/>
                </a:cubicBezTo>
                <a:cubicBezTo>
                  <a:pt x="90130" y="31012"/>
                  <a:pt x="84174" y="36967"/>
                  <a:pt x="84174" y="44302"/>
                </a:cubicBezTo>
                <a:cubicBezTo>
                  <a:pt x="84174" y="51638"/>
                  <a:pt x="90130" y="57593"/>
                  <a:pt x="97465" y="57593"/>
                </a:cubicBezTo>
                <a:cubicBezTo>
                  <a:pt x="104800" y="57593"/>
                  <a:pt x="110756" y="51638"/>
                  <a:pt x="110756" y="44302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64" name="Text 62"/>
          <p:cNvSpPr/>
          <p:nvPr/>
        </p:nvSpPr>
        <p:spPr>
          <a:xfrm>
            <a:off x="6725093" y="5608674"/>
            <a:ext cx="185183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Encourages First Investment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477000" y="5856767"/>
            <a:ext cx="516565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 from learning to action—users feel ready to make their first real investment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54419" y="6432698"/>
            <a:ext cx="11483163" cy="425302"/>
          </a:xfrm>
          <a:custGeom>
            <a:avLst/>
            <a:gdLst/>
            <a:ahLst/>
            <a:cxnLst/>
            <a:rect l="l" t="t" r="r" b="b"/>
            <a:pathLst>
              <a:path w="11483163" h="425302">
                <a:moveTo>
                  <a:pt x="70885" y="0"/>
                </a:moveTo>
                <a:lnTo>
                  <a:pt x="11412278" y="0"/>
                </a:lnTo>
                <a:cubicBezTo>
                  <a:pt x="11451426" y="0"/>
                  <a:pt x="11483163" y="31736"/>
                  <a:pt x="11483163" y="70885"/>
                </a:cubicBezTo>
                <a:lnTo>
                  <a:pt x="11483163" y="354417"/>
                </a:lnTo>
                <a:cubicBezTo>
                  <a:pt x="11483163" y="393566"/>
                  <a:pt x="11451426" y="425302"/>
                  <a:pt x="11412278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09C">
                  <a:alpha val="10000"/>
                </a:srgbClr>
              </a:gs>
              <a:gs pos="100000">
                <a:srgbClr val="FFA72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67" name="Shape 65"/>
          <p:cNvSpPr/>
          <p:nvPr/>
        </p:nvSpPr>
        <p:spPr>
          <a:xfrm>
            <a:off x="487326" y="6539023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59933" y="0"/>
                </a:moveTo>
                <a:lnTo>
                  <a:pt x="152968" y="0"/>
                </a:lnTo>
                <a:cubicBezTo>
                  <a:pt x="163974" y="0"/>
                  <a:pt x="172945" y="9054"/>
                  <a:pt x="172530" y="20019"/>
                </a:cubicBezTo>
                <a:cubicBezTo>
                  <a:pt x="172447" y="22220"/>
                  <a:pt x="172364" y="24422"/>
                  <a:pt x="172239" y="26581"/>
                </a:cubicBezTo>
                <a:lnTo>
                  <a:pt x="192840" y="26581"/>
                </a:lnTo>
                <a:cubicBezTo>
                  <a:pt x="203680" y="26581"/>
                  <a:pt x="213233" y="35553"/>
                  <a:pt x="212402" y="47265"/>
                </a:cubicBezTo>
                <a:cubicBezTo>
                  <a:pt x="209287" y="90335"/>
                  <a:pt x="187274" y="114009"/>
                  <a:pt x="163393" y="126386"/>
                </a:cubicBezTo>
                <a:cubicBezTo>
                  <a:pt x="156830" y="129792"/>
                  <a:pt x="150143" y="132326"/>
                  <a:pt x="143789" y="134195"/>
                </a:cubicBezTo>
                <a:cubicBezTo>
                  <a:pt x="135399" y="146073"/>
                  <a:pt x="126677" y="152345"/>
                  <a:pt x="119741" y="155709"/>
                </a:cubicBezTo>
                <a:lnTo>
                  <a:pt x="119741" y="186070"/>
                </a:lnTo>
                <a:lnTo>
                  <a:pt x="146322" y="186070"/>
                </a:lnTo>
                <a:cubicBezTo>
                  <a:pt x="153674" y="186070"/>
                  <a:pt x="159613" y="192009"/>
                  <a:pt x="159613" y="199360"/>
                </a:cubicBezTo>
                <a:cubicBezTo>
                  <a:pt x="159613" y="206712"/>
                  <a:pt x="153674" y="212651"/>
                  <a:pt x="146322" y="212651"/>
                </a:cubicBezTo>
                <a:lnTo>
                  <a:pt x="66578" y="212651"/>
                </a:lnTo>
                <a:cubicBezTo>
                  <a:pt x="59227" y="212651"/>
                  <a:pt x="53287" y="206712"/>
                  <a:pt x="53287" y="199360"/>
                </a:cubicBezTo>
                <a:cubicBezTo>
                  <a:pt x="53287" y="192009"/>
                  <a:pt x="59227" y="186070"/>
                  <a:pt x="66578" y="186070"/>
                </a:cubicBezTo>
                <a:lnTo>
                  <a:pt x="93159" y="186070"/>
                </a:lnTo>
                <a:lnTo>
                  <a:pt x="93159" y="155709"/>
                </a:lnTo>
                <a:cubicBezTo>
                  <a:pt x="86514" y="152511"/>
                  <a:pt x="78249" y="146571"/>
                  <a:pt x="70191" y="135648"/>
                </a:cubicBezTo>
                <a:cubicBezTo>
                  <a:pt x="62549" y="133655"/>
                  <a:pt x="54243" y="130623"/>
                  <a:pt x="46144" y="126054"/>
                </a:cubicBezTo>
                <a:cubicBezTo>
                  <a:pt x="23674" y="113469"/>
                  <a:pt x="3406" y="89754"/>
                  <a:pt x="498" y="47182"/>
                </a:cubicBezTo>
                <a:cubicBezTo>
                  <a:pt x="-291" y="35511"/>
                  <a:pt x="9220" y="26540"/>
                  <a:pt x="20061" y="26540"/>
                </a:cubicBezTo>
                <a:lnTo>
                  <a:pt x="40661" y="26540"/>
                </a:lnTo>
                <a:cubicBezTo>
                  <a:pt x="40537" y="24380"/>
                  <a:pt x="40454" y="22220"/>
                  <a:pt x="40370" y="19978"/>
                </a:cubicBezTo>
                <a:cubicBezTo>
                  <a:pt x="39955" y="8971"/>
                  <a:pt x="48926" y="-42"/>
                  <a:pt x="59933" y="-42"/>
                </a:cubicBezTo>
                <a:close/>
                <a:moveTo>
                  <a:pt x="42156" y="46517"/>
                </a:moveTo>
                <a:lnTo>
                  <a:pt x="20393" y="46517"/>
                </a:lnTo>
                <a:cubicBezTo>
                  <a:pt x="22968" y="81696"/>
                  <a:pt x="39124" y="99306"/>
                  <a:pt x="55779" y="108651"/>
                </a:cubicBezTo>
                <a:cubicBezTo>
                  <a:pt x="49799" y="93159"/>
                  <a:pt x="44856" y="72933"/>
                  <a:pt x="42156" y="46517"/>
                </a:cubicBezTo>
                <a:close/>
                <a:moveTo>
                  <a:pt x="157827" y="106658"/>
                </a:moveTo>
                <a:cubicBezTo>
                  <a:pt x="174648" y="96773"/>
                  <a:pt x="189849" y="79204"/>
                  <a:pt x="192424" y="46517"/>
                </a:cubicBezTo>
                <a:lnTo>
                  <a:pt x="170702" y="46517"/>
                </a:lnTo>
                <a:cubicBezTo>
                  <a:pt x="168127" y="71811"/>
                  <a:pt x="163476" y="91457"/>
                  <a:pt x="157827" y="106658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68" name="Text 66"/>
          <p:cNvSpPr/>
          <p:nvPr/>
        </p:nvSpPr>
        <p:spPr>
          <a:xfrm>
            <a:off x="832884" y="6539023"/>
            <a:ext cx="572386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2 of 3:</a:t>
            </a:r>
            <a:pPr>
              <a:lnSpc>
                <a:spcPct val="130000"/>
              </a:lnSpc>
            </a:pPr>
            <a:r>
              <a:rPr lang="en-US" sz="111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Zerodha Varsity+ gamifies financial education to build lasting investing habits.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5382" y="431728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3" name="Text 1"/>
          <p:cNvSpPr/>
          <p:nvPr/>
        </p:nvSpPr>
        <p:spPr>
          <a:xfrm>
            <a:off x="472203" y="483535"/>
            <a:ext cx="172691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4380" y="345382"/>
            <a:ext cx="4541779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spc="54" kern="0" dirty="0">
                <a:solidFill>
                  <a:srgbClr val="FFA7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4380" y="552612"/>
            <a:ext cx="4602221" cy="31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 Together (Community Investing)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9700" y="1005926"/>
            <a:ext cx="5655637" cy="1701008"/>
          </a:xfrm>
          <a:custGeom>
            <a:avLst/>
            <a:gdLst/>
            <a:ahLst/>
            <a:cxnLst/>
            <a:rect l="l" t="t" r="r" b="b"/>
            <a:pathLst>
              <a:path w="5655637" h="1701008">
                <a:moveTo>
                  <a:pt x="103608" y="0"/>
                </a:moveTo>
                <a:lnTo>
                  <a:pt x="5552029" y="0"/>
                </a:lnTo>
                <a:cubicBezTo>
                  <a:pt x="5609250" y="0"/>
                  <a:pt x="5655637" y="46387"/>
                  <a:pt x="5655637" y="103608"/>
                </a:cubicBezTo>
                <a:lnTo>
                  <a:pt x="5655637" y="1597400"/>
                </a:lnTo>
                <a:cubicBezTo>
                  <a:pt x="5655637" y="1654621"/>
                  <a:pt x="5609250" y="1701008"/>
                  <a:pt x="5552029" y="1701008"/>
                </a:cubicBezTo>
                <a:lnTo>
                  <a:pt x="103608" y="1701008"/>
                </a:lnTo>
                <a:cubicBezTo>
                  <a:pt x="46387" y="1701008"/>
                  <a:pt x="0" y="1654621"/>
                  <a:pt x="0" y="1597400"/>
                </a:cubicBezTo>
                <a:lnTo>
                  <a:pt x="0" y="103608"/>
                </a:lnTo>
                <a:cubicBezTo>
                  <a:pt x="0" y="46425"/>
                  <a:pt x="46425" y="0"/>
                  <a:pt x="1036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5904" dist="8635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2170" y="1148397"/>
            <a:ext cx="5448408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2170" y="1459241"/>
            <a:ext cx="5439773" cy="448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8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community investing feature that allows users to invest collectively with friends or family, making investing a </a:t>
            </a:r>
            <a:pPr>
              <a:lnSpc>
                <a:spcPct val="140000"/>
              </a:lnSpc>
            </a:pPr>
            <a:r>
              <a:rPr lang="en-US" sz="1088" b="1" dirty="0">
                <a:solidFill>
                  <a:srgbClr val="FFA726"/>
                </a:solidFill>
                <a:highlight>
                  <a:srgbClr val="FFA726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and collaborative experience </a:t>
            </a:r>
            <a:pPr>
              <a:lnSpc>
                <a:spcPct val="140000"/>
              </a:lnSpc>
            </a:pPr>
            <a:r>
              <a:rPr lang="en-US" sz="1088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439" y="2011853"/>
            <a:ext cx="5353428" cy="552612"/>
          </a:xfrm>
          <a:custGeom>
            <a:avLst/>
            <a:gdLst/>
            <a:ahLst/>
            <a:cxnLst/>
            <a:rect l="l" t="t" r="r" b="b"/>
            <a:pathLst>
              <a:path w="5353428" h="552612">
                <a:moveTo>
                  <a:pt x="34538" y="0"/>
                </a:moveTo>
                <a:lnTo>
                  <a:pt x="5284351" y="0"/>
                </a:lnTo>
                <a:cubicBezTo>
                  <a:pt x="5322501" y="0"/>
                  <a:pt x="5353428" y="30927"/>
                  <a:pt x="5353428" y="69076"/>
                </a:cubicBezTo>
                <a:lnTo>
                  <a:pt x="5353428" y="483535"/>
                </a:lnTo>
                <a:cubicBezTo>
                  <a:pt x="5353428" y="521685"/>
                  <a:pt x="5322501" y="552612"/>
                  <a:pt x="5284351" y="552612"/>
                </a:cubicBezTo>
                <a:lnTo>
                  <a:pt x="34538" y="552612"/>
                </a:lnTo>
                <a:cubicBezTo>
                  <a:pt x="15463" y="552612"/>
                  <a:pt x="0" y="537149"/>
                  <a:pt x="0" y="518074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726">
                  <a:alpha val="10000"/>
                </a:srgbClr>
              </a:gs>
              <a:gs pos="100000">
                <a:srgbClr val="387ED1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509439" y="2011853"/>
            <a:ext cx="34538" cy="552612"/>
          </a:xfrm>
          <a:custGeom>
            <a:avLst/>
            <a:gdLst/>
            <a:ahLst/>
            <a:cxnLst/>
            <a:rect l="l" t="t" r="r" b="b"/>
            <a:pathLst>
              <a:path w="34538" h="552612">
                <a:moveTo>
                  <a:pt x="34538" y="0"/>
                </a:moveTo>
                <a:lnTo>
                  <a:pt x="34538" y="0"/>
                </a:lnTo>
                <a:lnTo>
                  <a:pt x="34538" y="552612"/>
                </a:lnTo>
                <a:lnTo>
                  <a:pt x="34538" y="552612"/>
                </a:lnTo>
                <a:cubicBezTo>
                  <a:pt x="15463" y="552612"/>
                  <a:pt x="0" y="537149"/>
                  <a:pt x="0" y="518074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11" name="Text 9"/>
          <p:cNvSpPr/>
          <p:nvPr/>
        </p:nvSpPr>
        <p:spPr>
          <a:xfrm>
            <a:off x="630323" y="2115467"/>
            <a:ext cx="5189371" cy="34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Concept:</a:t>
            </a:r>
            <a:pPr>
              <a:lnSpc>
                <a:spcPct val="120000"/>
              </a:lnSpc>
            </a:pPr>
            <a:r>
              <a:rPr lang="en-US" sz="952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"Moonlight Solution"—Users can pool investments virtually, track collective performance, and learn from each other's strategies.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9700" y="2853722"/>
            <a:ext cx="5655637" cy="3272499"/>
          </a:xfrm>
          <a:custGeom>
            <a:avLst/>
            <a:gdLst/>
            <a:ahLst/>
            <a:cxnLst/>
            <a:rect l="l" t="t" r="r" b="b"/>
            <a:pathLst>
              <a:path w="5655637" h="3272499">
                <a:moveTo>
                  <a:pt x="103607" y="0"/>
                </a:moveTo>
                <a:lnTo>
                  <a:pt x="5552030" y="0"/>
                </a:lnTo>
                <a:cubicBezTo>
                  <a:pt x="5609251" y="0"/>
                  <a:pt x="5655637" y="46387"/>
                  <a:pt x="5655637" y="103607"/>
                </a:cubicBezTo>
                <a:lnTo>
                  <a:pt x="5655637" y="3168891"/>
                </a:lnTo>
                <a:cubicBezTo>
                  <a:pt x="5655637" y="3226112"/>
                  <a:pt x="5609251" y="3272499"/>
                  <a:pt x="5552030" y="3272499"/>
                </a:cubicBezTo>
                <a:lnTo>
                  <a:pt x="103607" y="3272499"/>
                </a:lnTo>
                <a:cubicBezTo>
                  <a:pt x="46387" y="3272499"/>
                  <a:pt x="0" y="3226112"/>
                  <a:pt x="0" y="3168891"/>
                </a:cubicBezTo>
                <a:lnTo>
                  <a:pt x="0" y="103607"/>
                </a:lnTo>
                <a:cubicBezTo>
                  <a:pt x="0" y="46387"/>
                  <a:pt x="46387" y="0"/>
                  <a:pt x="10360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5904" dist="8635" dir="5400000">
              <a:srgbClr val="000000">
                <a:alpha val="10196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2170" y="2996193"/>
            <a:ext cx="5448408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2170" y="3341575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387ED1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8516" y="3445190"/>
            <a:ext cx="172691" cy="138153"/>
          </a:xfrm>
          <a:custGeom>
            <a:avLst/>
            <a:gdLst/>
            <a:ahLst/>
            <a:cxnLst/>
            <a:rect l="l" t="t" r="r" b="b"/>
            <a:pathLst>
              <a:path w="172691" h="138153">
                <a:moveTo>
                  <a:pt x="86346" y="4317"/>
                </a:moveTo>
                <a:cubicBezTo>
                  <a:pt x="101834" y="4317"/>
                  <a:pt x="114408" y="16892"/>
                  <a:pt x="114408" y="32380"/>
                </a:cubicBezTo>
                <a:cubicBezTo>
                  <a:pt x="114408" y="47868"/>
                  <a:pt x="101834" y="60442"/>
                  <a:pt x="86346" y="60442"/>
                </a:cubicBezTo>
                <a:cubicBezTo>
                  <a:pt x="70858" y="60442"/>
                  <a:pt x="58283" y="47868"/>
                  <a:pt x="58283" y="32380"/>
                </a:cubicBezTo>
                <a:cubicBezTo>
                  <a:pt x="58283" y="16892"/>
                  <a:pt x="70858" y="4317"/>
                  <a:pt x="86346" y="4317"/>
                </a:cubicBezTo>
                <a:close/>
                <a:moveTo>
                  <a:pt x="25904" y="23745"/>
                </a:moveTo>
                <a:cubicBezTo>
                  <a:pt x="36626" y="23745"/>
                  <a:pt x="45331" y="32450"/>
                  <a:pt x="45331" y="43173"/>
                </a:cubicBezTo>
                <a:cubicBezTo>
                  <a:pt x="45331" y="53895"/>
                  <a:pt x="36626" y="62601"/>
                  <a:pt x="25904" y="62601"/>
                </a:cubicBezTo>
                <a:cubicBezTo>
                  <a:pt x="15181" y="62601"/>
                  <a:pt x="6476" y="53895"/>
                  <a:pt x="6476" y="43173"/>
                </a:cubicBezTo>
                <a:cubicBezTo>
                  <a:pt x="6476" y="32450"/>
                  <a:pt x="15181" y="23745"/>
                  <a:pt x="25904" y="23745"/>
                </a:cubicBezTo>
                <a:close/>
                <a:moveTo>
                  <a:pt x="0" y="112249"/>
                </a:moveTo>
                <a:cubicBezTo>
                  <a:pt x="0" y="93172"/>
                  <a:pt x="15461" y="77711"/>
                  <a:pt x="34538" y="77711"/>
                </a:cubicBezTo>
                <a:cubicBezTo>
                  <a:pt x="37992" y="77711"/>
                  <a:pt x="41338" y="78224"/>
                  <a:pt x="44495" y="79168"/>
                </a:cubicBezTo>
                <a:cubicBezTo>
                  <a:pt x="35618" y="89098"/>
                  <a:pt x="30221" y="102212"/>
                  <a:pt x="30221" y="116567"/>
                </a:cubicBezTo>
                <a:lnTo>
                  <a:pt x="30221" y="120884"/>
                </a:lnTo>
                <a:cubicBezTo>
                  <a:pt x="30221" y="123960"/>
                  <a:pt x="30869" y="126874"/>
                  <a:pt x="32029" y="129518"/>
                </a:cubicBezTo>
                <a:lnTo>
                  <a:pt x="8635" y="129518"/>
                </a:lnTo>
                <a:cubicBezTo>
                  <a:pt x="3859" y="129518"/>
                  <a:pt x="0" y="125660"/>
                  <a:pt x="0" y="120884"/>
                </a:cubicBezTo>
                <a:lnTo>
                  <a:pt x="0" y="112249"/>
                </a:lnTo>
                <a:close/>
                <a:moveTo>
                  <a:pt x="140662" y="129518"/>
                </a:moveTo>
                <a:cubicBezTo>
                  <a:pt x="141823" y="126874"/>
                  <a:pt x="142470" y="123960"/>
                  <a:pt x="142470" y="120884"/>
                </a:cubicBezTo>
                <a:lnTo>
                  <a:pt x="142470" y="116567"/>
                </a:lnTo>
                <a:cubicBezTo>
                  <a:pt x="142470" y="102212"/>
                  <a:pt x="137074" y="89098"/>
                  <a:pt x="128196" y="79168"/>
                </a:cubicBezTo>
                <a:cubicBezTo>
                  <a:pt x="131353" y="78224"/>
                  <a:pt x="134699" y="77711"/>
                  <a:pt x="138153" y="77711"/>
                </a:cubicBezTo>
                <a:cubicBezTo>
                  <a:pt x="157230" y="77711"/>
                  <a:pt x="172691" y="93172"/>
                  <a:pt x="172691" y="112249"/>
                </a:cubicBezTo>
                <a:lnTo>
                  <a:pt x="172691" y="120884"/>
                </a:lnTo>
                <a:cubicBezTo>
                  <a:pt x="172691" y="125660"/>
                  <a:pt x="168833" y="129518"/>
                  <a:pt x="164057" y="129518"/>
                </a:cubicBezTo>
                <a:lnTo>
                  <a:pt x="140662" y="129518"/>
                </a:lnTo>
                <a:close/>
                <a:moveTo>
                  <a:pt x="127360" y="43173"/>
                </a:moveTo>
                <a:cubicBezTo>
                  <a:pt x="127360" y="32450"/>
                  <a:pt x="136065" y="23745"/>
                  <a:pt x="146788" y="23745"/>
                </a:cubicBezTo>
                <a:cubicBezTo>
                  <a:pt x="157510" y="23745"/>
                  <a:pt x="166215" y="32450"/>
                  <a:pt x="166215" y="43173"/>
                </a:cubicBezTo>
                <a:cubicBezTo>
                  <a:pt x="166215" y="53895"/>
                  <a:pt x="157510" y="62601"/>
                  <a:pt x="146788" y="62601"/>
                </a:cubicBezTo>
                <a:cubicBezTo>
                  <a:pt x="136065" y="62601"/>
                  <a:pt x="127360" y="53895"/>
                  <a:pt x="127360" y="43173"/>
                </a:cubicBezTo>
                <a:close/>
                <a:moveTo>
                  <a:pt x="43173" y="116567"/>
                </a:moveTo>
                <a:cubicBezTo>
                  <a:pt x="43173" y="92714"/>
                  <a:pt x="62493" y="73394"/>
                  <a:pt x="86346" y="73394"/>
                </a:cubicBezTo>
                <a:cubicBezTo>
                  <a:pt x="110199" y="73394"/>
                  <a:pt x="129518" y="92714"/>
                  <a:pt x="129518" y="116567"/>
                </a:cubicBezTo>
                <a:lnTo>
                  <a:pt x="129518" y="120884"/>
                </a:lnTo>
                <a:cubicBezTo>
                  <a:pt x="129518" y="125660"/>
                  <a:pt x="125660" y="129518"/>
                  <a:pt x="120884" y="129518"/>
                </a:cubicBezTo>
                <a:lnTo>
                  <a:pt x="51807" y="129518"/>
                </a:lnTo>
                <a:cubicBezTo>
                  <a:pt x="47031" y="129518"/>
                  <a:pt x="43173" y="125660"/>
                  <a:pt x="43173" y="120884"/>
                </a:cubicBezTo>
                <a:lnTo>
                  <a:pt x="43173" y="116567"/>
                </a:ln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16" name="Text 14"/>
          <p:cNvSpPr/>
          <p:nvPr/>
        </p:nvSpPr>
        <p:spPr>
          <a:xfrm>
            <a:off x="941167" y="3341575"/>
            <a:ext cx="4265473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Creation &amp; Management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167" y="3548805"/>
            <a:ext cx="4256839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invite via contacts, WhatsApp, or shareable links—set group goals and rules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2170" y="3790572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7150" y="3894187"/>
            <a:ext cx="155422" cy="138153"/>
          </a:xfrm>
          <a:custGeom>
            <a:avLst/>
            <a:gdLst/>
            <a:ahLst/>
            <a:cxnLst/>
            <a:rect l="l" t="t" r="r" b="b"/>
            <a:pathLst>
              <a:path w="155422" h="138153">
                <a:moveTo>
                  <a:pt x="138261" y="64759"/>
                </a:moveTo>
                <a:lnTo>
                  <a:pt x="90771" y="64759"/>
                </a:lnTo>
                <a:cubicBezTo>
                  <a:pt x="85995" y="64759"/>
                  <a:pt x="82136" y="60901"/>
                  <a:pt x="82136" y="56125"/>
                </a:cubicBezTo>
                <a:lnTo>
                  <a:pt x="82136" y="8635"/>
                </a:lnTo>
                <a:cubicBezTo>
                  <a:pt x="82136" y="3859"/>
                  <a:pt x="86022" y="-54"/>
                  <a:pt x="90744" y="567"/>
                </a:cubicBezTo>
                <a:cubicBezTo>
                  <a:pt x="119616" y="4398"/>
                  <a:pt x="142497" y="27280"/>
                  <a:pt x="146329" y="56152"/>
                </a:cubicBezTo>
                <a:cubicBezTo>
                  <a:pt x="146949" y="60874"/>
                  <a:pt x="143037" y="64759"/>
                  <a:pt x="138261" y="64759"/>
                </a:cubicBezTo>
                <a:close/>
                <a:moveTo>
                  <a:pt x="60064" y="10038"/>
                </a:moveTo>
                <a:cubicBezTo>
                  <a:pt x="64948" y="9012"/>
                  <a:pt x="69184" y="13006"/>
                  <a:pt x="69184" y="17998"/>
                </a:cubicBezTo>
                <a:lnTo>
                  <a:pt x="69184" y="71235"/>
                </a:lnTo>
                <a:cubicBezTo>
                  <a:pt x="69184" y="72746"/>
                  <a:pt x="69724" y="74203"/>
                  <a:pt x="70668" y="75364"/>
                </a:cubicBezTo>
                <a:lnTo>
                  <a:pt x="106313" y="118374"/>
                </a:lnTo>
                <a:cubicBezTo>
                  <a:pt x="109470" y="122179"/>
                  <a:pt x="108795" y="127926"/>
                  <a:pt x="104451" y="130274"/>
                </a:cubicBezTo>
                <a:cubicBezTo>
                  <a:pt x="95250" y="135293"/>
                  <a:pt x="84700" y="138153"/>
                  <a:pt x="73502" y="138153"/>
                </a:cubicBezTo>
                <a:cubicBezTo>
                  <a:pt x="37749" y="138153"/>
                  <a:pt x="8742" y="109146"/>
                  <a:pt x="8742" y="73394"/>
                </a:cubicBezTo>
                <a:cubicBezTo>
                  <a:pt x="8742" y="42228"/>
                  <a:pt x="30734" y="16217"/>
                  <a:pt x="60064" y="10038"/>
                </a:cubicBezTo>
                <a:close/>
                <a:moveTo>
                  <a:pt x="128925" y="77711"/>
                </a:moveTo>
                <a:lnTo>
                  <a:pt x="146194" y="77711"/>
                </a:lnTo>
                <a:cubicBezTo>
                  <a:pt x="151186" y="77711"/>
                  <a:pt x="155179" y="81947"/>
                  <a:pt x="154154" y="86831"/>
                </a:cubicBezTo>
                <a:cubicBezTo>
                  <a:pt x="151402" y="99891"/>
                  <a:pt x="144710" y="111494"/>
                  <a:pt x="135374" y="120344"/>
                </a:cubicBezTo>
                <a:cubicBezTo>
                  <a:pt x="132055" y="123501"/>
                  <a:pt x="126847" y="122827"/>
                  <a:pt x="123933" y="119292"/>
                </a:cubicBezTo>
                <a:lnTo>
                  <a:pt x="101159" y="91850"/>
                </a:lnTo>
                <a:cubicBezTo>
                  <a:pt x="96491" y="86211"/>
                  <a:pt x="100512" y="77711"/>
                  <a:pt x="107797" y="77711"/>
                </a:cubicBezTo>
                <a:lnTo>
                  <a:pt x="128898" y="77711"/>
                </a:ln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20" name="Text 18"/>
          <p:cNvSpPr/>
          <p:nvPr/>
        </p:nvSpPr>
        <p:spPr>
          <a:xfrm>
            <a:off x="941167" y="3790572"/>
            <a:ext cx="3859649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Collective Portfolio View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167" y="3997802"/>
            <a:ext cx="3851014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combined performance, individual contributions, and group rankings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2170" y="4239569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87150" y="4343184"/>
            <a:ext cx="155422" cy="138153"/>
          </a:xfrm>
          <a:custGeom>
            <a:avLst/>
            <a:gdLst/>
            <a:ahLst/>
            <a:cxnLst/>
            <a:rect l="l" t="t" r="r" b="b"/>
            <a:pathLst>
              <a:path w="155422" h="138153">
                <a:moveTo>
                  <a:pt x="103615" y="38856"/>
                </a:moveTo>
                <a:cubicBezTo>
                  <a:pt x="103615" y="65083"/>
                  <a:pt x="80409" y="86346"/>
                  <a:pt x="51807" y="86346"/>
                </a:cubicBezTo>
                <a:cubicBezTo>
                  <a:pt x="44603" y="86346"/>
                  <a:pt x="37749" y="84996"/>
                  <a:pt x="31516" y="82568"/>
                </a:cubicBezTo>
                <a:lnTo>
                  <a:pt x="9498" y="94225"/>
                </a:lnTo>
                <a:cubicBezTo>
                  <a:pt x="6989" y="95547"/>
                  <a:pt x="3913" y="95088"/>
                  <a:pt x="1889" y="93091"/>
                </a:cubicBezTo>
                <a:cubicBezTo>
                  <a:pt x="-135" y="91095"/>
                  <a:pt x="-594" y="87992"/>
                  <a:pt x="756" y="85482"/>
                </a:cubicBezTo>
                <a:lnTo>
                  <a:pt x="10361" y="67350"/>
                </a:lnTo>
                <a:cubicBezTo>
                  <a:pt x="3859" y="59417"/>
                  <a:pt x="0" y="49541"/>
                  <a:pt x="0" y="38856"/>
                </a:cubicBezTo>
                <a:cubicBezTo>
                  <a:pt x="0" y="12628"/>
                  <a:pt x="23205" y="-8635"/>
                  <a:pt x="51807" y="-8635"/>
                </a:cubicBezTo>
                <a:cubicBezTo>
                  <a:pt x="80409" y="-8635"/>
                  <a:pt x="103615" y="12628"/>
                  <a:pt x="103615" y="38856"/>
                </a:cubicBezTo>
                <a:close/>
                <a:moveTo>
                  <a:pt x="103615" y="138153"/>
                </a:moveTo>
                <a:cubicBezTo>
                  <a:pt x="78224" y="138153"/>
                  <a:pt x="57096" y="121397"/>
                  <a:pt x="52671" y="99297"/>
                </a:cubicBezTo>
                <a:cubicBezTo>
                  <a:pt x="85050" y="98893"/>
                  <a:pt x="113194" y="75849"/>
                  <a:pt x="116297" y="44603"/>
                </a:cubicBezTo>
                <a:cubicBezTo>
                  <a:pt x="138774" y="49784"/>
                  <a:pt x="155422" y="68429"/>
                  <a:pt x="155422" y="90663"/>
                </a:cubicBezTo>
                <a:cubicBezTo>
                  <a:pt x="155422" y="101348"/>
                  <a:pt x="151564" y="111224"/>
                  <a:pt x="145061" y="119157"/>
                </a:cubicBezTo>
                <a:lnTo>
                  <a:pt x="154667" y="137290"/>
                </a:lnTo>
                <a:cubicBezTo>
                  <a:pt x="155989" y="139799"/>
                  <a:pt x="155530" y="142875"/>
                  <a:pt x="153533" y="144899"/>
                </a:cubicBezTo>
                <a:cubicBezTo>
                  <a:pt x="151537" y="146922"/>
                  <a:pt x="148433" y="147381"/>
                  <a:pt x="145924" y="146032"/>
                </a:cubicBezTo>
                <a:lnTo>
                  <a:pt x="123906" y="134375"/>
                </a:lnTo>
                <a:cubicBezTo>
                  <a:pt x="117673" y="136804"/>
                  <a:pt x="110819" y="138153"/>
                  <a:pt x="103615" y="138153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24" name="Text 22"/>
          <p:cNvSpPr/>
          <p:nvPr/>
        </p:nvSpPr>
        <p:spPr>
          <a:xfrm>
            <a:off x="941167" y="4239569"/>
            <a:ext cx="3566074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In-App Discussions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1167" y="4446799"/>
            <a:ext cx="3557439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Chat, share stock picks, and discuss market trends within the group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2170" y="4688567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5785" y="4792181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38936" y="0"/>
                </a:moveTo>
                <a:lnTo>
                  <a:pt x="99378" y="0"/>
                </a:lnTo>
                <a:cubicBezTo>
                  <a:pt x="106529" y="0"/>
                  <a:pt x="112357" y="5882"/>
                  <a:pt x="112087" y="13006"/>
                </a:cubicBezTo>
                <a:cubicBezTo>
                  <a:pt x="112033" y="14436"/>
                  <a:pt x="111979" y="15866"/>
                  <a:pt x="111899" y="17269"/>
                </a:cubicBezTo>
                <a:lnTo>
                  <a:pt x="125282" y="17269"/>
                </a:lnTo>
                <a:cubicBezTo>
                  <a:pt x="132325" y="17269"/>
                  <a:pt x="138531" y="23097"/>
                  <a:pt x="137991" y="30707"/>
                </a:cubicBezTo>
                <a:cubicBezTo>
                  <a:pt x="135967" y="58688"/>
                  <a:pt x="121666" y="74068"/>
                  <a:pt x="106151" y="82109"/>
                </a:cubicBezTo>
                <a:cubicBezTo>
                  <a:pt x="101888" y="84322"/>
                  <a:pt x="97544" y="85968"/>
                  <a:pt x="93415" y="87182"/>
                </a:cubicBezTo>
                <a:cubicBezTo>
                  <a:pt x="87965" y="94899"/>
                  <a:pt x="82298" y="98974"/>
                  <a:pt x="77792" y="101159"/>
                </a:cubicBezTo>
                <a:lnTo>
                  <a:pt x="77792" y="120884"/>
                </a:lnTo>
                <a:lnTo>
                  <a:pt x="95061" y="120884"/>
                </a:lnTo>
                <a:cubicBezTo>
                  <a:pt x="99837" y="120884"/>
                  <a:pt x="103696" y="124742"/>
                  <a:pt x="103696" y="129518"/>
                </a:cubicBezTo>
                <a:cubicBezTo>
                  <a:pt x="103696" y="134294"/>
                  <a:pt x="99837" y="138153"/>
                  <a:pt x="95061" y="138153"/>
                </a:cubicBezTo>
                <a:lnTo>
                  <a:pt x="43254" y="138153"/>
                </a:lnTo>
                <a:cubicBezTo>
                  <a:pt x="38478" y="138153"/>
                  <a:pt x="34619" y="134294"/>
                  <a:pt x="34619" y="129518"/>
                </a:cubicBezTo>
                <a:cubicBezTo>
                  <a:pt x="34619" y="124742"/>
                  <a:pt x="38478" y="120884"/>
                  <a:pt x="43254" y="120884"/>
                </a:cubicBezTo>
                <a:lnTo>
                  <a:pt x="60523" y="120884"/>
                </a:lnTo>
                <a:lnTo>
                  <a:pt x="60523" y="101159"/>
                </a:lnTo>
                <a:cubicBezTo>
                  <a:pt x="56206" y="99082"/>
                  <a:pt x="50836" y="95223"/>
                  <a:pt x="45601" y="88126"/>
                </a:cubicBezTo>
                <a:cubicBezTo>
                  <a:pt x="40636" y="86831"/>
                  <a:pt x="35240" y="84862"/>
                  <a:pt x="29978" y="81893"/>
                </a:cubicBezTo>
                <a:cubicBezTo>
                  <a:pt x="15380" y="73718"/>
                  <a:pt x="2213" y="58310"/>
                  <a:pt x="324" y="30653"/>
                </a:cubicBezTo>
                <a:cubicBezTo>
                  <a:pt x="-189" y="23070"/>
                  <a:pt x="5990" y="17242"/>
                  <a:pt x="13033" y="17242"/>
                </a:cubicBezTo>
                <a:lnTo>
                  <a:pt x="26416" y="17242"/>
                </a:lnTo>
                <a:cubicBezTo>
                  <a:pt x="26335" y="15839"/>
                  <a:pt x="26281" y="14436"/>
                  <a:pt x="26227" y="12979"/>
                </a:cubicBezTo>
                <a:cubicBezTo>
                  <a:pt x="25958" y="5828"/>
                  <a:pt x="31786" y="-27"/>
                  <a:pt x="38936" y="-27"/>
                </a:cubicBezTo>
                <a:close/>
                <a:moveTo>
                  <a:pt x="27388" y="30221"/>
                </a:moveTo>
                <a:lnTo>
                  <a:pt x="13249" y="30221"/>
                </a:lnTo>
                <a:cubicBezTo>
                  <a:pt x="14922" y="53076"/>
                  <a:pt x="25418" y="64516"/>
                  <a:pt x="36238" y="70588"/>
                </a:cubicBezTo>
                <a:cubicBezTo>
                  <a:pt x="32353" y="60523"/>
                  <a:pt x="29142" y="47382"/>
                  <a:pt x="27388" y="30221"/>
                </a:cubicBezTo>
                <a:close/>
                <a:moveTo>
                  <a:pt x="102535" y="69292"/>
                </a:moveTo>
                <a:cubicBezTo>
                  <a:pt x="113464" y="62870"/>
                  <a:pt x="123339" y="51457"/>
                  <a:pt x="125012" y="30221"/>
                </a:cubicBezTo>
                <a:lnTo>
                  <a:pt x="110900" y="30221"/>
                </a:lnTo>
                <a:cubicBezTo>
                  <a:pt x="109227" y="46654"/>
                  <a:pt x="106205" y="59417"/>
                  <a:pt x="102535" y="6929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941167" y="4688567"/>
            <a:ext cx="3902822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Challenges &amp; Goals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167" y="4895796"/>
            <a:ext cx="3894187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collective targets, compete in investing challenges, earn group badges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0322" y="1001609"/>
            <a:ext cx="5664272" cy="2348601"/>
          </a:xfrm>
          <a:custGeom>
            <a:avLst/>
            <a:gdLst/>
            <a:ahLst/>
            <a:cxnLst/>
            <a:rect l="l" t="t" r="r" b="b"/>
            <a:pathLst>
              <a:path w="5664272" h="2348601">
                <a:moveTo>
                  <a:pt x="103620" y="0"/>
                </a:moveTo>
                <a:lnTo>
                  <a:pt x="5560652" y="0"/>
                </a:lnTo>
                <a:cubicBezTo>
                  <a:pt x="5617880" y="0"/>
                  <a:pt x="5664272" y="46392"/>
                  <a:pt x="5664272" y="103620"/>
                </a:cubicBezTo>
                <a:lnTo>
                  <a:pt x="5664272" y="2244980"/>
                </a:lnTo>
                <a:cubicBezTo>
                  <a:pt x="5664272" y="2302208"/>
                  <a:pt x="5617880" y="2348601"/>
                  <a:pt x="5560652" y="2348601"/>
                </a:cubicBezTo>
                <a:lnTo>
                  <a:pt x="103620" y="2348601"/>
                </a:lnTo>
                <a:cubicBezTo>
                  <a:pt x="46392" y="2348601"/>
                  <a:pt x="0" y="2302208"/>
                  <a:pt x="0" y="2244980"/>
                </a:cubicBezTo>
                <a:lnTo>
                  <a:pt x="0" y="103620"/>
                </a:lnTo>
                <a:cubicBezTo>
                  <a:pt x="0" y="46431"/>
                  <a:pt x="46431" y="0"/>
                  <a:pt x="10362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726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31" name="Text 29"/>
          <p:cNvSpPr/>
          <p:nvPr/>
        </p:nvSpPr>
        <p:spPr>
          <a:xfrm>
            <a:off x="6318475" y="1139762"/>
            <a:ext cx="5474312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18475" y="1502414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63508" y="1571490"/>
            <a:ext cx="120884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67472" y="1485144"/>
            <a:ext cx="3436555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 Group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67472" y="1692374"/>
            <a:ext cx="342792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a small investment circle with friends, family, or colleagues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18475" y="1951411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50961" y="2020487"/>
            <a:ext cx="14678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67472" y="1934142"/>
            <a:ext cx="461949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Pool Investments Virtually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67472" y="2141371"/>
            <a:ext cx="4610856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member invests their chosen amount—tracked collectively but owned individually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8475" y="2400408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50287" y="2469484"/>
            <a:ext cx="14678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67472" y="2383139"/>
            <a:ext cx="4420895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Collective Performance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67472" y="2590368"/>
            <a:ext cx="441226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group portfolio performance, compare strategies, and celebrate wins together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18475" y="2849405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50422" y="2918482"/>
            <a:ext cx="14678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67472" y="2832136"/>
            <a:ext cx="3902822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&amp; Grow Together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67472" y="3039365"/>
            <a:ext cx="3894187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 insights, discuss strategies, and build collective financial knowledge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84639" y="3492680"/>
            <a:ext cx="5655637" cy="2633541"/>
          </a:xfrm>
          <a:custGeom>
            <a:avLst/>
            <a:gdLst/>
            <a:ahLst/>
            <a:cxnLst/>
            <a:rect l="l" t="t" r="r" b="b"/>
            <a:pathLst>
              <a:path w="5655637" h="2633541">
                <a:moveTo>
                  <a:pt x="103604" y="0"/>
                </a:moveTo>
                <a:lnTo>
                  <a:pt x="5552034" y="0"/>
                </a:lnTo>
                <a:cubicBezTo>
                  <a:pt x="5609253" y="0"/>
                  <a:pt x="5655637" y="46385"/>
                  <a:pt x="5655637" y="103604"/>
                </a:cubicBezTo>
                <a:lnTo>
                  <a:pt x="5655637" y="2529938"/>
                </a:lnTo>
                <a:cubicBezTo>
                  <a:pt x="5655637" y="2587156"/>
                  <a:pt x="5609253" y="2633541"/>
                  <a:pt x="5552034" y="2633541"/>
                </a:cubicBezTo>
                <a:lnTo>
                  <a:pt x="103604" y="2633541"/>
                </a:lnTo>
                <a:cubicBezTo>
                  <a:pt x="46385" y="2633541"/>
                  <a:pt x="0" y="2587156"/>
                  <a:pt x="0" y="2529938"/>
                </a:cubicBezTo>
                <a:lnTo>
                  <a:pt x="0" y="103604"/>
                </a:lnTo>
                <a:cubicBezTo>
                  <a:pt x="0" y="46385"/>
                  <a:pt x="46385" y="0"/>
                  <a:pt x="10360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5904" dist="8635" dir="5400000">
              <a:srgbClr val="000000">
                <a:alpha val="10196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327109" y="3635150"/>
            <a:ext cx="5457042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Problems Solved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44379" y="3980533"/>
            <a:ext cx="5353428" cy="621688"/>
          </a:xfrm>
          <a:custGeom>
            <a:avLst/>
            <a:gdLst/>
            <a:ahLst/>
            <a:cxnLst/>
            <a:rect l="l" t="t" r="r" b="b"/>
            <a:pathLst>
              <a:path w="5353428" h="621688">
                <a:moveTo>
                  <a:pt x="34538" y="0"/>
                </a:moveTo>
                <a:lnTo>
                  <a:pt x="5284352" y="0"/>
                </a:lnTo>
                <a:cubicBezTo>
                  <a:pt x="5322501" y="0"/>
                  <a:pt x="5353428" y="30926"/>
                  <a:pt x="5353428" y="69076"/>
                </a:cubicBezTo>
                <a:lnTo>
                  <a:pt x="5353428" y="552613"/>
                </a:lnTo>
                <a:cubicBezTo>
                  <a:pt x="5353428" y="590762"/>
                  <a:pt x="5322501" y="621688"/>
                  <a:pt x="5284352" y="621688"/>
                </a:cubicBez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51" name="Shape 49"/>
          <p:cNvSpPr/>
          <p:nvPr/>
        </p:nvSpPr>
        <p:spPr>
          <a:xfrm>
            <a:off x="6344379" y="3980533"/>
            <a:ext cx="34538" cy="621688"/>
          </a:xfrm>
          <a:custGeom>
            <a:avLst/>
            <a:gdLst/>
            <a:ahLst/>
            <a:cxnLst/>
            <a:rect l="l" t="t" r="r" b="b"/>
            <a:pathLst>
              <a:path w="34538" h="621688">
                <a:moveTo>
                  <a:pt x="34538" y="0"/>
                </a:moveTo>
                <a:lnTo>
                  <a:pt x="34538" y="0"/>
                </a:lnTo>
                <a:lnTo>
                  <a:pt x="34538" y="621688"/>
                </a:ln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52" name="Shape 50"/>
          <p:cNvSpPr/>
          <p:nvPr/>
        </p:nvSpPr>
        <p:spPr>
          <a:xfrm>
            <a:off x="6482532" y="4118686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17269" y="8635"/>
                </a:moveTo>
                <a:cubicBezTo>
                  <a:pt x="7744" y="8635"/>
                  <a:pt x="0" y="16379"/>
                  <a:pt x="0" y="25904"/>
                </a:cubicBezTo>
                <a:lnTo>
                  <a:pt x="0" y="103615"/>
                </a:lnTo>
                <a:cubicBezTo>
                  <a:pt x="0" y="113140"/>
                  <a:pt x="7744" y="120884"/>
                  <a:pt x="17269" y="120884"/>
                </a:cubicBezTo>
                <a:lnTo>
                  <a:pt x="120884" y="120884"/>
                </a:lnTo>
                <a:cubicBezTo>
                  <a:pt x="130409" y="120884"/>
                  <a:pt x="138153" y="113140"/>
                  <a:pt x="138153" y="103615"/>
                </a:cubicBezTo>
                <a:lnTo>
                  <a:pt x="138153" y="51807"/>
                </a:lnTo>
                <a:cubicBezTo>
                  <a:pt x="138153" y="42282"/>
                  <a:pt x="130409" y="34538"/>
                  <a:pt x="120884" y="34538"/>
                </a:cubicBezTo>
                <a:lnTo>
                  <a:pt x="19428" y="34538"/>
                </a:lnTo>
                <a:cubicBezTo>
                  <a:pt x="15839" y="34538"/>
                  <a:pt x="12952" y="31651"/>
                  <a:pt x="12952" y="28062"/>
                </a:cubicBezTo>
                <a:cubicBezTo>
                  <a:pt x="12952" y="24474"/>
                  <a:pt x="15839" y="21586"/>
                  <a:pt x="19428" y="21586"/>
                </a:cubicBezTo>
                <a:lnTo>
                  <a:pt x="123042" y="21586"/>
                </a:lnTo>
                <a:cubicBezTo>
                  <a:pt x="126631" y="21586"/>
                  <a:pt x="129518" y="18699"/>
                  <a:pt x="129518" y="15110"/>
                </a:cubicBezTo>
                <a:cubicBezTo>
                  <a:pt x="129518" y="11522"/>
                  <a:pt x="126631" y="8635"/>
                  <a:pt x="123042" y="8635"/>
                </a:cubicBezTo>
                <a:lnTo>
                  <a:pt x="17269" y="8635"/>
                </a:lnTo>
                <a:close/>
                <a:moveTo>
                  <a:pt x="112249" y="69076"/>
                </a:moveTo>
                <a:cubicBezTo>
                  <a:pt x="117015" y="69076"/>
                  <a:pt x="120884" y="72946"/>
                  <a:pt x="120884" y="77711"/>
                </a:cubicBezTo>
                <a:cubicBezTo>
                  <a:pt x="120884" y="82477"/>
                  <a:pt x="117015" y="86346"/>
                  <a:pt x="112249" y="86346"/>
                </a:cubicBezTo>
                <a:cubicBezTo>
                  <a:pt x="107484" y="86346"/>
                  <a:pt x="103615" y="82477"/>
                  <a:pt x="103615" y="77711"/>
                </a:cubicBezTo>
                <a:cubicBezTo>
                  <a:pt x="103615" y="72946"/>
                  <a:pt x="107484" y="69076"/>
                  <a:pt x="112249" y="69076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53" name="Text 51"/>
          <p:cNvSpPr/>
          <p:nvPr/>
        </p:nvSpPr>
        <p:spPr>
          <a:xfrm>
            <a:off x="6707030" y="4084147"/>
            <a:ext cx="132108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Capital Problem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65262" y="4325915"/>
            <a:ext cx="518937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minimal amounts by pooling resources—no need for large initial investment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44379" y="4671297"/>
            <a:ext cx="5353428" cy="621688"/>
          </a:xfrm>
          <a:custGeom>
            <a:avLst/>
            <a:gdLst/>
            <a:ahLst/>
            <a:cxnLst/>
            <a:rect l="l" t="t" r="r" b="b"/>
            <a:pathLst>
              <a:path w="5353428" h="621688">
                <a:moveTo>
                  <a:pt x="34538" y="0"/>
                </a:moveTo>
                <a:lnTo>
                  <a:pt x="5284352" y="0"/>
                </a:lnTo>
                <a:cubicBezTo>
                  <a:pt x="5322501" y="0"/>
                  <a:pt x="5353428" y="30926"/>
                  <a:pt x="5353428" y="69076"/>
                </a:cubicBezTo>
                <a:lnTo>
                  <a:pt x="5353428" y="552613"/>
                </a:lnTo>
                <a:cubicBezTo>
                  <a:pt x="5353428" y="590762"/>
                  <a:pt x="5322501" y="621688"/>
                  <a:pt x="5284352" y="621688"/>
                </a:cubicBez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56" name="Shape 54"/>
          <p:cNvSpPr/>
          <p:nvPr/>
        </p:nvSpPr>
        <p:spPr>
          <a:xfrm>
            <a:off x="6344379" y="4671297"/>
            <a:ext cx="34538" cy="621688"/>
          </a:xfrm>
          <a:custGeom>
            <a:avLst/>
            <a:gdLst/>
            <a:ahLst/>
            <a:cxnLst/>
            <a:rect l="l" t="t" r="r" b="b"/>
            <a:pathLst>
              <a:path w="34538" h="621688">
                <a:moveTo>
                  <a:pt x="34538" y="0"/>
                </a:moveTo>
                <a:lnTo>
                  <a:pt x="34538" y="0"/>
                </a:lnTo>
                <a:lnTo>
                  <a:pt x="34538" y="621688"/>
                </a:ln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57" name="Shape 55"/>
          <p:cNvSpPr/>
          <p:nvPr/>
        </p:nvSpPr>
        <p:spPr>
          <a:xfrm>
            <a:off x="6473897" y="4809450"/>
            <a:ext cx="155422" cy="138153"/>
          </a:xfrm>
          <a:custGeom>
            <a:avLst/>
            <a:gdLst/>
            <a:ahLst/>
            <a:cxnLst/>
            <a:rect l="l" t="t" r="r" b="b"/>
            <a:pathLst>
              <a:path w="155422" h="138153">
                <a:moveTo>
                  <a:pt x="75444" y="8365"/>
                </a:moveTo>
                <a:cubicBezTo>
                  <a:pt x="71640" y="3103"/>
                  <a:pt x="65542" y="0"/>
                  <a:pt x="59066" y="0"/>
                </a:cubicBezTo>
                <a:cubicBezTo>
                  <a:pt x="47895" y="0"/>
                  <a:pt x="38856" y="9039"/>
                  <a:pt x="38856" y="20210"/>
                </a:cubicBezTo>
                <a:lnTo>
                  <a:pt x="38856" y="20858"/>
                </a:lnTo>
                <a:cubicBezTo>
                  <a:pt x="38856" y="38235"/>
                  <a:pt x="60982" y="56853"/>
                  <a:pt x="71829" y="64921"/>
                </a:cubicBezTo>
                <a:cubicBezTo>
                  <a:pt x="75337" y="67538"/>
                  <a:pt x="80059" y="67538"/>
                  <a:pt x="83566" y="64921"/>
                </a:cubicBezTo>
                <a:cubicBezTo>
                  <a:pt x="94414" y="56826"/>
                  <a:pt x="116540" y="38235"/>
                  <a:pt x="116540" y="20858"/>
                </a:cubicBezTo>
                <a:lnTo>
                  <a:pt x="116540" y="20210"/>
                </a:lnTo>
                <a:cubicBezTo>
                  <a:pt x="116540" y="9039"/>
                  <a:pt x="107500" y="0"/>
                  <a:pt x="96329" y="0"/>
                </a:cubicBezTo>
                <a:cubicBezTo>
                  <a:pt x="89853" y="0"/>
                  <a:pt x="83755" y="3103"/>
                  <a:pt x="79951" y="8365"/>
                </a:cubicBezTo>
                <a:lnTo>
                  <a:pt x="77711" y="11522"/>
                </a:lnTo>
                <a:lnTo>
                  <a:pt x="75444" y="8365"/>
                </a:lnTo>
                <a:close/>
                <a:moveTo>
                  <a:pt x="29492" y="92147"/>
                </a:moveTo>
                <a:lnTo>
                  <a:pt x="17998" y="103615"/>
                </a:lnTo>
                <a:lnTo>
                  <a:pt x="8635" y="103615"/>
                </a:lnTo>
                <a:cubicBezTo>
                  <a:pt x="3859" y="103615"/>
                  <a:pt x="0" y="107473"/>
                  <a:pt x="0" y="112249"/>
                </a:cubicBezTo>
                <a:lnTo>
                  <a:pt x="0" y="129518"/>
                </a:lnTo>
                <a:cubicBezTo>
                  <a:pt x="0" y="134294"/>
                  <a:pt x="3859" y="138153"/>
                  <a:pt x="8635" y="138153"/>
                </a:cubicBezTo>
                <a:lnTo>
                  <a:pt x="95115" y="138153"/>
                </a:lnTo>
                <a:cubicBezTo>
                  <a:pt x="102940" y="138153"/>
                  <a:pt x="110576" y="135644"/>
                  <a:pt x="116890" y="131002"/>
                </a:cubicBezTo>
                <a:lnTo>
                  <a:pt x="151051" y="105827"/>
                </a:lnTo>
                <a:cubicBezTo>
                  <a:pt x="155854" y="102293"/>
                  <a:pt x="156879" y="95547"/>
                  <a:pt x="153344" y="90744"/>
                </a:cubicBezTo>
                <a:cubicBezTo>
                  <a:pt x="149810" y="85941"/>
                  <a:pt x="143064" y="84916"/>
                  <a:pt x="138261" y="88450"/>
                </a:cubicBezTo>
                <a:lnTo>
                  <a:pt x="105935" y="112249"/>
                </a:lnTo>
                <a:lnTo>
                  <a:pt x="75552" y="112249"/>
                </a:lnTo>
                <a:cubicBezTo>
                  <a:pt x="71964" y="112249"/>
                  <a:pt x="69076" y="109362"/>
                  <a:pt x="69076" y="105773"/>
                </a:cubicBezTo>
                <a:cubicBezTo>
                  <a:pt x="69076" y="102185"/>
                  <a:pt x="71964" y="99297"/>
                  <a:pt x="75552" y="99297"/>
                </a:cubicBezTo>
                <a:lnTo>
                  <a:pt x="94980" y="99297"/>
                </a:lnTo>
                <a:cubicBezTo>
                  <a:pt x="99756" y="99297"/>
                  <a:pt x="103615" y="95439"/>
                  <a:pt x="103615" y="90663"/>
                </a:cubicBezTo>
                <a:cubicBezTo>
                  <a:pt x="103615" y="85887"/>
                  <a:pt x="99756" y="82028"/>
                  <a:pt x="94980" y="82028"/>
                </a:cubicBezTo>
                <a:lnTo>
                  <a:pt x="53912" y="82028"/>
                </a:lnTo>
                <a:cubicBezTo>
                  <a:pt x="44765" y="82028"/>
                  <a:pt x="35968" y="85671"/>
                  <a:pt x="29492" y="92147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58" name="Text 56"/>
          <p:cNvSpPr/>
          <p:nvPr/>
        </p:nvSpPr>
        <p:spPr>
          <a:xfrm>
            <a:off x="6707030" y="4774912"/>
            <a:ext cx="145924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Fear of Investing Alone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65262" y="5016680"/>
            <a:ext cx="518937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support reduces anxiety—learn from peers and make decisions collectively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44379" y="5362062"/>
            <a:ext cx="5353428" cy="621688"/>
          </a:xfrm>
          <a:custGeom>
            <a:avLst/>
            <a:gdLst/>
            <a:ahLst/>
            <a:cxnLst/>
            <a:rect l="l" t="t" r="r" b="b"/>
            <a:pathLst>
              <a:path w="5353428" h="621688">
                <a:moveTo>
                  <a:pt x="34538" y="0"/>
                </a:moveTo>
                <a:lnTo>
                  <a:pt x="5284352" y="0"/>
                </a:lnTo>
                <a:cubicBezTo>
                  <a:pt x="5322501" y="0"/>
                  <a:pt x="5353428" y="30926"/>
                  <a:pt x="5353428" y="69076"/>
                </a:cubicBezTo>
                <a:lnTo>
                  <a:pt x="5353428" y="552613"/>
                </a:lnTo>
                <a:cubicBezTo>
                  <a:pt x="5353428" y="590762"/>
                  <a:pt x="5322501" y="621688"/>
                  <a:pt x="5284352" y="621688"/>
                </a:cubicBez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61" name="Shape 59"/>
          <p:cNvSpPr/>
          <p:nvPr/>
        </p:nvSpPr>
        <p:spPr>
          <a:xfrm>
            <a:off x="6344379" y="5362062"/>
            <a:ext cx="34538" cy="621688"/>
          </a:xfrm>
          <a:custGeom>
            <a:avLst/>
            <a:gdLst/>
            <a:ahLst/>
            <a:cxnLst/>
            <a:rect l="l" t="t" r="r" b="b"/>
            <a:pathLst>
              <a:path w="34538" h="621688">
                <a:moveTo>
                  <a:pt x="34538" y="0"/>
                </a:moveTo>
                <a:lnTo>
                  <a:pt x="34538" y="0"/>
                </a:lnTo>
                <a:lnTo>
                  <a:pt x="34538" y="621688"/>
                </a:ln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62" name="Shape 60"/>
          <p:cNvSpPr/>
          <p:nvPr/>
        </p:nvSpPr>
        <p:spPr>
          <a:xfrm>
            <a:off x="6473897" y="5500215"/>
            <a:ext cx="155422" cy="138153"/>
          </a:xfrm>
          <a:custGeom>
            <a:avLst/>
            <a:gdLst/>
            <a:ahLst/>
            <a:cxnLst/>
            <a:rect l="l" t="t" r="r" b="b"/>
            <a:pathLst>
              <a:path w="155422" h="138153">
                <a:moveTo>
                  <a:pt x="72557" y="22990"/>
                </a:moveTo>
                <a:lnTo>
                  <a:pt x="41095" y="57959"/>
                </a:lnTo>
                <a:cubicBezTo>
                  <a:pt x="39854" y="59336"/>
                  <a:pt x="39908" y="61467"/>
                  <a:pt x="41230" y="62789"/>
                </a:cubicBezTo>
                <a:cubicBezTo>
                  <a:pt x="49460" y="71019"/>
                  <a:pt x="62816" y="71019"/>
                  <a:pt x="71046" y="62789"/>
                </a:cubicBezTo>
                <a:lnTo>
                  <a:pt x="79627" y="54209"/>
                </a:lnTo>
                <a:cubicBezTo>
                  <a:pt x="80760" y="53076"/>
                  <a:pt x="82190" y="52455"/>
                  <a:pt x="83647" y="52347"/>
                </a:cubicBezTo>
                <a:cubicBezTo>
                  <a:pt x="85482" y="52185"/>
                  <a:pt x="87371" y="52806"/>
                  <a:pt x="88774" y="54209"/>
                </a:cubicBezTo>
                <a:lnTo>
                  <a:pt x="136426" y="101456"/>
                </a:lnTo>
                <a:lnTo>
                  <a:pt x="155422" y="86346"/>
                </a:lnTo>
                <a:lnTo>
                  <a:pt x="155422" y="8635"/>
                </a:lnTo>
                <a:lnTo>
                  <a:pt x="125201" y="25904"/>
                </a:lnTo>
                <a:lnTo>
                  <a:pt x="118779" y="21613"/>
                </a:lnTo>
                <a:cubicBezTo>
                  <a:pt x="114516" y="18780"/>
                  <a:pt x="109524" y="17269"/>
                  <a:pt x="104397" y="17269"/>
                </a:cubicBezTo>
                <a:lnTo>
                  <a:pt x="85401" y="17269"/>
                </a:lnTo>
                <a:cubicBezTo>
                  <a:pt x="85104" y="17269"/>
                  <a:pt x="84781" y="17269"/>
                  <a:pt x="84484" y="17296"/>
                </a:cubicBezTo>
                <a:cubicBezTo>
                  <a:pt x="79924" y="17539"/>
                  <a:pt x="75633" y="19590"/>
                  <a:pt x="72557" y="22990"/>
                </a:cubicBezTo>
                <a:close/>
                <a:moveTo>
                  <a:pt x="31462" y="49298"/>
                </a:moveTo>
                <a:lnTo>
                  <a:pt x="60280" y="17269"/>
                </a:lnTo>
                <a:lnTo>
                  <a:pt x="49595" y="17269"/>
                </a:lnTo>
                <a:cubicBezTo>
                  <a:pt x="42714" y="17269"/>
                  <a:pt x="36130" y="19994"/>
                  <a:pt x="31273" y="24851"/>
                </a:cubicBezTo>
                <a:lnTo>
                  <a:pt x="30221" y="25904"/>
                </a:lnTo>
                <a:lnTo>
                  <a:pt x="0" y="8635"/>
                </a:lnTo>
                <a:lnTo>
                  <a:pt x="0" y="86346"/>
                </a:lnTo>
                <a:lnTo>
                  <a:pt x="42201" y="121504"/>
                </a:lnTo>
                <a:cubicBezTo>
                  <a:pt x="48408" y="126685"/>
                  <a:pt x="56233" y="129518"/>
                  <a:pt x="64300" y="129518"/>
                </a:cubicBezTo>
                <a:lnTo>
                  <a:pt x="68537" y="129518"/>
                </a:lnTo>
                <a:lnTo>
                  <a:pt x="66648" y="127630"/>
                </a:lnTo>
                <a:cubicBezTo>
                  <a:pt x="64112" y="125093"/>
                  <a:pt x="64112" y="120992"/>
                  <a:pt x="66648" y="118482"/>
                </a:cubicBezTo>
                <a:cubicBezTo>
                  <a:pt x="69184" y="115973"/>
                  <a:pt x="73286" y="115946"/>
                  <a:pt x="75795" y="118482"/>
                </a:cubicBezTo>
                <a:lnTo>
                  <a:pt x="86858" y="129545"/>
                </a:lnTo>
                <a:lnTo>
                  <a:pt x="89287" y="129545"/>
                </a:lnTo>
                <a:cubicBezTo>
                  <a:pt x="94441" y="129545"/>
                  <a:pt x="99486" y="128385"/>
                  <a:pt x="104073" y="126226"/>
                </a:cubicBezTo>
                <a:lnTo>
                  <a:pt x="96869" y="118995"/>
                </a:lnTo>
                <a:cubicBezTo>
                  <a:pt x="94333" y="116459"/>
                  <a:pt x="94333" y="112357"/>
                  <a:pt x="96869" y="109848"/>
                </a:cubicBezTo>
                <a:cubicBezTo>
                  <a:pt x="99405" y="107338"/>
                  <a:pt x="103507" y="107311"/>
                  <a:pt x="106016" y="109848"/>
                </a:cubicBezTo>
                <a:lnTo>
                  <a:pt x="114651" y="118482"/>
                </a:lnTo>
                <a:lnTo>
                  <a:pt x="119373" y="113760"/>
                </a:lnTo>
                <a:cubicBezTo>
                  <a:pt x="121774" y="111359"/>
                  <a:pt x="122476" y="107878"/>
                  <a:pt x="121424" y="104829"/>
                </a:cubicBezTo>
                <a:lnTo>
                  <a:pt x="84214" y="67916"/>
                </a:lnTo>
                <a:lnTo>
                  <a:pt x="80193" y="71937"/>
                </a:lnTo>
                <a:cubicBezTo>
                  <a:pt x="66891" y="85239"/>
                  <a:pt x="45358" y="85239"/>
                  <a:pt x="32056" y="71937"/>
                </a:cubicBezTo>
                <a:cubicBezTo>
                  <a:pt x="25850" y="65731"/>
                  <a:pt x="25607" y="55774"/>
                  <a:pt x="31462" y="49271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63" name="Text 61"/>
          <p:cNvSpPr/>
          <p:nvPr/>
        </p:nvSpPr>
        <p:spPr>
          <a:xfrm>
            <a:off x="6707030" y="5465677"/>
            <a:ext cx="1001609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Increases Trust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65262" y="5707445"/>
            <a:ext cx="518937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validation and peer recommendations build confidence in investment decisions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45382" y="6268691"/>
            <a:ext cx="11501235" cy="414459"/>
          </a:xfrm>
          <a:custGeom>
            <a:avLst/>
            <a:gdLst/>
            <a:ahLst/>
            <a:cxnLst/>
            <a:rect l="l" t="t" r="r" b="b"/>
            <a:pathLst>
              <a:path w="11501235" h="414459">
                <a:moveTo>
                  <a:pt x="69078" y="0"/>
                </a:moveTo>
                <a:lnTo>
                  <a:pt x="11432157" y="0"/>
                </a:lnTo>
                <a:cubicBezTo>
                  <a:pt x="11470308" y="0"/>
                  <a:pt x="11501235" y="30927"/>
                  <a:pt x="11501235" y="69078"/>
                </a:cubicBezTo>
                <a:lnTo>
                  <a:pt x="11501235" y="345381"/>
                </a:lnTo>
                <a:cubicBezTo>
                  <a:pt x="11501235" y="383532"/>
                  <a:pt x="11470308" y="414459"/>
                  <a:pt x="11432157" y="414459"/>
                </a:cubicBezTo>
                <a:lnTo>
                  <a:pt x="69078" y="414459"/>
                </a:lnTo>
                <a:cubicBezTo>
                  <a:pt x="30927" y="414459"/>
                  <a:pt x="0" y="383532"/>
                  <a:pt x="0" y="345381"/>
                </a:cubicBezTo>
                <a:lnTo>
                  <a:pt x="0" y="69078"/>
                </a:lnTo>
                <a:cubicBezTo>
                  <a:pt x="0" y="30927"/>
                  <a:pt x="30927" y="0"/>
                  <a:pt x="6907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726">
                  <a:alpha val="10000"/>
                </a:srgbClr>
              </a:gs>
              <a:gs pos="100000">
                <a:srgbClr val="387ED1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66" name="Shape 64"/>
          <p:cNvSpPr/>
          <p:nvPr/>
        </p:nvSpPr>
        <p:spPr>
          <a:xfrm>
            <a:off x="448997" y="6372306"/>
            <a:ext cx="259037" cy="207229"/>
          </a:xfrm>
          <a:custGeom>
            <a:avLst/>
            <a:gdLst/>
            <a:ahLst/>
            <a:cxnLst/>
            <a:rect l="l" t="t" r="r" b="b"/>
            <a:pathLst>
              <a:path w="259037" h="207229">
                <a:moveTo>
                  <a:pt x="129518" y="6476"/>
                </a:moveTo>
                <a:cubicBezTo>
                  <a:pt x="152750" y="6476"/>
                  <a:pt x="171612" y="25337"/>
                  <a:pt x="171612" y="48569"/>
                </a:cubicBezTo>
                <a:cubicBezTo>
                  <a:pt x="171612" y="71801"/>
                  <a:pt x="152750" y="90663"/>
                  <a:pt x="129518" y="90663"/>
                </a:cubicBezTo>
                <a:cubicBezTo>
                  <a:pt x="106286" y="90663"/>
                  <a:pt x="87425" y="71801"/>
                  <a:pt x="87425" y="48569"/>
                </a:cubicBezTo>
                <a:cubicBezTo>
                  <a:pt x="87425" y="25337"/>
                  <a:pt x="106286" y="6476"/>
                  <a:pt x="129518" y="6476"/>
                </a:cubicBezTo>
                <a:close/>
                <a:moveTo>
                  <a:pt x="38856" y="35618"/>
                </a:moveTo>
                <a:cubicBezTo>
                  <a:pt x="54939" y="35618"/>
                  <a:pt x="67997" y="48675"/>
                  <a:pt x="67997" y="64759"/>
                </a:cubicBezTo>
                <a:cubicBezTo>
                  <a:pt x="67997" y="80843"/>
                  <a:pt x="54939" y="93901"/>
                  <a:pt x="38856" y="93901"/>
                </a:cubicBezTo>
                <a:cubicBezTo>
                  <a:pt x="22772" y="93901"/>
                  <a:pt x="9714" y="80843"/>
                  <a:pt x="9714" y="64759"/>
                </a:cubicBezTo>
                <a:cubicBezTo>
                  <a:pt x="9714" y="48675"/>
                  <a:pt x="22772" y="35618"/>
                  <a:pt x="38856" y="35618"/>
                </a:cubicBezTo>
                <a:close/>
                <a:moveTo>
                  <a:pt x="0" y="168374"/>
                </a:moveTo>
                <a:cubicBezTo>
                  <a:pt x="0" y="139758"/>
                  <a:pt x="23192" y="116567"/>
                  <a:pt x="51807" y="116567"/>
                </a:cubicBezTo>
                <a:cubicBezTo>
                  <a:pt x="56988" y="116567"/>
                  <a:pt x="62007" y="117336"/>
                  <a:pt x="66742" y="118752"/>
                </a:cubicBezTo>
                <a:cubicBezTo>
                  <a:pt x="53426" y="133647"/>
                  <a:pt x="45331" y="153317"/>
                  <a:pt x="45331" y="174850"/>
                </a:cubicBezTo>
                <a:lnTo>
                  <a:pt x="45331" y="181326"/>
                </a:lnTo>
                <a:cubicBezTo>
                  <a:pt x="45331" y="185940"/>
                  <a:pt x="46303" y="190311"/>
                  <a:pt x="48043" y="194278"/>
                </a:cubicBezTo>
                <a:lnTo>
                  <a:pt x="12952" y="194278"/>
                </a:lnTo>
                <a:cubicBezTo>
                  <a:pt x="5788" y="194278"/>
                  <a:pt x="0" y="188490"/>
                  <a:pt x="0" y="181326"/>
                </a:cubicBezTo>
                <a:lnTo>
                  <a:pt x="0" y="168374"/>
                </a:lnTo>
                <a:close/>
                <a:moveTo>
                  <a:pt x="210994" y="194278"/>
                </a:moveTo>
                <a:cubicBezTo>
                  <a:pt x="212734" y="190311"/>
                  <a:pt x="213705" y="185940"/>
                  <a:pt x="213705" y="181326"/>
                </a:cubicBezTo>
                <a:lnTo>
                  <a:pt x="213705" y="174850"/>
                </a:lnTo>
                <a:cubicBezTo>
                  <a:pt x="213705" y="153317"/>
                  <a:pt x="205610" y="133647"/>
                  <a:pt x="192294" y="118752"/>
                </a:cubicBezTo>
                <a:cubicBezTo>
                  <a:pt x="197030" y="117336"/>
                  <a:pt x="202049" y="116567"/>
                  <a:pt x="207229" y="116567"/>
                </a:cubicBezTo>
                <a:cubicBezTo>
                  <a:pt x="235845" y="116567"/>
                  <a:pt x="259037" y="139758"/>
                  <a:pt x="259037" y="168374"/>
                </a:cubicBezTo>
                <a:lnTo>
                  <a:pt x="259037" y="181326"/>
                </a:lnTo>
                <a:cubicBezTo>
                  <a:pt x="259037" y="188490"/>
                  <a:pt x="253249" y="194278"/>
                  <a:pt x="246085" y="194278"/>
                </a:cubicBezTo>
                <a:lnTo>
                  <a:pt x="210994" y="194278"/>
                </a:lnTo>
                <a:close/>
                <a:moveTo>
                  <a:pt x="191040" y="64759"/>
                </a:moveTo>
                <a:cubicBezTo>
                  <a:pt x="191040" y="48675"/>
                  <a:pt x="204098" y="35618"/>
                  <a:pt x="220181" y="35618"/>
                </a:cubicBezTo>
                <a:cubicBezTo>
                  <a:pt x="236265" y="35618"/>
                  <a:pt x="249323" y="48675"/>
                  <a:pt x="249323" y="64759"/>
                </a:cubicBezTo>
                <a:cubicBezTo>
                  <a:pt x="249323" y="80843"/>
                  <a:pt x="236265" y="93901"/>
                  <a:pt x="220181" y="93901"/>
                </a:cubicBezTo>
                <a:cubicBezTo>
                  <a:pt x="204098" y="93901"/>
                  <a:pt x="191040" y="80843"/>
                  <a:pt x="191040" y="64759"/>
                </a:cubicBezTo>
                <a:close/>
                <a:moveTo>
                  <a:pt x="64759" y="174850"/>
                </a:moveTo>
                <a:cubicBezTo>
                  <a:pt x="64759" y="139070"/>
                  <a:pt x="93739" y="110091"/>
                  <a:pt x="129518" y="110091"/>
                </a:cubicBezTo>
                <a:cubicBezTo>
                  <a:pt x="165298" y="110091"/>
                  <a:pt x="194278" y="139070"/>
                  <a:pt x="194278" y="174850"/>
                </a:cubicBezTo>
                <a:lnTo>
                  <a:pt x="194278" y="181326"/>
                </a:lnTo>
                <a:cubicBezTo>
                  <a:pt x="194278" y="188490"/>
                  <a:pt x="188490" y="194278"/>
                  <a:pt x="181326" y="194278"/>
                </a:cubicBezTo>
                <a:lnTo>
                  <a:pt x="77711" y="194278"/>
                </a:lnTo>
                <a:cubicBezTo>
                  <a:pt x="70547" y="194278"/>
                  <a:pt x="64759" y="188490"/>
                  <a:pt x="64759" y="181326"/>
                </a:cubicBezTo>
                <a:lnTo>
                  <a:pt x="64759" y="174850"/>
                </a:ln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67" name="Text 65"/>
          <p:cNvSpPr/>
          <p:nvPr/>
        </p:nvSpPr>
        <p:spPr>
          <a:xfrm>
            <a:off x="811649" y="6372306"/>
            <a:ext cx="682993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3 of 3:</a:t>
            </a:r>
            <a:pPr>
              <a:lnSpc>
                <a:spcPct val="130000"/>
              </a:lnSpc>
            </a:pPr>
            <a:r>
              <a:rPr lang="en-US" sz="1088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Invest Together transforms investing from a solitary activity into a collaborative, social experience.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977" y="451221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52349" y="550490"/>
            <a:ext cx="182745" cy="162440"/>
          </a:xfrm>
          <a:custGeom>
            <a:avLst/>
            <a:gdLst/>
            <a:ahLst/>
            <a:cxnLst/>
            <a:rect l="l" t="t" r="r" b="b"/>
            <a:pathLst>
              <a:path w="182745" h="162440">
                <a:moveTo>
                  <a:pt x="78238" y="118847"/>
                </a:moveTo>
                <a:lnTo>
                  <a:pt x="47780" y="149305"/>
                </a:lnTo>
                <a:cubicBezTo>
                  <a:pt x="43814" y="153271"/>
                  <a:pt x="37374" y="153271"/>
                  <a:pt x="33408" y="149305"/>
                </a:cubicBezTo>
                <a:lnTo>
                  <a:pt x="2951" y="118847"/>
                </a:lnTo>
                <a:cubicBezTo>
                  <a:pt x="-1015" y="114882"/>
                  <a:pt x="-1015" y="108441"/>
                  <a:pt x="2951" y="104475"/>
                </a:cubicBezTo>
                <a:cubicBezTo>
                  <a:pt x="6916" y="100510"/>
                  <a:pt x="13357" y="100510"/>
                  <a:pt x="17323" y="104475"/>
                </a:cubicBezTo>
                <a:lnTo>
                  <a:pt x="30457" y="117610"/>
                </a:lnTo>
                <a:lnTo>
                  <a:pt x="30457" y="20305"/>
                </a:lnTo>
                <a:cubicBezTo>
                  <a:pt x="30457" y="14689"/>
                  <a:pt x="34994" y="10152"/>
                  <a:pt x="40610" y="10152"/>
                </a:cubicBezTo>
                <a:cubicBezTo>
                  <a:pt x="46226" y="10152"/>
                  <a:pt x="50762" y="14689"/>
                  <a:pt x="50762" y="20305"/>
                </a:cubicBezTo>
                <a:lnTo>
                  <a:pt x="50762" y="117610"/>
                </a:lnTo>
                <a:lnTo>
                  <a:pt x="63897" y="104475"/>
                </a:lnTo>
                <a:cubicBezTo>
                  <a:pt x="67863" y="100510"/>
                  <a:pt x="74303" y="100510"/>
                  <a:pt x="78269" y="104475"/>
                </a:cubicBezTo>
                <a:cubicBezTo>
                  <a:pt x="82235" y="108441"/>
                  <a:pt x="82235" y="114882"/>
                  <a:pt x="78269" y="118847"/>
                </a:cubicBezTo>
                <a:close/>
                <a:moveTo>
                  <a:pt x="101525" y="152287"/>
                </a:moveTo>
                <a:cubicBezTo>
                  <a:pt x="95909" y="152287"/>
                  <a:pt x="91372" y="147750"/>
                  <a:pt x="91372" y="142135"/>
                </a:cubicBezTo>
                <a:cubicBezTo>
                  <a:pt x="91372" y="136519"/>
                  <a:pt x="95909" y="131982"/>
                  <a:pt x="101525" y="131982"/>
                </a:cubicBezTo>
                <a:lnTo>
                  <a:pt x="111677" y="131982"/>
                </a:lnTo>
                <a:cubicBezTo>
                  <a:pt x="117293" y="131982"/>
                  <a:pt x="121830" y="136519"/>
                  <a:pt x="121830" y="142135"/>
                </a:cubicBezTo>
                <a:cubicBezTo>
                  <a:pt x="121830" y="147750"/>
                  <a:pt x="117293" y="152287"/>
                  <a:pt x="111677" y="152287"/>
                </a:cubicBezTo>
                <a:lnTo>
                  <a:pt x="101525" y="152287"/>
                </a:lnTo>
                <a:close/>
                <a:moveTo>
                  <a:pt x="101525" y="111677"/>
                </a:moveTo>
                <a:cubicBezTo>
                  <a:pt x="95909" y="111677"/>
                  <a:pt x="91372" y="107140"/>
                  <a:pt x="91372" y="101525"/>
                </a:cubicBezTo>
                <a:cubicBezTo>
                  <a:pt x="91372" y="95909"/>
                  <a:pt x="95909" y="91372"/>
                  <a:pt x="101525" y="91372"/>
                </a:cubicBezTo>
                <a:lnTo>
                  <a:pt x="131982" y="91372"/>
                </a:lnTo>
                <a:cubicBezTo>
                  <a:pt x="137598" y="91372"/>
                  <a:pt x="142135" y="95909"/>
                  <a:pt x="142135" y="101525"/>
                </a:cubicBezTo>
                <a:cubicBezTo>
                  <a:pt x="142135" y="107140"/>
                  <a:pt x="137598" y="111677"/>
                  <a:pt x="131982" y="111677"/>
                </a:cubicBezTo>
                <a:lnTo>
                  <a:pt x="101525" y="111677"/>
                </a:lnTo>
                <a:close/>
                <a:moveTo>
                  <a:pt x="101525" y="71067"/>
                </a:moveTo>
                <a:cubicBezTo>
                  <a:pt x="95909" y="71067"/>
                  <a:pt x="91372" y="66530"/>
                  <a:pt x="91372" y="60915"/>
                </a:cubicBezTo>
                <a:cubicBezTo>
                  <a:pt x="91372" y="55299"/>
                  <a:pt x="95909" y="50762"/>
                  <a:pt x="101525" y="50762"/>
                </a:cubicBezTo>
                <a:lnTo>
                  <a:pt x="152287" y="50762"/>
                </a:lnTo>
                <a:cubicBezTo>
                  <a:pt x="157903" y="50762"/>
                  <a:pt x="162440" y="55299"/>
                  <a:pt x="162440" y="60915"/>
                </a:cubicBezTo>
                <a:cubicBezTo>
                  <a:pt x="162440" y="66530"/>
                  <a:pt x="157903" y="71067"/>
                  <a:pt x="152287" y="71067"/>
                </a:cubicBezTo>
                <a:lnTo>
                  <a:pt x="101525" y="71067"/>
                </a:lnTo>
                <a:close/>
                <a:moveTo>
                  <a:pt x="101525" y="30457"/>
                </a:moveTo>
                <a:cubicBezTo>
                  <a:pt x="95909" y="30457"/>
                  <a:pt x="91372" y="25921"/>
                  <a:pt x="91372" y="20305"/>
                </a:cubicBezTo>
                <a:cubicBezTo>
                  <a:pt x="91372" y="14689"/>
                  <a:pt x="95909" y="10152"/>
                  <a:pt x="101525" y="10152"/>
                </a:cubicBezTo>
                <a:lnTo>
                  <a:pt x="172592" y="10152"/>
                </a:lnTo>
                <a:cubicBezTo>
                  <a:pt x="178208" y="10152"/>
                  <a:pt x="182745" y="14689"/>
                  <a:pt x="182745" y="20305"/>
                </a:cubicBezTo>
                <a:cubicBezTo>
                  <a:pt x="182745" y="25921"/>
                  <a:pt x="178208" y="30457"/>
                  <a:pt x="172592" y="30457"/>
                </a:cubicBezTo>
                <a:lnTo>
                  <a:pt x="101525" y="304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30247" y="360977"/>
            <a:ext cx="3113427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spc="57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PRIORITIZATION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0247" y="577563"/>
            <a:ext cx="3176598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2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RICE Framework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489" y="1051346"/>
            <a:ext cx="11461021" cy="2391473"/>
          </a:xfrm>
          <a:custGeom>
            <a:avLst/>
            <a:gdLst/>
            <a:ahLst/>
            <a:cxnLst/>
            <a:rect l="l" t="t" r="r" b="b"/>
            <a:pathLst>
              <a:path w="11461021" h="2391473">
                <a:moveTo>
                  <a:pt x="108286" y="0"/>
                </a:moveTo>
                <a:lnTo>
                  <a:pt x="11352736" y="0"/>
                </a:lnTo>
                <a:cubicBezTo>
                  <a:pt x="11412540" y="0"/>
                  <a:pt x="11461021" y="48481"/>
                  <a:pt x="11461021" y="108286"/>
                </a:cubicBezTo>
                <a:lnTo>
                  <a:pt x="11461021" y="2283187"/>
                </a:lnTo>
                <a:cubicBezTo>
                  <a:pt x="11461021" y="2342992"/>
                  <a:pt x="11412540" y="2391473"/>
                  <a:pt x="11352736" y="2391473"/>
                </a:cubicBezTo>
                <a:lnTo>
                  <a:pt x="108286" y="2391473"/>
                </a:lnTo>
                <a:cubicBezTo>
                  <a:pt x="48481" y="2391473"/>
                  <a:pt x="0" y="2342992"/>
                  <a:pt x="0" y="2283187"/>
                </a:cubicBezTo>
                <a:lnTo>
                  <a:pt x="0" y="108286"/>
                </a:lnTo>
                <a:cubicBezTo>
                  <a:pt x="0" y="48521"/>
                  <a:pt x="48521" y="0"/>
                  <a:pt x="10828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7073" dist="9024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4392" y="1200249"/>
            <a:ext cx="1123541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Prioritizing solutions using the </a:t>
            </a:r>
            <a:pPr>
              <a:lnSpc>
                <a:spcPct val="130000"/>
              </a:lnSpc>
            </a:pPr>
            <a:r>
              <a:rPr lang="en-US" sz="1137" b="1" dirty="0">
                <a:solidFill>
                  <a:srgbClr val="6366F1"/>
                </a:solidFill>
                <a:highlight>
                  <a:srgbClr val="6366F1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RICE Framework 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(Reach × Impact × Confidence ÷ Effort) to identify the most feasible and impactful solution for immediate launch.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8905" y="1529640"/>
            <a:ext cx="11154191" cy="1759763"/>
          </a:xfrm>
          <a:custGeom>
            <a:avLst/>
            <a:gdLst/>
            <a:ahLst/>
            <a:cxnLst/>
            <a:rect l="l" t="t" r="r" b="b"/>
            <a:pathLst>
              <a:path w="11154191" h="1759763">
                <a:moveTo>
                  <a:pt x="72203" y="0"/>
                </a:moveTo>
                <a:lnTo>
                  <a:pt x="11081988" y="0"/>
                </a:lnTo>
                <a:cubicBezTo>
                  <a:pt x="11121865" y="0"/>
                  <a:pt x="11154191" y="32326"/>
                  <a:pt x="11154191" y="72203"/>
                </a:cubicBezTo>
                <a:lnTo>
                  <a:pt x="11154191" y="1687560"/>
                </a:lnTo>
                <a:cubicBezTo>
                  <a:pt x="11154191" y="1727437"/>
                  <a:pt x="11121865" y="1759763"/>
                  <a:pt x="11081988" y="1759763"/>
                </a:cubicBezTo>
                <a:lnTo>
                  <a:pt x="72203" y="1759763"/>
                </a:lnTo>
                <a:cubicBezTo>
                  <a:pt x="32326" y="1759763"/>
                  <a:pt x="0" y="1727437"/>
                  <a:pt x="0" y="1687560"/>
                </a:cubicBezTo>
                <a:lnTo>
                  <a:pt x="0" y="72203"/>
                </a:lnTo>
                <a:cubicBezTo>
                  <a:pt x="0" y="32326"/>
                  <a:pt x="32326" y="0"/>
                  <a:pt x="722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417" y="1534152"/>
          <a:ext cx="11145167" cy="1750739"/>
        </p:xfrm>
        <a:graphic>
          <a:graphicData uri="http://schemas.openxmlformats.org/drawingml/2006/table">
            <a:tbl>
              <a:tblPr/>
              <a:tblGrid>
                <a:gridCol w="2987085"/>
                <a:gridCol w="1227322"/>
                <a:gridCol w="1218298"/>
                <a:gridCol w="1777812"/>
                <a:gridCol w="1173175"/>
                <a:gridCol w="1362688"/>
                <a:gridCol w="1398786"/>
              </a:tblGrid>
              <a:tr h="437685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8293" marR="108293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Reach (R)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Impact (I)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Confidence (C)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Effort (E)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RICE Score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Priority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8293" marR="108293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3768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Guided Investing Mode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9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Personalized recommendations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8293" marR="108293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9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387ED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9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387ED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9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387ED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80%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9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387ED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9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00D0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9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HIGHEST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8293" marR="108293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9C">
                        <a:alpha val="5000"/>
                      </a:srgbClr>
                    </a:solidFill>
                  </a:tcPr>
                </a:tc>
              </a:tr>
              <a:tr h="43768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Zerodha Varsity+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9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Gamified learning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8293" marR="108293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2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A7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2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A7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2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A7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80%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2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A7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2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A7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1.6M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2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8293" marR="108293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26">
                        <a:alpha val="5000"/>
                      </a:srgbClr>
                    </a:solidFill>
                  </a:tcPr>
                </a:tc>
              </a:tr>
              <a:tr h="43768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Invest Together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9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Community investing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8293" marR="108293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366F1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636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366F1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636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366F1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636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60%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366F1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636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366F1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636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0.16M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195" marR="72195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366F1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8293" marR="108293" marT="72195" marB="721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366F1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0977" y="3591722"/>
            <a:ext cx="5667340" cy="3266842"/>
          </a:xfrm>
          <a:custGeom>
            <a:avLst/>
            <a:gdLst/>
            <a:ahLst/>
            <a:cxnLst/>
            <a:rect l="l" t="t" r="r" b="b"/>
            <a:pathLst>
              <a:path w="5667340" h="3266842">
                <a:moveTo>
                  <a:pt x="108296" y="0"/>
                </a:moveTo>
                <a:lnTo>
                  <a:pt x="5559044" y="0"/>
                </a:lnTo>
                <a:cubicBezTo>
                  <a:pt x="5618854" y="0"/>
                  <a:pt x="5667340" y="48486"/>
                  <a:pt x="5667340" y="108296"/>
                </a:cubicBezTo>
                <a:lnTo>
                  <a:pt x="5667340" y="3158547"/>
                </a:lnTo>
                <a:cubicBezTo>
                  <a:pt x="5667340" y="3218357"/>
                  <a:pt x="5618854" y="3266842"/>
                  <a:pt x="5559044" y="3266842"/>
                </a:cubicBezTo>
                <a:lnTo>
                  <a:pt x="108296" y="3266842"/>
                </a:lnTo>
                <a:cubicBezTo>
                  <a:pt x="48486" y="3266842"/>
                  <a:pt x="0" y="3218357"/>
                  <a:pt x="0" y="3158547"/>
                </a:cubicBezTo>
                <a:lnTo>
                  <a:pt x="0" y="108296"/>
                </a:lnTo>
                <a:cubicBezTo>
                  <a:pt x="0" y="48526"/>
                  <a:pt x="48526" y="0"/>
                  <a:pt x="108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09C"/>
              </a:gs>
              <a:gs pos="100000">
                <a:srgbClr val="00B386"/>
              </a:gs>
            </a:gsLst>
            <a:lin ang="2700000" scaled="1"/>
          </a:gradFill>
          <a:ln/>
        </p:spPr>
      </p:sp>
      <p:sp>
        <p:nvSpPr>
          <p:cNvPr id="11" name="Text 8"/>
          <p:cNvSpPr/>
          <p:nvPr/>
        </p:nvSpPr>
        <p:spPr>
          <a:xfrm>
            <a:off x="505368" y="3736113"/>
            <a:ext cx="546880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Prioritized Solution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5368" y="4097090"/>
            <a:ext cx="5378558" cy="1588299"/>
          </a:xfrm>
          <a:custGeom>
            <a:avLst/>
            <a:gdLst/>
            <a:ahLst/>
            <a:cxnLst/>
            <a:rect l="l" t="t" r="r" b="b"/>
            <a:pathLst>
              <a:path w="5378558" h="1588299">
                <a:moveTo>
                  <a:pt x="72188" y="0"/>
                </a:moveTo>
                <a:lnTo>
                  <a:pt x="5306370" y="0"/>
                </a:lnTo>
                <a:cubicBezTo>
                  <a:pt x="5346238" y="0"/>
                  <a:pt x="5378558" y="32320"/>
                  <a:pt x="5378558" y="72188"/>
                </a:cubicBezTo>
                <a:lnTo>
                  <a:pt x="5378558" y="1516111"/>
                </a:lnTo>
                <a:cubicBezTo>
                  <a:pt x="5378558" y="1555979"/>
                  <a:pt x="5346238" y="1588299"/>
                  <a:pt x="5306370" y="1588299"/>
                </a:cubicBezTo>
                <a:lnTo>
                  <a:pt x="72188" y="1588299"/>
                </a:lnTo>
                <a:cubicBezTo>
                  <a:pt x="32320" y="1588299"/>
                  <a:pt x="0" y="1555979"/>
                  <a:pt x="0" y="1516111"/>
                </a:cubicBezTo>
                <a:lnTo>
                  <a:pt x="0" y="72188"/>
                </a:lnTo>
                <a:cubicBezTo>
                  <a:pt x="0" y="32346"/>
                  <a:pt x="32346" y="0"/>
                  <a:pt x="7218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13661" y="4205383"/>
            <a:ext cx="524319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Guided Investing Mode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1710" y="4557335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27402" y="4530262"/>
            <a:ext cx="501140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launch—highest impact and reach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1710" y="4773922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827402" y="4746848"/>
            <a:ext cx="501140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impact on newbie investors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1710" y="4990508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827402" y="4963434"/>
            <a:ext cx="501140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reach (5M users) with strong confidence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31710" y="5207094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827402" y="5180021"/>
            <a:ext cx="501140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Drives long-term engagement through personalized experience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31710" y="5423680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827402" y="5396607"/>
            <a:ext cx="501140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immediate trust by providing clear, actionable guidance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5368" y="6100512"/>
            <a:ext cx="5378558" cy="613661"/>
          </a:xfrm>
          <a:custGeom>
            <a:avLst/>
            <a:gdLst/>
            <a:ahLst/>
            <a:cxnLst/>
            <a:rect l="l" t="t" r="r" b="b"/>
            <a:pathLst>
              <a:path w="5378558" h="613661">
                <a:moveTo>
                  <a:pt x="72197" y="0"/>
                </a:moveTo>
                <a:lnTo>
                  <a:pt x="5306361" y="0"/>
                </a:lnTo>
                <a:cubicBezTo>
                  <a:pt x="5346234" y="0"/>
                  <a:pt x="5378558" y="32324"/>
                  <a:pt x="5378558" y="72197"/>
                </a:cubicBezTo>
                <a:lnTo>
                  <a:pt x="5378558" y="541464"/>
                </a:lnTo>
                <a:cubicBezTo>
                  <a:pt x="5378558" y="581337"/>
                  <a:pt x="5346234" y="613661"/>
                  <a:pt x="5306361" y="613661"/>
                </a:cubicBezTo>
                <a:lnTo>
                  <a:pt x="72197" y="613661"/>
                </a:lnTo>
                <a:cubicBezTo>
                  <a:pt x="32324" y="613661"/>
                  <a:pt x="0" y="581337"/>
                  <a:pt x="0" y="541464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23417" y="6172708"/>
            <a:ext cx="5342460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RICE Score: 3M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5978" y="6461489"/>
            <a:ext cx="529733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(Highest)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173131" y="3596234"/>
            <a:ext cx="5658315" cy="3257818"/>
          </a:xfrm>
          <a:custGeom>
            <a:avLst/>
            <a:gdLst/>
            <a:ahLst/>
            <a:cxnLst/>
            <a:rect l="l" t="t" r="r" b="b"/>
            <a:pathLst>
              <a:path w="5658315" h="3257818">
                <a:moveTo>
                  <a:pt x="108290" y="0"/>
                </a:moveTo>
                <a:lnTo>
                  <a:pt x="5550025" y="0"/>
                </a:lnTo>
                <a:cubicBezTo>
                  <a:pt x="5609832" y="0"/>
                  <a:pt x="5658315" y="48483"/>
                  <a:pt x="5658315" y="108290"/>
                </a:cubicBezTo>
                <a:lnTo>
                  <a:pt x="5658315" y="3149528"/>
                </a:lnTo>
                <a:cubicBezTo>
                  <a:pt x="5658315" y="3209335"/>
                  <a:pt x="5609832" y="3257818"/>
                  <a:pt x="5550025" y="3257818"/>
                </a:cubicBezTo>
                <a:lnTo>
                  <a:pt x="108290" y="3257818"/>
                </a:lnTo>
                <a:cubicBezTo>
                  <a:pt x="48483" y="3257818"/>
                  <a:pt x="0" y="3209335"/>
                  <a:pt x="0" y="3149528"/>
                </a:cubicBezTo>
                <a:lnTo>
                  <a:pt x="0" y="108290"/>
                </a:lnTo>
                <a:cubicBezTo>
                  <a:pt x="0" y="48523"/>
                  <a:pt x="48523" y="0"/>
                  <a:pt x="10829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7073" dist="9024" dir="5400000">
              <a:srgbClr val="000000">
                <a:alpha val="10196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22034" y="3745137"/>
            <a:ext cx="5450754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22034" y="4106114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30" name="Text 27"/>
          <p:cNvSpPr/>
          <p:nvPr/>
        </p:nvSpPr>
        <p:spPr>
          <a:xfrm>
            <a:off x="6473616" y="4178309"/>
            <a:ext cx="12634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791304" y="4106114"/>
            <a:ext cx="4891239" cy="649759"/>
          </a:xfrm>
          <a:custGeom>
            <a:avLst/>
            <a:gdLst/>
            <a:ahLst/>
            <a:cxnLst/>
            <a:rect l="l" t="t" r="r" b="b"/>
            <a:pathLst>
              <a:path w="4891239" h="649759">
                <a:moveTo>
                  <a:pt x="72195" y="0"/>
                </a:moveTo>
                <a:lnTo>
                  <a:pt x="4819044" y="0"/>
                </a:lnTo>
                <a:cubicBezTo>
                  <a:pt x="4858916" y="0"/>
                  <a:pt x="4891239" y="32323"/>
                  <a:pt x="4891239" y="72195"/>
                </a:cubicBezTo>
                <a:lnTo>
                  <a:pt x="4891239" y="577564"/>
                </a:lnTo>
                <a:cubicBezTo>
                  <a:pt x="4891239" y="617436"/>
                  <a:pt x="4858916" y="649759"/>
                  <a:pt x="4819044" y="649759"/>
                </a:cubicBezTo>
                <a:lnTo>
                  <a:pt x="72195" y="649759"/>
                </a:lnTo>
                <a:cubicBezTo>
                  <a:pt x="32349" y="649759"/>
                  <a:pt x="0" y="617409"/>
                  <a:pt x="0" y="577564"/>
                </a:cubicBezTo>
                <a:lnTo>
                  <a:pt x="0" y="72195"/>
                </a:lnTo>
                <a:cubicBezTo>
                  <a:pt x="0" y="32349"/>
                  <a:pt x="32349" y="0"/>
                  <a:pt x="72195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899597" y="4214407"/>
            <a:ext cx="474684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Guided Investing Mode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99597" y="4467091"/>
            <a:ext cx="473782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launch—highest impact and reach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22034" y="4864166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35" name="Text 32"/>
          <p:cNvSpPr/>
          <p:nvPr/>
        </p:nvSpPr>
        <p:spPr>
          <a:xfrm>
            <a:off x="6460502" y="4936361"/>
            <a:ext cx="15341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791304" y="4864166"/>
            <a:ext cx="4891239" cy="649759"/>
          </a:xfrm>
          <a:custGeom>
            <a:avLst/>
            <a:gdLst/>
            <a:ahLst/>
            <a:cxnLst/>
            <a:rect l="l" t="t" r="r" b="b"/>
            <a:pathLst>
              <a:path w="4891239" h="649759">
                <a:moveTo>
                  <a:pt x="72195" y="0"/>
                </a:moveTo>
                <a:lnTo>
                  <a:pt x="4819044" y="0"/>
                </a:lnTo>
                <a:cubicBezTo>
                  <a:pt x="4858916" y="0"/>
                  <a:pt x="4891239" y="32323"/>
                  <a:pt x="4891239" y="72195"/>
                </a:cubicBezTo>
                <a:lnTo>
                  <a:pt x="4891239" y="577564"/>
                </a:lnTo>
                <a:cubicBezTo>
                  <a:pt x="4891239" y="617436"/>
                  <a:pt x="4858916" y="649759"/>
                  <a:pt x="4819044" y="649759"/>
                </a:cubicBezTo>
                <a:lnTo>
                  <a:pt x="72195" y="649759"/>
                </a:lnTo>
                <a:cubicBezTo>
                  <a:pt x="32349" y="649759"/>
                  <a:pt x="0" y="617409"/>
                  <a:pt x="0" y="577564"/>
                </a:cubicBezTo>
                <a:lnTo>
                  <a:pt x="0" y="72195"/>
                </a:lnTo>
                <a:cubicBezTo>
                  <a:pt x="0" y="32349"/>
                  <a:pt x="32349" y="0"/>
                  <a:pt x="72195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6899597" y="4972459"/>
            <a:ext cx="474684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Zerodha Varsity+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899597" y="5225143"/>
            <a:ext cx="473782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development—complements guided mode with education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322034" y="5622218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7"/>
          <p:cNvSpPr/>
          <p:nvPr/>
        </p:nvSpPr>
        <p:spPr>
          <a:xfrm>
            <a:off x="6459797" y="5694413"/>
            <a:ext cx="15341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791304" y="5622218"/>
            <a:ext cx="4891239" cy="649759"/>
          </a:xfrm>
          <a:custGeom>
            <a:avLst/>
            <a:gdLst/>
            <a:ahLst/>
            <a:cxnLst/>
            <a:rect l="l" t="t" r="r" b="b"/>
            <a:pathLst>
              <a:path w="4891239" h="649759">
                <a:moveTo>
                  <a:pt x="72195" y="0"/>
                </a:moveTo>
                <a:lnTo>
                  <a:pt x="4819044" y="0"/>
                </a:lnTo>
                <a:cubicBezTo>
                  <a:pt x="4858916" y="0"/>
                  <a:pt x="4891239" y="32323"/>
                  <a:pt x="4891239" y="72195"/>
                </a:cubicBezTo>
                <a:lnTo>
                  <a:pt x="4891239" y="577564"/>
                </a:lnTo>
                <a:cubicBezTo>
                  <a:pt x="4891239" y="617436"/>
                  <a:pt x="4858916" y="649759"/>
                  <a:pt x="4819044" y="649759"/>
                </a:cubicBezTo>
                <a:lnTo>
                  <a:pt x="72195" y="649759"/>
                </a:lnTo>
                <a:cubicBezTo>
                  <a:pt x="32349" y="649759"/>
                  <a:pt x="0" y="617409"/>
                  <a:pt x="0" y="577564"/>
                </a:cubicBezTo>
                <a:lnTo>
                  <a:pt x="0" y="72195"/>
                </a:lnTo>
                <a:cubicBezTo>
                  <a:pt x="0" y="32349"/>
                  <a:pt x="32349" y="0"/>
                  <a:pt x="7219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6899597" y="5730511"/>
            <a:ext cx="474684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Invest Together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899597" y="5983195"/>
            <a:ext cx="473782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enhancement—social layer for advanced users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22034" y="6380269"/>
            <a:ext cx="5360509" cy="324879"/>
          </a:xfrm>
          <a:custGeom>
            <a:avLst/>
            <a:gdLst/>
            <a:ahLst/>
            <a:cxnLst/>
            <a:rect l="l" t="t" r="r" b="b"/>
            <a:pathLst>
              <a:path w="5360509" h="324879">
                <a:moveTo>
                  <a:pt x="72195" y="0"/>
                </a:moveTo>
                <a:lnTo>
                  <a:pt x="5288315" y="0"/>
                </a:lnTo>
                <a:cubicBezTo>
                  <a:pt x="5328187" y="0"/>
                  <a:pt x="5360509" y="32323"/>
                  <a:pt x="5360509" y="72195"/>
                </a:cubicBezTo>
                <a:lnTo>
                  <a:pt x="5360509" y="252685"/>
                </a:lnTo>
                <a:cubicBezTo>
                  <a:pt x="5360509" y="292557"/>
                  <a:pt x="5328187" y="324879"/>
                  <a:pt x="5288315" y="324879"/>
                </a:cubicBezTo>
                <a:lnTo>
                  <a:pt x="72195" y="324879"/>
                </a:lnTo>
                <a:cubicBezTo>
                  <a:pt x="32323" y="324879"/>
                  <a:pt x="0" y="292557"/>
                  <a:pt x="0" y="252685"/>
                </a:cubicBezTo>
                <a:lnTo>
                  <a:pt x="0" y="72195"/>
                </a:lnTo>
                <a:cubicBezTo>
                  <a:pt x="0" y="32349"/>
                  <a:pt x="32349" y="0"/>
                  <a:pt x="72195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45" name="Shape 42"/>
          <p:cNvSpPr/>
          <p:nvPr/>
        </p:nvSpPr>
        <p:spPr>
          <a:xfrm>
            <a:off x="7397632" y="6479538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55275" y="39482"/>
                </a:moveTo>
                <a:cubicBezTo>
                  <a:pt x="55275" y="35124"/>
                  <a:pt x="58813" y="31585"/>
                  <a:pt x="63171" y="31585"/>
                </a:cubicBezTo>
                <a:cubicBezTo>
                  <a:pt x="67529" y="31585"/>
                  <a:pt x="71067" y="35124"/>
                  <a:pt x="71067" y="39482"/>
                </a:cubicBezTo>
                <a:cubicBezTo>
                  <a:pt x="71067" y="43840"/>
                  <a:pt x="67529" y="47378"/>
                  <a:pt x="63171" y="47378"/>
                </a:cubicBezTo>
                <a:cubicBezTo>
                  <a:pt x="58813" y="47378"/>
                  <a:pt x="55275" y="43840"/>
                  <a:pt x="55275" y="39482"/>
                </a:cubicBezTo>
                <a:close/>
                <a:moveTo>
                  <a:pt x="53301" y="55275"/>
                </a:moveTo>
                <a:lnTo>
                  <a:pt x="65145" y="55275"/>
                </a:lnTo>
                <a:cubicBezTo>
                  <a:pt x="68427" y="55275"/>
                  <a:pt x="71067" y="57915"/>
                  <a:pt x="71067" y="61197"/>
                </a:cubicBezTo>
                <a:lnTo>
                  <a:pt x="71067" y="82912"/>
                </a:lnTo>
                <a:lnTo>
                  <a:pt x="73041" y="82912"/>
                </a:lnTo>
                <a:cubicBezTo>
                  <a:pt x="76323" y="82912"/>
                  <a:pt x="78964" y="85552"/>
                  <a:pt x="78964" y="88834"/>
                </a:cubicBezTo>
                <a:cubicBezTo>
                  <a:pt x="78964" y="92116"/>
                  <a:pt x="76323" y="94756"/>
                  <a:pt x="73041" y="94756"/>
                </a:cubicBezTo>
                <a:lnTo>
                  <a:pt x="53301" y="94756"/>
                </a:lnTo>
                <a:cubicBezTo>
                  <a:pt x="50019" y="94756"/>
                  <a:pt x="47378" y="92116"/>
                  <a:pt x="47378" y="88834"/>
                </a:cubicBezTo>
                <a:cubicBezTo>
                  <a:pt x="47378" y="85552"/>
                  <a:pt x="50019" y="82912"/>
                  <a:pt x="53301" y="82912"/>
                </a:cubicBezTo>
                <a:lnTo>
                  <a:pt x="59223" y="82912"/>
                </a:lnTo>
                <a:lnTo>
                  <a:pt x="59223" y="67119"/>
                </a:lnTo>
                <a:lnTo>
                  <a:pt x="53301" y="67119"/>
                </a:lnTo>
                <a:cubicBezTo>
                  <a:pt x="50019" y="67119"/>
                  <a:pt x="47378" y="64479"/>
                  <a:pt x="47378" y="61197"/>
                </a:cubicBezTo>
                <a:cubicBezTo>
                  <a:pt x="47378" y="57915"/>
                  <a:pt x="50019" y="55275"/>
                  <a:pt x="53301" y="552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3"/>
          <p:cNvSpPr/>
          <p:nvPr/>
        </p:nvSpPr>
        <p:spPr>
          <a:xfrm>
            <a:off x="6576384" y="6452465"/>
            <a:ext cx="506554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RICE Framework:</a:t>
            </a:r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Reach × Impact × Confidence ÷ Effort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81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 &amp; TRADE-OFFS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609600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Framework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104900"/>
            <a:ext cx="7572375" cy="1400175"/>
          </a:xfrm>
          <a:custGeom>
            <a:avLst/>
            <a:gdLst/>
            <a:ahLst/>
            <a:cxnLst/>
            <a:rect l="l" t="t" r="r" b="b"/>
            <a:pathLst>
              <a:path w="7572375" h="1400175">
                <a:moveTo>
                  <a:pt x="114296" y="0"/>
                </a:moveTo>
                <a:lnTo>
                  <a:pt x="7458079" y="0"/>
                </a:lnTo>
                <a:cubicBezTo>
                  <a:pt x="7521161" y="0"/>
                  <a:pt x="7572375" y="51214"/>
                  <a:pt x="7572375" y="114296"/>
                </a:cubicBezTo>
                <a:lnTo>
                  <a:pt x="7572375" y="1285879"/>
                </a:lnTo>
                <a:cubicBezTo>
                  <a:pt x="7572375" y="1348961"/>
                  <a:pt x="7521161" y="1400175"/>
                  <a:pt x="7458079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/>
              </a:gs>
              <a:gs pos="100000">
                <a:srgbClr val="0056B3"/>
              </a:gs>
            </a:gsLst>
            <a:lin ang="270000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533400" y="1257300"/>
            <a:ext cx="736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North Star Metric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1600200"/>
            <a:ext cx="7267575" cy="752475"/>
          </a:xfrm>
          <a:custGeom>
            <a:avLst/>
            <a:gdLst/>
            <a:ahLst/>
            <a:cxnLst/>
            <a:rect l="l" t="t" r="r" b="b"/>
            <a:pathLst>
              <a:path w="7267575" h="752475">
                <a:moveTo>
                  <a:pt x="76203" y="0"/>
                </a:moveTo>
                <a:lnTo>
                  <a:pt x="7191372" y="0"/>
                </a:lnTo>
                <a:cubicBezTo>
                  <a:pt x="7233430" y="0"/>
                  <a:pt x="7267575" y="34145"/>
                  <a:pt x="7267575" y="76203"/>
                </a:cubicBezTo>
                <a:lnTo>
                  <a:pt x="7267575" y="676272"/>
                </a:lnTo>
                <a:cubicBezTo>
                  <a:pt x="7267575" y="718330"/>
                  <a:pt x="7233430" y="752475"/>
                  <a:pt x="7191372" y="752475"/>
                </a:cubicBezTo>
                <a:lnTo>
                  <a:pt x="76203" y="752475"/>
                </a:lnTo>
                <a:cubicBezTo>
                  <a:pt x="34145" y="752475"/>
                  <a:pt x="0" y="718330"/>
                  <a:pt x="0" y="6762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7700" y="1714500"/>
            <a:ext cx="712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Long-Term Investors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019300"/>
            <a:ext cx="71056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users who transition from first-time investors to active, long-term wealth builders using Zerodha's platform.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2659856"/>
            <a:ext cx="3695700" cy="3524250"/>
          </a:xfrm>
          <a:custGeom>
            <a:avLst/>
            <a:gdLst/>
            <a:ahLst/>
            <a:cxnLst/>
            <a:rect l="l" t="t" r="r" b="b"/>
            <a:pathLst>
              <a:path w="3695700" h="3524250">
                <a:moveTo>
                  <a:pt x="114291" y="0"/>
                </a:moveTo>
                <a:lnTo>
                  <a:pt x="3581409" y="0"/>
                </a:lnTo>
                <a:cubicBezTo>
                  <a:pt x="3644530" y="0"/>
                  <a:pt x="3695700" y="51170"/>
                  <a:pt x="3695700" y="114291"/>
                </a:cubicBezTo>
                <a:lnTo>
                  <a:pt x="3695700" y="3409959"/>
                </a:lnTo>
                <a:cubicBezTo>
                  <a:pt x="3695700" y="3473080"/>
                  <a:pt x="3644530" y="3524250"/>
                  <a:pt x="3581409" y="3524250"/>
                </a:cubicBezTo>
                <a:lnTo>
                  <a:pt x="114291" y="3524250"/>
                </a:lnTo>
                <a:cubicBezTo>
                  <a:pt x="51170" y="3524250"/>
                  <a:pt x="0" y="3473080"/>
                  <a:pt x="0" y="3409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2925" y="2817019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Adoption Metrics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2925" y="3198019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19125" y="3274219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% Users Enabling Guided Mode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125" y="3502819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D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40% of new users within 6 months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3807619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17" name="Text 15"/>
          <p:cNvSpPr/>
          <p:nvPr/>
        </p:nvSpPr>
        <p:spPr>
          <a:xfrm>
            <a:off x="619125" y="3883819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% Completing Onboarding 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125" y="4112419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D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70% completion rate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925" y="4417219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19125" y="4493419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Investment Conversion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125" y="4722019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users making at least 1 investment per month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2925" y="5026819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23" name="Text 21"/>
          <p:cNvSpPr/>
          <p:nvPr/>
        </p:nvSpPr>
        <p:spPr>
          <a:xfrm>
            <a:off x="619125" y="5103019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SIPs/Portfolios Created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9125" y="5331619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D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50% of guided mode users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6513" y="2659856"/>
            <a:ext cx="3695700" cy="3524250"/>
          </a:xfrm>
          <a:custGeom>
            <a:avLst/>
            <a:gdLst/>
            <a:ahLst/>
            <a:cxnLst/>
            <a:rect l="l" t="t" r="r" b="b"/>
            <a:pathLst>
              <a:path w="3695700" h="3524250">
                <a:moveTo>
                  <a:pt x="114291" y="0"/>
                </a:moveTo>
                <a:lnTo>
                  <a:pt x="3581409" y="0"/>
                </a:lnTo>
                <a:cubicBezTo>
                  <a:pt x="3644530" y="0"/>
                  <a:pt x="3695700" y="51170"/>
                  <a:pt x="3695700" y="114291"/>
                </a:cubicBezTo>
                <a:lnTo>
                  <a:pt x="3695700" y="3409959"/>
                </a:lnTo>
                <a:cubicBezTo>
                  <a:pt x="3695700" y="3473080"/>
                  <a:pt x="3644530" y="3524250"/>
                  <a:pt x="3581409" y="3524250"/>
                </a:cubicBezTo>
                <a:lnTo>
                  <a:pt x="114291" y="3524250"/>
                </a:lnTo>
                <a:cubicBezTo>
                  <a:pt x="51170" y="3524250"/>
                  <a:pt x="0" y="3473080"/>
                  <a:pt x="0" y="3409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03675" y="2817019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Retention Metrics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3675" y="3198019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4479875" y="3274219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Active Investors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79875" y="3502819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users making at least 1 investment per month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03675" y="3807619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31" name="Text 29"/>
          <p:cNvSpPr/>
          <p:nvPr/>
        </p:nvSpPr>
        <p:spPr>
          <a:xfrm>
            <a:off x="4479875" y="3883819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Investments (3M)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79875" y="4112419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% users making 2nd+ investment within 90 days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03675" y="4417219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34" name="Text 32"/>
          <p:cNvSpPr/>
          <p:nvPr/>
        </p:nvSpPr>
        <p:spPr>
          <a:xfrm>
            <a:off x="4479875" y="4493419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Investment per New User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79875" y="4722019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growth in investment amounts over time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03675" y="5026819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37" name="Text 35"/>
          <p:cNvSpPr/>
          <p:nvPr/>
        </p:nvSpPr>
        <p:spPr>
          <a:xfrm>
            <a:off x="4479875" y="5103019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Portfolio Growth Rate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79875" y="5331619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increase in investment value over 6-12 months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07263" y="1109663"/>
            <a:ext cx="3695700" cy="3248025"/>
          </a:xfrm>
          <a:custGeom>
            <a:avLst/>
            <a:gdLst/>
            <a:ahLst/>
            <a:cxnLst/>
            <a:rect l="l" t="t" r="r" b="b"/>
            <a:pathLst>
              <a:path w="3695700" h="3248025">
                <a:moveTo>
                  <a:pt x="114298" y="0"/>
                </a:moveTo>
                <a:lnTo>
                  <a:pt x="3581402" y="0"/>
                </a:lnTo>
                <a:cubicBezTo>
                  <a:pt x="3644485" y="0"/>
                  <a:pt x="3695700" y="51215"/>
                  <a:pt x="3695700" y="114298"/>
                </a:cubicBezTo>
                <a:lnTo>
                  <a:pt x="3695700" y="3133727"/>
                </a:lnTo>
                <a:cubicBezTo>
                  <a:pt x="3695700" y="3196810"/>
                  <a:pt x="3644485" y="3248025"/>
                  <a:pt x="3581402" y="3248025"/>
                </a:cubicBezTo>
                <a:lnTo>
                  <a:pt x="114298" y="3248025"/>
                </a:lnTo>
                <a:cubicBezTo>
                  <a:pt x="51215" y="3248025"/>
                  <a:pt x="0" y="3196810"/>
                  <a:pt x="0" y="3133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64426" y="1266825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Metrics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64426" y="164782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42" name="Text 40"/>
          <p:cNvSpPr/>
          <p:nvPr/>
        </p:nvSpPr>
        <p:spPr>
          <a:xfrm>
            <a:off x="8340626" y="174307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Portfolio Views/User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67901" y="1724025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7E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64426" y="214312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45" name="Text 43"/>
          <p:cNvSpPr/>
          <p:nvPr/>
        </p:nvSpPr>
        <p:spPr>
          <a:xfrm>
            <a:off x="8340626" y="2238375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on Varsity+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649099" y="2219325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15+ min/week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64426" y="263842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48" name="Text 46"/>
          <p:cNvSpPr/>
          <p:nvPr/>
        </p:nvSpPr>
        <p:spPr>
          <a:xfrm>
            <a:off x="8340626" y="2733675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Investments per User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018193" y="2714625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A7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64426" y="313372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51" name="Text 49"/>
          <p:cNvSpPr/>
          <p:nvPr/>
        </p:nvSpPr>
        <p:spPr>
          <a:xfrm>
            <a:off x="8340626" y="3228975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Discovery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364539" y="3209925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 within 7 days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64426" y="366712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340626" y="37433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→ Investing Progression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40626" y="3971925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% users moving from Varsity to actual investing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102501" y="4514850"/>
            <a:ext cx="3705225" cy="1676400"/>
          </a:xfrm>
          <a:custGeom>
            <a:avLst/>
            <a:gdLst/>
            <a:ahLst/>
            <a:cxnLst/>
            <a:rect l="l" t="t" r="r" b="b"/>
            <a:pathLst>
              <a:path w="3705225" h="1676400">
                <a:moveTo>
                  <a:pt x="114297" y="0"/>
                </a:moveTo>
                <a:lnTo>
                  <a:pt x="3590928" y="0"/>
                </a:lnTo>
                <a:cubicBezTo>
                  <a:pt x="3654053" y="0"/>
                  <a:pt x="3705225" y="51172"/>
                  <a:pt x="3705225" y="114297"/>
                </a:cubicBezTo>
                <a:lnTo>
                  <a:pt x="3705225" y="1562103"/>
                </a:lnTo>
                <a:cubicBezTo>
                  <a:pt x="3705225" y="1625228"/>
                  <a:pt x="3654053" y="1676400"/>
                  <a:pt x="3590928" y="1676400"/>
                </a:cubicBezTo>
                <a:lnTo>
                  <a:pt x="114297" y="1676400"/>
                </a:lnTo>
                <a:cubicBezTo>
                  <a:pt x="51172" y="1676400"/>
                  <a:pt x="0" y="1625228"/>
                  <a:pt x="0" y="15621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726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57" name="Text 55"/>
          <p:cNvSpPr/>
          <p:nvPr/>
        </p:nvSpPr>
        <p:spPr>
          <a:xfrm>
            <a:off x="8254901" y="466725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Measurement Cadence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54901" y="5105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8407301" y="504825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Active users, onboarding completion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54901" y="5372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8407301" y="5314950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Engagement, feature adoption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54901" y="5638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8407301" y="5581650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Retention, portfolio growth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54901" y="5905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8407301" y="5848350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Quarterly: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North star, strategic review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81000" y="6343650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380998"/>
                </a:lnTo>
                <a:cubicBezTo>
                  <a:pt x="11430000" y="423083"/>
                  <a:pt x="11395883" y="457200"/>
                  <a:pt x="1135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>
                  <a:alpha val="10000"/>
                </a:srgbClr>
              </a:gs>
              <a:gs pos="100000">
                <a:srgbClr val="00D09C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67" name="Shape 65"/>
          <p:cNvSpPr/>
          <p:nvPr/>
        </p:nvSpPr>
        <p:spPr>
          <a:xfrm>
            <a:off x="2810768" y="6496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68" name="Text 66"/>
          <p:cNvSpPr/>
          <p:nvPr/>
        </p:nvSpPr>
        <p:spPr>
          <a:xfrm>
            <a:off x="704850" y="6457950"/>
            <a:ext cx="1102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Metrics Framework: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Comprehensive metrics framework for measuring solution success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406" y="419257"/>
            <a:ext cx="335406" cy="335406"/>
          </a:xfrm>
          <a:custGeom>
            <a:avLst/>
            <a:gdLst/>
            <a:ahLst/>
            <a:cxnLst/>
            <a:rect l="l" t="t" r="r" b="b"/>
            <a:pathLst>
              <a:path w="335406" h="335406">
                <a:moveTo>
                  <a:pt x="67081" y="0"/>
                </a:moveTo>
                <a:lnTo>
                  <a:pt x="268325" y="0"/>
                </a:lnTo>
                <a:cubicBezTo>
                  <a:pt x="305373" y="0"/>
                  <a:pt x="335406" y="30033"/>
                  <a:pt x="335406" y="67081"/>
                </a:cubicBezTo>
                <a:lnTo>
                  <a:pt x="335406" y="268325"/>
                </a:lnTo>
                <a:cubicBezTo>
                  <a:pt x="335406" y="305373"/>
                  <a:pt x="305373" y="335406"/>
                  <a:pt x="268325" y="335406"/>
                </a:cubicBezTo>
                <a:lnTo>
                  <a:pt x="67081" y="335406"/>
                </a:lnTo>
                <a:cubicBezTo>
                  <a:pt x="30033" y="335406"/>
                  <a:pt x="0" y="305373"/>
                  <a:pt x="0" y="268325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3" name="Shape 1"/>
          <p:cNvSpPr/>
          <p:nvPr/>
        </p:nvSpPr>
        <p:spPr>
          <a:xfrm>
            <a:off x="429739" y="511494"/>
            <a:ext cx="150933" cy="150933"/>
          </a:xfrm>
          <a:custGeom>
            <a:avLst/>
            <a:gdLst/>
            <a:ahLst/>
            <a:cxnLst/>
            <a:rect l="l" t="t" r="r" b="b"/>
            <a:pathLst>
              <a:path w="150933" h="150933">
                <a:moveTo>
                  <a:pt x="75466" y="0"/>
                </a:moveTo>
                <a:cubicBezTo>
                  <a:pt x="79800" y="0"/>
                  <a:pt x="83779" y="2388"/>
                  <a:pt x="85843" y="6191"/>
                </a:cubicBezTo>
                <a:lnTo>
                  <a:pt x="149518" y="124107"/>
                </a:lnTo>
                <a:cubicBezTo>
                  <a:pt x="151493" y="127762"/>
                  <a:pt x="151404" y="132184"/>
                  <a:pt x="149282" y="135751"/>
                </a:cubicBezTo>
                <a:cubicBezTo>
                  <a:pt x="147159" y="139318"/>
                  <a:pt x="143298" y="141499"/>
                  <a:pt x="139141" y="141499"/>
                </a:cubicBezTo>
                <a:lnTo>
                  <a:pt x="11792" y="141499"/>
                </a:lnTo>
                <a:cubicBezTo>
                  <a:pt x="7635" y="141499"/>
                  <a:pt x="3803" y="139318"/>
                  <a:pt x="1651" y="135751"/>
                </a:cubicBezTo>
                <a:cubicBezTo>
                  <a:pt x="-501" y="132184"/>
                  <a:pt x="-560" y="127762"/>
                  <a:pt x="1415" y="124107"/>
                </a:cubicBezTo>
                <a:lnTo>
                  <a:pt x="65090" y="6191"/>
                </a:lnTo>
                <a:cubicBezTo>
                  <a:pt x="67153" y="2388"/>
                  <a:pt x="71133" y="0"/>
                  <a:pt x="75466" y="0"/>
                </a:cubicBezTo>
                <a:close/>
                <a:moveTo>
                  <a:pt x="75466" y="49525"/>
                </a:moveTo>
                <a:cubicBezTo>
                  <a:pt x="71546" y="49525"/>
                  <a:pt x="68391" y="52679"/>
                  <a:pt x="68391" y="56600"/>
                </a:cubicBezTo>
                <a:lnTo>
                  <a:pt x="68391" y="89616"/>
                </a:lnTo>
                <a:cubicBezTo>
                  <a:pt x="68391" y="93537"/>
                  <a:pt x="71546" y="96691"/>
                  <a:pt x="75466" y="96691"/>
                </a:cubicBezTo>
                <a:cubicBezTo>
                  <a:pt x="79387" y="96691"/>
                  <a:pt x="82541" y="93537"/>
                  <a:pt x="82541" y="89616"/>
                </a:cubicBezTo>
                <a:lnTo>
                  <a:pt x="82541" y="56600"/>
                </a:lnTo>
                <a:cubicBezTo>
                  <a:pt x="82541" y="52679"/>
                  <a:pt x="79387" y="49525"/>
                  <a:pt x="75466" y="49525"/>
                </a:cubicBezTo>
                <a:close/>
                <a:moveTo>
                  <a:pt x="83337" y="113199"/>
                </a:moveTo>
                <a:cubicBezTo>
                  <a:pt x="83516" y="110278"/>
                  <a:pt x="82059" y="107498"/>
                  <a:pt x="79555" y="105983"/>
                </a:cubicBezTo>
                <a:cubicBezTo>
                  <a:pt x="77050" y="104468"/>
                  <a:pt x="73912" y="104468"/>
                  <a:pt x="71407" y="105983"/>
                </a:cubicBezTo>
                <a:cubicBezTo>
                  <a:pt x="68903" y="107498"/>
                  <a:pt x="67446" y="110278"/>
                  <a:pt x="67625" y="113199"/>
                </a:cubicBezTo>
                <a:cubicBezTo>
                  <a:pt x="67446" y="116121"/>
                  <a:pt x="68903" y="118901"/>
                  <a:pt x="71407" y="120416"/>
                </a:cubicBezTo>
                <a:cubicBezTo>
                  <a:pt x="73912" y="121931"/>
                  <a:pt x="77050" y="121931"/>
                  <a:pt x="79555" y="120416"/>
                </a:cubicBezTo>
                <a:cubicBezTo>
                  <a:pt x="82059" y="118901"/>
                  <a:pt x="83516" y="116121"/>
                  <a:pt x="83337" y="11319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71433" y="335406"/>
            <a:ext cx="3345673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spc="53" kern="0" dirty="0">
                <a:solidFill>
                  <a:srgbClr val="FFA7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PITFALLS &amp; GTM STRATEGY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1433" y="536649"/>
            <a:ext cx="3404369" cy="301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81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Mitigation &amp; Launch Plan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598" y="976869"/>
            <a:ext cx="5668358" cy="5341337"/>
          </a:xfrm>
          <a:custGeom>
            <a:avLst/>
            <a:gdLst/>
            <a:ahLst/>
            <a:cxnLst/>
            <a:rect l="l" t="t" r="r" b="b"/>
            <a:pathLst>
              <a:path w="5668358" h="5341337">
                <a:moveTo>
                  <a:pt x="100631" y="0"/>
                </a:moveTo>
                <a:lnTo>
                  <a:pt x="5567727" y="0"/>
                </a:lnTo>
                <a:cubicBezTo>
                  <a:pt x="5623304" y="0"/>
                  <a:pt x="5668358" y="45054"/>
                  <a:pt x="5668358" y="100631"/>
                </a:cubicBezTo>
                <a:lnTo>
                  <a:pt x="5668358" y="5240706"/>
                </a:lnTo>
                <a:cubicBezTo>
                  <a:pt x="5668358" y="5296283"/>
                  <a:pt x="5623304" y="5341337"/>
                  <a:pt x="5567727" y="5341337"/>
                </a:cubicBezTo>
                <a:lnTo>
                  <a:pt x="100631" y="5341337"/>
                </a:lnTo>
                <a:cubicBezTo>
                  <a:pt x="45054" y="5341337"/>
                  <a:pt x="0" y="5296283"/>
                  <a:pt x="0" y="5240706"/>
                </a:cubicBezTo>
                <a:lnTo>
                  <a:pt x="0" y="100631"/>
                </a:lnTo>
                <a:cubicBezTo>
                  <a:pt x="0" y="45054"/>
                  <a:pt x="45054" y="0"/>
                  <a:pt x="10063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5155" dist="8385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7953" y="1115224"/>
            <a:ext cx="5475499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Potential Pitfalls &amp; Mitigation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4724" y="1450630"/>
            <a:ext cx="5374878" cy="1509326"/>
          </a:xfrm>
          <a:custGeom>
            <a:avLst/>
            <a:gdLst/>
            <a:ahLst/>
            <a:cxnLst/>
            <a:rect l="l" t="t" r="r" b="b"/>
            <a:pathLst>
              <a:path w="5374878" h="1509326">
                <a:moveTo>
                  <a:pt x="33541" y="0"/>
                </a:moveTo>
                <a:lnTo>
                  <a:pt x="5307803" y="0"/>
                </a:lnTo>
                <a:cubicBezTo>
                  <a:pt x="5344847" y="0"/>
                  <a:pt x="5374878" y="30030"/>
                  <a:pt x="5374878" y="67074"/>
                </a:cubicBezTo>
                <a:lnTo>
                  <a:pt x="5374878" y="1442252"/>
                </a:lnTo>
                <a:cubicBezTo>
                  <a:pt x="5374878" y="1479296"/>
                  <a:pt x="5344847" y="1509326"/>
                  <a:pt x="5307803" y="1509326"/>
                </a:cubicBezTo>
                <a:lnTo>
                  <a:pt x="33541" y="1509326"/>
                </a:lnTo>
                <a:cubicBezTo>
                  <a:pt x="15017" y="1509326"/>
                  <a:pt x="0" y="1494309"/>
                  <a:pt x="0" y="147578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9" name="Shape 7"/>
          <p:cNvSpPr/>
          <p:nvPr/>
        </p:nvSpPr>
        <p:spPr>
          <a:xfrm>
            <a:off x="494724" y="1450630"/>
            <a:ext cx="33541" cy="1509326"/>
          </a:xfrm>
          <a:custGeom>
            <a:avLst/>
            <a:gdLst/>
            <a:ahLst/>
            <a:cxnLst/>
            <a:rect l="l" t="t" r="r" b="b"/>
            <a:pathLst>
              <a:path w="33541" h="1509326">
                <a:moveTo>
                  <a:pt x="33541" y="0"/>
                </a:moveTo>
                <a:lnTo>
                  <a:pt x="33541" y="0"/>
                </a:lnTo>
                <a:lnTo>
                  <a:pt x="33541" y="1509326"/>
                </a:lnTo>
                <a:lnTo>
                  <a:pt x="33541" y="1509326"/>
                </a:lnTo>
                <a:cubicBezTo>
                  <a:pt x="15017" y="1509326"/>
                  <a:pt x="0" y="1494309"/>
                  <a:pt x="0" y="147578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10" name="Shape 8"/>
          <p:cNvSpPr/>
          <p:nvPr/>
        </p:nvSpPr>
        <p:spPr>
          <a:xfrm>
            <a:off x="628886" y="1584792"/>
            <a:ext cx="134162" cy="134162"/>
          </a:xfrm>
          <a:custGeom>
            <a:avLst/>
            <a:gdLst/>
            <a:ahLst/>
            <a:cxnLst/>
            <a:rect l="l" t="t" r="r" b="b"/>
            <a:pathLst>
              <a:path w="134162" h="134162">
                <a:moveTo>
                  <a:pt x="67081" y="134162"/>
                </a:moveTo>
                <a:cubicBezTo>
                  <a:pt x="104104" y="134162"/>
                  <a:pt x="134162" y="104104"/>
                  <a:pt x="134162" y="67081"/>
                </a:cubicBezTo>
                <a:cubicBezTo>
                  <a:pt x="134162" y="30058"/>
                  <a:pt x="104104" y="0"/>
                  <a:pt x="67081" y="0"/>
                </a:cubicBezTo>
                <a:cubicBezTo>
                  <a:pt x="30058" y="0"/>
                  <a:pt x="0" y="30058"/>
                  <a:pt x="0" y="67081"/>
                </a:cubicBezTo>
                <a:cubicBezTo>
                  <a:pt x="0" y="104104"/>
                  <a:pt x="30058" y="134162"/>
                  <a:pt x="67081" y="134162"/>
                </a:cubicBezTo>
                <a:close/>
                <a:moveTo>
                  <a:pt x="67081" y="35637"/>
                </a:moveTo>
                <a:cubicBezTo>
                  <a:pt x="70566" y="35637"/>
                  <a:pt x="73370" y="38441"/>
                  <a:pt x="73370" y="41926"/>
                </a:cubicBezTo>
                <a:lnTo>
                  <a:pt x="73370" y="71274"/>
                </a:lnTo>
                <a:cubicBezTo>
                  <a:pt x="73370" y="74759"/>
                  <a:pt x="70566" y="77563"/>
                  <a:pt x="67081" y="77563"/>
                </a:cubicBezTo>
                <a:cubicBezTo>
                  <a:pt x="63596" y="77563"/>
                  <a:pt x="60792" y="74759"/>
                  <a:pt x="60792" y="71274"/>
                </a:cubicBezTo>
                <a:lnTo>
                  <a:pt x="60792" y="41926"/>
                </a:lnTo>
                <a:cubicBezTo>
                  <a:pt x="60792" y="38441"/>
                  <a:pt x="63596" y="35637"/>
                  <a:pt x="67081" y="35637"/>
                </a:cubicBezTo>
                <a:close/>
                <a:moveTo>
                  <a:pt x="60085" y="92237"/>
                </a:moveTo>
                <a:cubicBezTo>
                  <a:pt x="59926" y="89640"/>
                  <a:pt x="61221" y="87169"/>
                  <a:pt x="63447" y="85822"/>
                </a:cubicBezTo>
                <a:cubicBezTo>
                  <a:pt x="65673" y="84476"/>
                  <a:pt x="68463" y="84476"/>
                  <a:pt x="70689" y="85822"/>
                </a:cubicBezTo>
                <a:cubicBezTo>
                  <a:pt x="72915" y="87169"/>
                  <a:pt x="74210" y="89640"/>
                  <a:pt x="74051" y="92237"/>
                </a:cubicBezTo>
                <a:cubicBezTo>
                  <a:pt x="74210" y="94834"/>
                  <a:pt x="72915" y="97304"/>
                  <a:pt x="70689" y="98651"/>
                </a:cubicBezTo>
                <a:cubicBezTo>
                  <a:pt x="68463" y="99998"/>
                  <a:pt x="65673" y="99998"/>
                  <a:pt x="63447" y="98651"/>
                </a:cubicBezTo>
                <a:cubicBezTo>
                  <a:pt x="61221" y="97304"/>
                  <a:pt x="59926" y="94834"/>
                  <a:pt x="60085" y="92237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11" name="Text 9"/>
          <p:cNvSpPr/>
          <p:nvPr/>
        </p:nvSpPr>
        <p:spPr>
          <a:xfrm>
            <a:off x="779818" y="1551252"/>
            <a:ext cx="5056242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Pitfall: Users Ignore Guided Features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116" y="1819576"/>
            <a:ext cx="521556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may continue self-trading and not engage with guided mode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116" y="2054360"/>
            <a:ext cx="5156864" cy="804974"/>
          </a:xfrm>
          <a:custGeom>
            <a:avLst/>
            <a:gdLst/>
            <a:ahLst/>
            <a:cxnLst/>
            <a:rect l="l" t="t" r="r" b="b"/>
            <a:pathLst>
              <a:path w="5156864" h="804974">
                <a:moveTo>
                  <a:pt x="67078" y="0"/>
                </a:moveTo>
                <a:lnTo>
                  <a:pt x="5089785" y="0"/>
                </a:lnTo>
                <a:cubicBezTo>
                  <a:pt x="5126832" y="0"/>
                  <a:pt x="5156864" y="30032"/>
                  <a:pt x="5156864" y="67078"/>
                </a:cubicBezTo>
                <a:lnTo>
                  <a:pt x="5156864" y="737895"/>
                </a:lnTo>
                <a:cubicBezTo>
                  <a:pt x="5156864" y="774942"/>
                  <a:pt x="5126832" y="804974"/>
                  <a:pt x="5089785" y="804974"/>
                </a:cubicBezTo>
                <a:lnTo>
                  <a:pt x="67078" y="804974"/>
                </a:lnTo>
                <a:cubicBezTo>
                  <a:pt x="30032" y="804974"/>
                  <a:pt x="0" y="774942"/>
                  <a:pt x="0" y="737895"/>
                </a:cubicBezTo>
                <a:lnTo>
                  <a:pt x="0" y="67078"/>
                </a:lnTo>
                <a:cubicBezTo>
                  <a:pt x="0" y="30032"/>
                  <a:pt x="30032" y="0"/>
                  <a:pt x="67078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79197" y="2138212"/>
            <a:ext cx="587091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9197" y="2322685"/>
            <a:ext cx="5073012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Soft nudges during onboarding highlighting benefits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9197" y="2490388"/>
            <a:ext cx="5073012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Rewards for completing first guided investment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9197" y="2658091"/>
            <a:ext cx="5073012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Gentle default suggestions, not forced flows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4724" y="3060578"/>
            <a:ext cx="5374878" cy="1509326"/>
          </a:xfrm>
          <a:custGeom>
            <a:avLst/>
            <a:gdLst/>
            <a:ahLst/>
            <a:cxnLst/>
            <a:rect l="l" t="t" r="r" b="b"/>
            <a:pathLst>
              <a:path w="5374878" h="1509326">
                <a:moveTo>
                  <a:pt x="33541" y="0"/>
                </a:moveTo>
                <a:lnTo>
                  <a:pt x="5307803" y="0"/>
                </a:lnTo>
                <a:cubicBezTo>
                  <a:pt x="5344847" y="0"/>
                  <a:pt x="5374878" y="30030"/>
                  <a:pt x="5374878" y="67074"/>
                </a:cubicBezTo>
                <a:lnTo>
                  <a:pt x="5374878" y="1442252"/>
                </a:lnTo>
                <a:cubicBezTo>
                  <a:pt x="5374878" y="1479296"/>
                  <a:pt x="5344847" y="1509326"/>
                  <a:pt x="5307803" y="1509326"/>
                </a:cubicBezTo>
                <a:lnTo>
                  <a:pt x="33541" y="1509326"/>
                </a:lnTo>
                <a:cubicBezTo>
                  <a:pt x="15017" y="1509326"/>
                  <a:pt x="0" y="1494309"/>
                  <a:pt x="0" y="147578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94724" y="3060578"/>
            <a:ext cx="33541" cy="1509326"/>
          </a:xfrm>
          <a:custGeom>
            <a:avLst/>
            <a:gdLst/>
            <a:ahLst/>
            <a:cxnLst/>
            <a:rect l="l" t="t" r="r" b="b"/>
            <a:pathLst>
              <a:path w="33541" h="1509326">
                <a:moveTo>
                  <a:pt x="33541" y="0"/>
                </a:moveTo>
                <a:lnTo>
                  <a:pt x="33541" y="0"/>
                </a:lnTo>
                <a:lnTo>
                  <a:pt x="33541" y="1509326"/>
                </a:lnTo>
                <a:lnTo>
                  <a:pt x="33541" y="1509326"/>
                </a:lnTo>
                <a:cubicBezTo>
                  <a:pt x="15017" y="1509326"/>
                  <a:pt x="0" y="1494309"/>
                  <a:pt x="0" y="147578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20" name="Shape 18"/>
          <p:cNvSpPr/>
          <p:nvPr/>
        </p:nvSpPr>
        <p:spPr>
          <a:xfrm>
            <a:off x="628886" y="3194740"/>
            <a:ext cx="134162" cy="134162"/>
          </a:xfrm>
          <a:custGeom>
            <a:avLst/>
            <a:gdLst/>
            <a:ahLst/>
            <a:cxnLst/>
            <a:rect l="l" t="t" r="r" b="b"/>
            <a:pathLst>
              <a:path w="134162" h="134162">
                <a:moveTo>
                  <a:pt x="67081" y="134162"/>
                </a:moveTo>
                <a:cubicBezTo>
                  <a:pt x="104104" y="134162"/>
                  <a:pt x="134162" y="104104"/>
                  <a:pt x="134162" y="67081"/>
                </a:cubicBezTo>
                <a:cubicBezTo>
                  <a:pt x="134162" y="30058"/>
                  <a:pt x="104104" y="0"/>
                  <a:pt x="67081" y="0"/>
                </a:cubicBezTo>
                <a:cubicBezTo>
                  <a:pt x="30058" y="0"/>
                  <a:pt x="0" y="30058"/>
                  <a:pt x="0" y="67081"/>
                </a:cubicBezTo>
                <a:cubicBezTo>
                  <a:pt x="0" y="104104"/>
                  <a:pt x="30058" y="134162"/>
                  <a:pt x="67081" y="134162"/>
                </a:cubicBezTo>
                <a:close/>
                <a:moveTo>
                  <a:pt x="67081" y="35637"/>
                </a:moveTo>
                <a:cubicBezTo>
                  <a:pt x="70566" y="35637"/>
                  <a:pt x="73370" y="38441"/>
                  <a:pt x="73370" y="41926"/>
                </a:cubicBezTo>
                <a:lnTo>
                  <a:pt x="73370" y="71274"/>
                </a:lnTo>
                <a:cubicBezTo>
                  <a:pt x="73370" y="74759"/>
                  <a:pt x="70566" y="77563"/>
                  <a:pt x="67081" y="77563"/>
                </a:cubicBezTo>
                <a:cubicBezTo>
                  <a:pt x="63596" y="77563"/>
                  <a:pt x="60792" y="74759"/>
                  <a:pt x="60792" y="71274"/>
                </a:cubicBezTo>
                <a:lnTo>
                  <a:pt x="60792" y="41926"/>
                </a:lnTo>
                <a:cubicBezTo>
                  <a:pt x="60792" y="38441"/>
                  <a:pt x="63596" y="35637"/>
                  <a:pt x="67081" y="35637"/>
                </a:cubicBezTo>
                <a:close/>
                <a:moveTo>
                  <a:pt x="60085" y="92237"/>
                </a:moveTo>
                <a:cubicBezTo>
                  <a:pt x="59926" y="89640"/>
                  <a:pt x="61221" y="87169"/>
                  <a:pt x="63447" y="85822"/>
                </a:cubicBezTo>
                <a:cubicBezTo>
                  <a:pt x="65673" y="84476"/>
                  <a:pt x="68463" y="84476"/>
                  <a:pt x="70689" y="85822"/>
                </a:cubicBezTo>
                <a:cubicBezTo>
                  <a:pt x="72915" y="87169"/>
                  <a:pt x="74210" y="89640"/>
                  <a:pt x="74051" y="92237"/>
                </a:cubicBezTo>
                <a:cubicBezTo>
                  <a:pt x="74210" y="94834"/>
                  <a:pt x="72915" y="97304"/>
                  <a:pt x="70689" y="98651"/>
                </a:cubicBezTo>
                <a:cubicBezTo>
                  <a:pt x="68463" y="99998"/>
                  <a:pt x="65673" y="99998"/>
                  <a:pt x="63447" y="98651"/>
                </a:cubicBezTo>
                <a:cubicBezTo>
                  <a:pt x="61221" y="97304"/>
                  <a:pt x="59926" y="94834"/>
                  <a:pt x="60085" y="92237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21" name="Text 19"/>
          <p:cNvSpPr/>
          <p:nvPr/>
        </p:nvSpPr>
        <p:spPr>
          <a:xfrm>
            <a:off x="779818" y="3161199"/>
            <a:ext cx="5056242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Pitfall: Over-Reliance on Suggestions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116" y="3429524"/>
            <a:ext cx="521556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might blindly follow without understanding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2116" y="3664308"/>
            <a:ext cx="5156864" cy="804974"/>
          </a:xfrm>
          <a:custGeom>
            <a:avLst/>
            <a:gdLst/>
            <a:ahLst/>
            <a:cxnLst/>
            <a:rect l="l" t="t" r="r" b="b"/>
            <a:pathLst>
              <a:path w="5156864" h="804974">
                <a:moveTo>
                  <a:pt x="67078" y="0"/>
                </a:moveTo>
                <a:lnTo>
                  <a:pt x="5089785" y="0"/>
                </a:lnTo>
                <a:cubicBezTo>
                  <a:pt x="5126832" y="0"/>
                  <a:pt x="5156864" y="30032"/>
                  <a:pt x="5156864" y="67078"/>
                </a:cubicBezTo>
                <a:lnTo>
                  <a:pt x="5156864" y="737895"/>
                </a:lnTo>
                <a:cubicBezTo>
                  <a:pt x="5156864" y="774942"/>
                  <a:pt x="5126832" y="804974"/>
                  <a:pt x="5089785" y="804974"/>
                </a:cubicBezTo>
                <a:lnTo>
                  <a:pt x="67078" y="804974"/>
                </a:lnTo>
                <a:cubicBezTo>
                  <a:pt x="30032" y="804974"/>
                  <a:pt x="0" y="774942"/>
                  <a:pt x="0" y="737895"/>
                </a:cubicBezTo>
                <a:lnTo>
                  <a:pt x="0" y="67078"/>
                </a:lnTo>
                <a:cubicBezTo>
                  <a:pt x="0" y="30032"/>
                  <a:pt x="30032" y="0"/>
                  <a:pt x="67078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79197" y="3748160"/>
            <a:ext cx="587091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9197" y="3932633"/>
            <a:ext cx="5073012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Educational tooltips explaining each recommendation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9197" y="4100336"/>
            <a:ext cx="5073012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Risk disclosures and investment rationale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9197" y="4268039"/>
            <a:ext cx="5073012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Encourage learning through Varsity+ integration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4724" y="4670525"/>
            <a:ext cx="5374878" cy="1509326"/>
          </a:xfrm>
          <a:custGeom>
            <a:avLst/>
            <a:gdLst/>
            <a:ahLst/>
            <a:cxnLst/>
            <a:rect l="l" t="t" r="r" b="b"/>
            <a:pathLst>
              <a:path w="5374878" h="1509326">
                <a:moveTo>
                  <a:pt x="33541" y="0"/>
                </a:moveTo>
                <a:lnTo>
                  <a:pt x="5307803" y="0"/>
                </a:lnTo>
                <a:cubicBezTo>
                  <a:pt x="5344847" y="0"/>
                  <a:pt x="5374878" y="30030"/>
                  <a:pt x="5374878" y="67074"/>
                </a:cubicBezTo>
                <a:lnTo>
                  <a:pt x="5374878" y="1442252"/>
                </a:lnTo>
                <a:cubicBezTo>
                  <a:pt x="5374878" y="1479296"/>
                  <a:pt x="5344847" y="1509326"/>
                  <a:pt x="5307803" y="1509326"/>
                </a:cubicBezTo>
                <a:lnTo>
                  <a:pt x="33541" y="1509326"/>
                </a:lnTo>
                <a:cubicBezTo>
                  <a:pt x="15017" y="1509326"/>
                  <a:pt x="0" y="1494309"/>
                  <a:pt x="0" y="147578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FAFB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94724" y="4670525"/>
            <a:ext cx="33541" cy="1509326"/>
          </a:xfrm>
          <a:custGeom>
            <a:avLst/>
            <a:gdLst/>
            <a:ahLst/>
            <a:cxnLst/>
            <a:rect l="l" t="t" r="r" b="b"/>
            <a:pathLst>
              <a:path w="33541" h="1509326">
                <a:moveTo>
                  <a:pt x="33541" y="0"/>
                </a:moveTo>
                <a:lnTo>
                  <a:pt x="33541" y="0"/>
                </a:lnTo>
                <a:lnTo>
                  <a:pt x="33541" y="1509326"/>
                </a:lnTo>
                <a:lnTo>
                  <a:pt x="33541" y="1509326"/>
                </a:lnTo>
                <a:cubicBezTo>
                  <a:pt x="15017" y="1509326"/>
                  <a:pt x="0" y="1494309"/>
                  <a:pt x="0" y="147578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Shape 28"/>
          <p:cNvSpPr/>
          <p:nvPr/>
        </p:nvSpPr>
        <p:spPr>
          <a:xfrm>
            <a:off x="628886" y="4804688"/>
            <a:ext cx="134162" cy="134162"/>
          </a:xfrm>
          <a:custGeom>
            <a:avLst/>
            <a:gdLst/>
            <a:ahLst/>
            <a:cxnLst/>
            <a:rect l="l" t="t" r="r" b="b"/>
            <a:pathLst>
              <a:path w="134162" h="134162">
                <a:moveTo>
                  <a:pt x="67081" y="134162"/>
                </a:moveTo>
                <a:cubicBezTo>
                  <a:pt x="104104" y="134162"/>
                  <a:pt x="134162" y="104104"/>
                  <a:pt x="134162" y="67081"/>
                </a:cubicBezTo>
                <a:cubicBezTo>
                  <a:pt x="134162" y="30058"/>
                  <a:pt x="104104" y="0"/>
                  <a:pt x="67081" y="0"/>
                </a:cubicBezTo>
                <a:cubicBezTo>
                  <a:pt x="30058" y="0"/>
                  <a:pt x="0" y="30058"/>
                  <a:pt x="0" y="67081"/>
                </a:cubicBezTo>
                <a:cubicBezTo>
                  <a:pt x="0" y="104104"/>
                  <a:pt x="30058" y="134162"/>
                  <a:pt x="67081" y="134162"/>
                </a:cubicBezTo>
                <a:close/>
                <a:moveTo>
                  <a:pt x="67081" y="35637"/>
                </a:moveTo>
                <a:cubicBezTo>
                  <a:pt x="70566" y="35637"/>
                  <a:pt x="73370" y="38441"/>
                  <a:pt x="73370" y="41926"/>
                </a:cubicBezTo>
                <a:lnTo>
                  <a:pt x="73370" y="71274"/>
                </a:lnTo>
                <a:cubicBezTo>
                  <a:pt x="73370" y="74759"/>
                  <a:pt x="70566" y="77563"/>
                  <a:pt x="67081" y="77563"/>
                </a:cubicBezTo>
                <a:cubicBezTo>
                  <a:pt x="63596" y="77563"/>
                  <a:pt x="60792" y="74759"/>
                  <a:pt x="60792" y="71274"/>
                </a:cubicBezTo>
                <a:lnTo>
                  <a:pt x="60792" y="41926"/>
                </a:lnTo>
                <a:cubicBezTo>
                  <a:pt x="60792" y="38441"/>
                  <a:pt x="63596" y="35637"/>
                  <a:pt x="67081" y="35637"/>
                </a:cubicBezTo>
                <a:close/>
                <a:moveTo>
                  <a:pt x="60085" y="92237"/>
                </a:moveTo>
                <a:cubicBezTo>
                  <a:pt x="59926" y="89640"/>
                  <a:pt x="61221" y="87169"/>
                  <a:pt x="63447" y="85822"/>
                </a:cubicBezTo>
                <a:cubicBezTo>
                  <a:pt x="65673" y="84476"/>
                  <a:pt x="68463" y="84476"/>
                  <a:pt x="70689" y="85822"/>
                </a:cubicBezTo>
                <a:cubicBezTo>
                  <a:pt x="72915" y="87169"/>
                  <a:pt x="74210" y="89640"/>
                  <a:pt x="74051" y="92237"/>
                </a:cubicBezTo>
                <a:cubicBezTo>
                  <a:pt x="74210" y="94834"/>
                  <a:pt x="72915" y="97304"/>
                  <a:pt x="70689" y="98651"/>
                </a:cubicBezTo>
                <a:cubicBezTo>
                  <a:pt x="68463" y="99998"/>
                  <a:pt x="65673" y="99998"/>
                  <a:pt x="63447" y="98651"/>
                </a:cubicBezTo>
                <a:cubicBezTo>
                  <a:pt x="61221" y="97304"/>
                  <a:pt x="59926" y="94834"/>
                  <a:pt x="60085" y="9223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779818" y="4771147"/>
            <a:ext cx="5056242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Pitfall: Regulatory Concerns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2116" y="5039472"/>
            <a:ext cx="521556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SEBI regulations on investment advice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2116" y="5274256"/>
            <a:ext cx="5156864" cy="804974"/>
          </a:xfrm>
          <a:custGeom>
            <a:avLst/>
            <a:gdLst/>
            <a:ahLst/>
            <a:cxnLst/>
            <a:rect l="l" t="t" r="r" b="b"/>
            <a:pathLst>
              <a:path w="5156864" h="804974">
                <a:moveTo>
                  <a:pt x="67078" y="0"/>
                </a:moveTo>
                <a:lnTo>
                  <a:pt x="5089785" y="0"/>
                </a:lnTo>
                <a:cubicBezTo>
                  <a:pt x="5126832" y="0"/>
                  <a:pt x="5156864" y="30032"/>
                  <a:pt x="5156864" y="67078"/>
                </a:cubicBezTo>
                <a:lnTo>
                  <a:pt x="5156864" y="737895"/>
                </a:lnTo>
                <a:cubicBezTo>
                  <a:pt x="5156864" y="774942"/>
                  <a:pt x="5126832" y="804974"/>
                  <a:pt x="5089785" y="804974"/>
                </a:cubicBezTo>
                <a:lnTo>
                  <a:pt x="67078" y="804974"/>
                </a:lnTo>
                <a:cubicBezTo>
                  <a:pt x="30032" y="804974"/>
                  <a:pt x="0" y="774942"/>
                  <a:pt x="0" y="737895"/>
                </a:cubicBezTo>
                <a:lnTo>
                  <a:pt x="0" y="67078"/>
                </a:lnTo>
                <a:cubicBezTo>
                  <a:pt x="0" y="30032"/>
                  <a:pt x="30032" y="0"/>
                  <a:pt x="67078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79197" y="5358107"/>
            <a:ext cx="587091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9197" y="5542580"/>
            <a:ext cx="5073012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Clear disclaimers: "Suggestions, not advice"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9197" y="5710283"/>
            <a:ext cx="5073012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 maintains full control and decision-making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9197" y="5877986"/>
            <a:ext cx="5073012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Compliance review with legal team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4961" y="976869"/>
            <a:ext cx="5668358" cy="3530146"/>
          </a:xfrm>
          <a:custGeom>
            <a:avLst/>
            <a:gdLst/>
            <a:ahLst/>
            <a:cxnLst/>
            <a:rect l="l" t="t" r="r" b="b"/>
            <a:pathLst>
              <a:path w="5668358" h="3530146">
                <a:moveTo>
                  <a:pt x="100609" y="0"/>
                </a:moveTo>
                <a:lnTo>
                  <a:pt x="5567748" y="0"/>
                </a:lnTo>
                <a:cubicBezTo>
                  <a:pt x="5623313" y="0"/>
                  <a:pt x="5668358" y="45044"/>
                  <a:pt x="5668358" y="100609"/>
                </a:cubicBezTo>
                <a:lnTo>
                  <a:pt x="5668358" y="3429537"/>
                </a:lnTo>
                <a:cubicBezTo>
                  <a:pt x="5668358" y="3485102"/>
                  <a:pt x="5623313" y="3530146"/>
                  <a:pt x="5567748" y="3530146"/>
                </a:cubicBezTo>
                <a:lnTo>
                  <a:pt x="100609" y="3530146"/>
                </a:lnTo>
                <a:cubicBezTo>
                  <a:pt x="45044" y="3530146"/>
                  <a:pt x="0" y="3485102"/>
                  <a:pt x="0" y="3429537"/>
                </a:cubicBezTo>
                <a:lnTo>
                  <a:pt x="0" y="100609"/>
                </a:lnTo>
                <a:cubicBezTo>
                  <a:pt x="0" y="45081"/>
                  <a:pt x="45081" y="0"/>
                  <a:pt x="10060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5155" dist="8385" dir="5400000">
              <a:srgbClr val="000000">
                <a:alpha val="10196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23316" y="1115224"/>
            <a:ext cx="5475499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GTM Strategy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0086" y="1450630"/>
            <a:ext cx="5374878" cy="905596"/>
          </a:xfrm>
          <a:custGeom>
            <a:avLst/>
            <a:gdLst/>
            <a:ahLst/>
            <a:cxnLst/>
            <a:rect l="l" t="t" r="r" b="b"/>
            <a:pathLst>
              <a:path w="5374878" h="905596">
                <a:moveTo>
                  <a:pt x="33541" y="0"/>
                </a:moveTo>
                <a:lnTo>
                  <a:pt x="5307800" y="0"/>
                </a:lnTo>
                <a:cubicBezTo>
                  <a:pt x="5344846" y="0"/>
                  <a:pt x="5374878" y="30032"/>
                  <a:pt x="5374878" y="67077"/>
                </a:cubicBezTo>
                <a:lnTo>
                  <a:pt x="5374878" y="838518"/>
                </a:lnTo>
                <a:cubicBezTo>
                  <a:pt x="5374878" y="875564"/>
                  <a:pt x="5344846" y="905596"/>
                  <a:pt x="5307800" y="905596"/>
                </a:cubicBezTo>
                <a:lnTo>
                  <a:pt x="33541" y="905596"/>
                </a:lnTo>
                <a:cubicBezTo>
                  <a:pt x="15017" y="905596"/>
                  <a:pt x="0" y="890579"/>
                  <a:pt x="0" y="87205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>
                  <a:alpha val="10000"/>
                </a:srgbClr>
              </a:gs>
              <a:gs pos="100000">
                <a:srgbClr val="387ED1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41" name="Shape 39"/>
          <p:cNvSpPr/>
          <p:nvPr/>
        </p:nvSpPr>
        <p:spPr>
          <a:xfrm>
            <a:off x="6340086" y="1450630"/>
            <a:ext cx="33541" cy="905596"/>
          </a:xfrm>
          <a:custGeom>
            <a:avLst/>
            <a:gdLst/>
            <a:ahLst/>
            <a:cxnLst/>
            <a:rect l="l" t="t" r="r" b="b"/>
            <a:pathLst>
              <a:path w="33541" h="905596">
                <a:moveTo>
                  <a:pt x="33541" y="0"/>
                </a:moveTo>
                <a:lnTo>
                  <a:pt x="33541" y="0"/>
                </a:lnTo>
                <a:lnTo>
                  <a:pt x="33541" y="905596"/>
                </a:lnTo>
                <a:lnTo>
                  <a:pt x="33541" y="905596"/>
                </a:lnTo>
                <a:cubicBezTo>
                  <a:pt x="15017" y="905596"/>
                  <a:pt x="0" y="890579"/>
                  <a:pt x="0" y="87205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387ED1"/>
          </a:solidFill>
          <a:ln/>
        </p:spPr>
      </p:sp>
      <p:sp>
        <p:nvSpPr>
          <p:cNvPr id="42" name="Text 40"/>
          <p:cNvSpPr/>
          <p:nvPr/>
        </p:nvSpPr>
        <p:spPr>
          <a:xfrm>
            <a:off x="6457478" y="1551252"/>
            <a:ext cx="5223945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2" b="1" dirty="0">
                <a:solidFill>
                  <a:srgbClr val="FFFFFF"/>
                </a:solidFill>
                <a:highlight>
                  <a:srgbClr val="387ED1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1 </a:t>
            </a:r>
            <a:pPr>
              <a:lnSpc>
                <a:spcPct val="130000"/>
              </a:lnSpc>
            </a:pPr>
            <a:r>
              <a:rPr lang="en-US" sz="105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Market Research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57478" y="1819576"/>
            <a:ext cx="521556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risk profiles and test usability with first-time investors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57478" y="2054360"/>
            <a:ext cx="695967" cy="201243"/>
          </a:xfrm>
          <a:custGeom>
            <a:avLst/>
            <a:gdLst/>
            <a:ahLst/>
            <a:cxnLst/>
            <a:rect l="l" t="t" r="r" b="b"/>
            <a:pathLst>
              <a:path w="695967" h="201243">
                <a:moveTo>
                  <a:pt x="100622" y="0"/>
                </a:moveTo>
                <a:lnTo>
                  <a:pt x="595345" y="0"/>
                </a:lnTo>
                <a:cubicBezTo>
                  <a:pt x="650917" y="0"/>
                  <a:pt x="695967" y="45050"/>
                  <a:pt x="695967" y="100622"/>
                </a:cubicBezTo>
                <a:lnTo>
                  <a:pt x="695967" y="100622"/>
                </a:lnTo>
                <a:cubicBezTo>
                  <a:pt x="695967" y="156194"/>
                  <a:pt x="650917" y="201243"/>
                  <a:pt x="595345" y="201243"/>
                </a:cubicBezTo>
                <a:lnTo>
                  <a:pt x="100622" y="201243"/>
                </a:lnTo>
                <a:cubicBezTo>
                  <a:pt x="45087" y="201243"/>
                  <a:pt x="0" y="156156"/>
                  <a:pt x="0" y="100622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387ED1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57478" y="2054360"/>
            <a:ext cx="746278" cy="201243"/>
          </a:xfrm>
          <a:prstGeom prst="rect">
            <a:avLst/>
          </a:prstGeom>
          <a:noFill/>
          <a:ln/>
        </p:spPr>
        <p:txBody>
          <a:bodyPr wrap="square" lIns="67081" tIns="33541" rIns="67081" bIns="33541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387ED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surveys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221051" y="2054360"/>
            <a:ext cx="712737" cy="201243"/>
          </a:xfrm>
          <a:custGeom>
            <a:avLst/>
            <a:gdLst/>
            <a:ahLst/>
            <a:cxnLst/>
            <a:rect l="l" t="t" r="r" b="b"/>
            <a:pathLst>
              <a:path w="712737" h="201243">
                <a:moveTo>
                  <a:pt x="100622" y="0"/>
                </a:moveTo>
                <a:lnTo>
                  <a:pt x="612116" y="0"/>
                </a:lnTo>
                <a:cubicBezTo>
                  <a:pt x="667687" y="0"/>
                  <a:pt x="712737" y="45050"/>
                  <a:pt x="712737" y="100622"/>
                </a:cubicBezTo>
                <a:lnTo>
                  <a:pt x="712737" y="100622"/>
                </a:lnTo>
                <a:cubicBezTo>
                  <a:pt x="712737" y="156194"/>
                  <a:pt x="667687" y="201243"/>
                  <a:pt x="612116" y="201243"/>
                </a:cubicBezTo>
                <a:lnTo>
                  <a:pt x="100622" y="201243"/>
                </a:lnTo>
                <a:cubicBezTo>
                  <a:pt x="45087" y="201243"/>
                  <a:pt x="0" y="156156"/>
                  <a:pt x="0" y="100622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387ED1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221051" y="2054360"/>
            <a:ext cx="763048" cy="201243"/>
          </a:xfrm>
          <a:prstGeom prst="rect">
            <a:avLst/>
          </a:prstGeom>
          <a:noFill/>
          <a:ln/>
        </p:spPr>
        <p:txBody>
          <a:bodyPr wrap="square" lIns="67081" tIns="33541" rIns="67081" bIns="33541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387ED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groups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01655" y="2054360"/>
            <a:ext cx="687582" cy="201243"/>
          </a:xfrm>
          <a:custGeom>
            <a:avLst/>
            <a:gdLst/>
            <a:ahLst/>
            <a:cxnLst/>
            <a:rect l="l" t="t" r="r" b="b"/>
            <a:pathLst>
              <a:path w="687582" h="201243">
                <a:moveTo>
                  <a:pt x="100622" y="0"/>
                </a:moveTo>
                <a:lnTo>
                  <a:pt x="586960" y="0"/>
                </a:lnTo>
                <a:cubicBezTo>
                  <a:pt x="642532" y="0"/>
                  <a:pt x="687582" y="45050"/>
                  <a:pt x="687582" y="100622"/>
                </a:cubicBezTo>
                <a:lnTo>
                  <a:pt x="687582" y="100622"/>
                </a:lnTo>
                <a:cubicBezTo>
                  <a:pt x="687582" y="156194"/>
                  <a:pt x="642532" y="201243"/>
                  <a:pt x="586960" y="201243"/>
                </a:cubicBezTo>
                <a:lnTo>
                  <a:pt x="100622" y="201243"/>
                </a:lnTo>
                <a:cubicBezTo>
                  <a:pt x="45087" y="201243"/>
                  <a:pt x="0" y="156156"/>
                  <a:pt x="0" y="100622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387ED1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001655" y="2054360"/>
            <a:ext cx="737893" cy="201243"/>
          </a:xfrm>
          <a:prstGeom prst="rect">
            <a:avLst/>
          </a:prstGeom>
          <a:noFill/>
          <a:ln/>
        </p:spPr>
        <p:txBody>
          <a:bodyPr wrap="square" lIns="67081" tIns="33541" rIns="67081" bIns="33541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387ED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profiling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40086" y="2456847"/>
            <a:ext cx="5374878" cy="905596"/>
          </a:xfrm>
          <a:custGeom>
            <a:avLst/>
            <a:gdLst/>
            <a:ahLst/>
            <a:cxnLst/>
            <a:rect l="l" t="t" r="r" b="b"/>
            <a:pathLst>
              <a:path w="5374878" h="905596">
                <a:moveTo>
                  <a:pt x="33541" y="0"/>
                </a:moveTo>
                <a:lnTo>
                  <a:pt x="5307800" y="0"/>
                </a:lnTo>
                <a:cubicBezTo>
                  <a:pt x="5344846" y="0"/>
                  <a:pt x="5374878" y="30032"/>
                  <a:pt x="5374878" y="67077"/>
                </a:cubicBezTo>
                <a:lnTo>
                  <a:pt x="5374878" y="838518"/>
                </a:lnTo>
                <a:cubicBezTo>
                  <a:pt x="5374878" y="875564"/>
                  <a:pt x="5344846" y="905596"/>
                  <a:pt x="5307800" y="905596"/>
                </a:cubicBezTo>
                <a:lnTo>
                  <a:pt x="33541" y="905596"/>
                </a:lnTo>
                <a:cubicBezTo>
                  <a:pt x="15017" y="905596"/>
                  <a:pt x="0" y="890579"/>
                  <a:pt x="0" y="87205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09C">
                  <a:alpha val="10000"/>
                </a:srgbClr>
              </a:gs>
              <a:gs pos="100000">
                <a:srgbClr val="00D09C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6340086" y="2456847"/>
            <a:ext cx="33541" cy="905596"/>
          </a:xfrm>
          <a:custGeom>
            <a:avLst/>
            <a:gdLst/>
            <a:ahLst/>
            <a:cxnLst/>
            <a:rect l="l" t="t" r="r" b="b"/>
            <a:pathLst>
              <a:path w="33541" h="905596">
                <a:moveTo>
                  <a:pt x="33541" y="0"/>
                </a:moveTo>
                <a:lnTo>
                  <a:pt x="33541" y="0"/>
                </a:lnTo>
                <a:lnTo>
                  <a:pt x="33541" y="905596"/>
                </a:lnTo>
                <a:lnTo>
                  <a:pt x="33541" y="905596"/>
                </a:lnTo>
                <a:cubicBezTo>
                  <a:pt x="15017" y="905596"/>
                  <a:pt x="0" y="890579"/>
                  <a:pt x="0" y="87205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52" name="Text 50"/>
          <p:cNvSpPr/>
          <p:nvPr/>
        </p:nvSpPr>
        <p:spPr>
          <a:xfrm>
            <a:off x="6457478" y="2557469"/>
            <a:ext cx="5223945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2" b="1" dirty="0">
                <a:solidFill>
                  <a:srgbClr val="FFFFFF"/>
                </a:solidFill>
                <a:highlight>
                  <a:srgbClr val="00D09C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2 </a:t>
            </a:r>
            <a:pPr>
              <a:lnSpc>
                <a:spcPct val="130000"/>
              </a:lnSpc>
            </a:pPr>
            <a:r>
              <a:rPr lang="en-US" sz="105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Beta Rollout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57478" y="2825794"/>
            <a:ext cx="521556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for new Zerodha users first, monitor drop-offs and confusion points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57478" y="3060578"/>
            <a:ext cx="612116" cy="201243"/>
          </a:xfrm>
          <a:custGeom>
            <a:avLst/>
            <a:gdLst/>
            <a:ahLst/>
            <a:cxnLst/>
            <a:rect l="l" t="t" r="r" b="b"/>
            <a:pathLst>
              <a:path w="612116" h="201243">
                <a:moveTo>
                  <a:pt x="100622" y="0"/>
                </a:moveTo>
                <a:lnTo>
                  <a:pt x="511494" y="0"/>
                </a:lnTo>
                <a:cubicBezTo>
                  <a:pt x="567066" y="0"/>
                  <a:pt x="612116" y="45050"/>
                  <a:pt x="612116" y="100622"/>
                </a:cubicBezTo>
                <a:lnTo>
                  <a:pt x="612116" y="100622"/>
                </a:lnTo>
                <a:cubicBezTo>
                  <a:pt x="612116" y="156194"/>
                  <a:pt x="567066" y="201243"/>
                  <a:pt x="511494" y="201243"/>
                </a:cubicBezTo>
                <a:lnTo>
                  <a:pt x="100622" y="201243"/>
                </a:lnTo>
                <a:cubicBezTo>
                  <a:pt x="45087" y="201243"/>
                  <a:pt x="0" y="156156"/>
                  <a:pt x="0" y="100622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457478" y="3060578"/>
            <a:ext cx="662426" cy="201243"/>
          </a:xfrm>
          <a:prstGeom prst="rect">
            <a:avLst/>
          </a:prstGeom>
          <a:noFill/>
          <a:ln/>
        </p:spPr>
        <p:txBody>
          <a:bodyPr wrap="square" lIns="67081" tIns="33541" rIns="67081" bIns="33541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00D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A/B testing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134972" y="3060578"/>
            <a:ext cx="788204" cy="201243"/>
          </a:xfrm>
          <a:custGeom>
            <a:avLst/>
            <a:gdLst/>
            <a:ahLst/>
            <a:cxnLst/>
            <a:rect l="l" t="t" r="r" b="b"/>
            <a:pathLst>
              <a:path w="788204" h="201243">
                <a:moveTo>
                  <a:pt x="100622" y="0"/>
                </a:moveTo>
                <a:lnTo>
                  <a:pt x="687582" y="0"/>
                </a:lnTo>
                <a:cubicBezTo>
                  <a:pt x="743154" y="0"/>
                  <a:pt x="788204" y="45050"/>
                  <a:pt x="788204" y="100622"/>
                </a:cubicBezTo>
                <a:lnTo>
                  <a:pt x="788204" y="100622"/>
                </a:lnTo>
                <a:cubicBezTo>
                  <a:pt x="788204" y="156194"/>
                  <a:pt x="743154" y="201243"/>
                  <a:pt x="687582" y="201243"/>
                </a:cubicBezTo>
                <a:lnTo>
                  <a:pt x="100622" y="201243"/>
                </a:lnTo>
                <a:cubicBezTo>
                  <a:pt x="45087" y="201243"/>
                  <a:pt x="0" y="156156"/>
                  <a:pt x="0" y="100622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134972" y="3060578"/>
            <a:ext cx="838514" cy="201243"/>
          </a:xfrm>
          <a:prstGeom prst="rect">
            <a:avLst/>
          </a:prstGeom>
          <a:noFill/>
          <a:ln/>
        </p:spPr>
        <p:txBody>
          <a:bodyPr wrap="square" lIns="67081" tIns="33541" rIns="67081" bIns="33541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00D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Funnel analysis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992353" y="3060578"/>
            <a:ext cx="813359" cy="201243"/>
          </a:xfrm>
          <a:custGeom>
            <a:avLst/>
            <a:gdLst/>
            <a:ahLst/>
            <a:cxnLst/>
            <a:rect l="l" t="t" r="r" b="b"/>
            <a:pathLst>
              <a:path w="813359" h="201243">
                <a:moveTo>
                  <a:pt x="100622" y="0"/>
                </a:moveTo>
                <a:lnTo>
                  <a:pt x="712737" y="0"/>
                </a:lnTo>
                <a:cubicBezTo>
                  <a:pt x="768309" y="0"/>
                  <a:pt x="813359" y="45050"/>
                  <a:pt x="813359" y="100622"/>
                </a:cubicBezTo>
                <a:lnTo>
                  <a:pt x="813359" y="100622"/>
                </a:lnTo>
                <a:cubicBezTo>
                  <a:pt x="813359" y="156194"/>
                  <a:pt x="768309" y="201243"/>
                  <a:pt x="712737" y="201243"/>
                </a:cubicBezTo>
                <a:lnTo>
                  <a:pt x="100622" y="201243"/>
                </a:lnTo>
                <a:cubicBezTo>
                  <a:pt x="45087" y="201243"/>
                  <a:pt x="0" y="156156"/>
                  <a:pt x="0" y="100622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00D09C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992353" y="3060578"/>
            <a:ext cx="863670" cy="201243"/>
          </a:xfrm>
          <a:prstGeom prst="rect">
            <a:avLst/>
          </a:prstGeom>
          <a:noFill/>
          <a:ln/>
        </p:spPr>
        <p:txBody>
          <a:bodyPr wrap="square" lIns="67081" tIns="33541" rIns="67081" bIns="33541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00D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loops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40086" y="3463065"/>
            <a:ext cx="5374878" cy="905596"/>
          </a:xfrm>
          <a:custGeom>
            <a:avLst/>
            <a:gdLst/>
            <a:ahLst/>
            <a:cxnLst/>
            <a:rect l="l" t="t" r="r" b="b"/>
            <a:pathLst>
              <a:path w="5374878" h="905596">
                <a:moveTo>
                  <a:pt x="33541" y="0"/>
                </a:moveTo>
                <a:lnTo>
                  <a:pt x="5307800" y="0"/>
                </a:lnTo>
                <a:cubicBezTo>
                  <a:pt x="5344846" y="0"/>
                  <a:pt x="5374878" y="30032"/>
                  <a:pt x="5374878" y="67077"/>
                </a:cubicBezTo>
                <a:lnTo>
                  <a:pt x="5374878" y="838518"/>
                </a:lnTo>
                <a:cubicBezTo>
                  <a:pt x="5374878" y="875564"/>
                  <a:pt x="5344846" y="905596"/>
                  <a:pt x="5307800" y="905596"/>
                </a:cubicBezTo>
                <a:lnTo>
                  <a:pt x="33541" y="905596"/>
                </a:lnTo>
                <a:cubicBezTo>
                  <a:pt x="15017" y="905596"/>
                  <a:pt x="0" y="890579"/>
                  <a:pt x="0" y="87205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726">
                  <a:alpha val="10000"/>
                </a:srgbClr>
              </a:gs>
              <a:gs pos="100000">
                <a:srgbClr val="FFA726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61" name="Shape 59"/>
          <p:cNvSpPr/>
          <p:nvPr/>
        </p:nvSpPr>
        <p:spPr>
          <a:xfrm>
            <a:off x="6340086" y="3463065"/>
            <a:ext cx="33541" cy="905596"/>
          </a:xfrm>
          <a:custGeom>
            <a:avLst/>
            <a:gdLst/>
            <a:ahLst/>
            <a:cxnLst/>
            <a:rect l="l" t="t" r="r" b="b"/>
            <a:pathLst>
              <a:path w="33541" h="905596">
                <a:moveTo>
                  <a:pt x="33541" y="0"/>
                </a:moveTo>
                <a:lnTo>
                  <a:pt x="33541" y="0"/>
                </a:lnTo>
                <a:lnTo>
                  <a:pt x="33541" y="905596"/>
                </a:lnTo>
                <a:lnTo>
                  <a:pt x="33541" y="905596"/>
                </a:lnTo>
                <a:cubicBezTo>
                  <a:pt x="15017" y="905596"/>
                  <a:pt x="0" y="890579"/>
                  <a:pt x="0" y="87205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62" name="Text 60"/>
          <p:cNvSpPr/>
          <p:nvPr/>
        </p:nvSpPr>
        <p:spPr>
          <a:xfrm>
            <a:off x="6457478" y="3563686"/>
            <a:ext cx="5223945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2" b="1" dirty="0">
                <a:solidFill>
                  <a:srgbClr val="FFFFFF"/>
                </a:solidFill>
                <a:highlight>
                  <a:srgbClr val="FFA726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3 </a:t>
            </a:r>
            <a:pPr>
              <a:lnSpc>
                <a:spcPct val="130000"/>
              </a:lnSpc>
            </a:pPr>
            <a:r>
              <a:rPr lang="en-US" sz="105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Final Launch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57478" y="3832011"/>
            <a:ext cx="521556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rollout with comprehensive marketing and education push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57478" y="4066795"/>
            <a:ext cx="863670" cy="201243"/>
          </a:xfrm>
          <a:custGeom>
            <a:avLst/>
            <a:gdLst/>
            <a:ahLst/>
            <a:cxnLst/>
            <a:rect l="l" t="t" r="r" b="b"/>
            <a:pathLst>
              <a:path w="863670" h="201243">
                <a:moveTo>
                  <a:pt x="100622" y="0"/>
                </a:moveTo>
                <a:lnTo>
                  <a:pt x="763048" y="0"/>
                </a:lnTo>
                <a:cubicBezTo>
                  <a:pt x="818620" y="0"/>
                  <a:pt x="863670" y="45050"/>
                  <a:pt x="863670" y="100622"/>
                </a:cubicBezTo>
                <a:lnTo>
                  <a:pt x="863670" y="100622"/>
                </a:lnTo>
                <a:cubicBezTo>
                  <a:pt x="863670" y="156194"/>
                  <a:pt x="818620" y="201243"/>
                  <a:pt x="763048" y="201243"/>
                </a:cubicBezTo>
                <a:lnTo>
                  <a:pt x="100622" y="201243"/>
                </a:lnTo>
                <a:cubicBezTo>
                  <a:pt x="45087" y="201243"/>
                  <a:pt x="0" y="156156"/>
                  <a:pt x="0" y="100622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457478" y="4066795"/>
            <a:ext cx="913981" cy="201243"/>
          </a:xfrm>
          <a:prstGeom prst="rect">
            <a:avLst/>
          </a:prstGeom>
          <a:noFill/>
          <a:ln/>
        </p:spPr>
        <p:txBody>
          <a:bodyPr wrap="square" lIns="67081" tIns="33541" rIns="67081" bIns="33541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campaigns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387050" y="4066795"/>
            <a:ext cx="804974" cy="201243"/>
          </a:xfrm>
          <a:custGeom>
            <a:avLst/>
            <a:gdLst/>
            <a:ahLst/>
            <a:cxnLst/>
            <a:rect l="l" t="t" r="r" b="b"/>
            <a:pathLst>
              <a:path w="804974" h="201243">
                <a:moveTo>
                  <a:pt x="100622" y="0"/>
                </a:moveTo>
                <a:lnTo>
                  <a:pt x="704352" y="0"/>
                </a:lnTo>
                <a:cubicBezTo>
                  <a:pt x="759924" y="0"/>
                  <a:pt x="804974" y="45050"/>
                  <a:pt x="804974" y="100622"/>
                </a:cubicBezTo>
                <a:lnTo>
                  <a:pt x="804974" y="100622"/>
                </a:lnTo>
                <a:cubicBezTo>
                  <a:pt x="804974" y="156194"/>
                  <a:pt x="759924" y="201243"/>
                  <a:pt x="704352" y="201243"/>
                </a:cubicBezTo>
                <a:lnTo>
                  <a:pt x="100622" y="201243"/>
                </a:lnTo>
                <a:cubicBezTo>
                  <a:pt x="45087" y="201243"/>
                  <a:pt x="0" y="156156"/>
                  <a:pt x="0" y="100622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387050" y="4066795"/>
            <a:ext cx="855285" cy="201243"/>
          </a:xfrm>
          <a:prstGeom prst="rect">
            <a:avLst/>
          </a:prstGeom>
          <a:noFill/>
          <a:ln/>
        </p:spPr>
        <p:txBody>
          <a:bodyPr wrap="square" lIns="67081" tIns="33541" rIns="67081" bIns="33541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In-app banners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60022" y="4066795"/>
            <a:ext cx="788204" cy="201243"/>
          </a:xfrm>
          <a:custGeom>
            <a:avLst/>
            <a:gdLst/>
            <a:ahLst/>
            <a:cxnLst/>
            <a:rect l="l" t="t" r="r" b="b"/>
            <a:pathLst>
              <a:path w="788204" h="201243">
                <a:moveTo>
                  <a:pt x="100622" y="0"/>
                </a:moveTo>
                <a:lnTo>
                  <a:pt x="687582" y="0"/>
                </a:lnTo>
                <a:cubicBezTo>
                  <a:pt x="743154" y="0"/>
                  <a:pt x="788204" y="45050"/>
                  <a:pt x="788204" y="100622"/>
                </a:cubicBezTo>
                <a:lnTo>
                  <a:pt x="788204" y="100622"/>
                </a:lnTo>
                <a:cubicBezTo>
                  <a:pt x="788204" y="156194"/>
                  <a:pt x="743154" y="201243"/>
                  <a:pt x="687582" y="201243"/>
                </a:cubicBezTo>
                <a:lnTo>
                  <a:pt x="100622" y="201243"/>
                </a:lnTo>
                <a:cubicBezTo>
                  <a:pt x="45087" y="201243"/>
                  <a:pt x="0" y="156156"/>
                  <a:pt x="0" y="100622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260022" y="4066795"/>
            <a:ext cx="838514" cy="201243"/>
          </a:xfrm>
          <a:prstGeom prst="rect">
            <a:avLst/>
          </a:prstGeom>
          <a:noFill/>
          <a:ln/>
        </p:spPr>
        <p:txBody>
          <a:bodyPr wrap="square" lIns="67081" tIns="33541" rIns="67081" bIns="33541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Varsity content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80769" y="4645370"/>
            <a:ext cx="5676743" cy="1039758"/>
          </a:xfrm>
          <a:custGeom>
            <a:avLst/>
            <a:gdLst/>
            <a:ahLst/>
            <a:cxnLst/>
            <a:rect l="l" t="t" r="r" b="b"/>
            <a:pathLst>
              <a:path w="5676743" h="1039758">
                <a:moveTo>
                  <a:pt x="100617" y="0"/>
                </a:moveTo>
                <a:lnTo>
                  <a:pt x="5576125" y="0"/>
                </a:lnTo>
                <a:cubicBezTo>
                  <a:pt x="5631695" y="0"/>
                  <a:pt x="5676743" y="45048"/>
                  <a:pt x="5676743" y="100617"/>
                </a:cubicBezTo>
                <a:lnTo>
                  <a:pt x="5676743" y="939141"/>
                </a:lnTo>
                <a:cubicBezTo>
                  <a:pt x="5676743" y="994710"/>
                  <a:pt x="5631695" y="1039758"/>
                  <a:pt x="5576125" y="1039758"/>
                </a:cubicBezTo>
                <a:lnTo>
                  <a:pt x="100617" y="1039758"/>
                </a:lnTo>
                <a:cubicBezTo>
                  <a:pt x="45048" y="1039758"/>
                  <a:pt x="0" y="994710"/>
                  <a:pt x="0" y="939141"/>
                </a:cubicBezTo>
                <a:lnTo>
                  <a:pt x="0" y="100617"/>
                </a:lnTo>
                <a:cubicBezTo>
                  <a:pt x="0" y="45085"/>
                  <a:pt x="45085" y="0"/>
                  <a:pt x="100617" y="0"/>
                </a:cubicBezTo>
                <a:close/>
              </a:path>
            </a:pathLst>
          </a:custGeom>
          <a:gradFill rotWithShape="1" flip="none">
            <a:gsLst>
              <a:gs pos="0">
                <a:srgbClr val="387ED1"/>
              </a:gs>
              <a:gs pos="100000">
                <a:srgbClr val="0056B3"/>
              </a:gs>
            </a:gsLst>
            <a:lin ang="2700000" scaled="1"/>
          </a:gradFill>
          <a:ln/>
        </p:spPr>
      </p:sp>
      <p:sp>
        <p:nvSpPr>
          <p:cNvPr id="71" name="Text 69"/>
          <p:cNvSpPr/>
          <p:nvPr/>
        </p:nvSpPr>
        <p:spPr>
          <a:xfrm>
            <a:off x="6314931" y="4779532"/>
            <a:ext cx="5483884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Timeline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14931" y="5114938"/>
            <a:ext cx="1299697" cy="436028"/>
          </a:xfrm>
          <a:custGeom>
            <a:avLst/>
            <a:gdLst/>
            <a:ahLst/>
            <a:cxnLst/>
            <a:rect l="l" t="t" r="r" b="b"/>
            <a:pathLst>
              <a:path w="1299697" h="436028">
                <a:moveTo>
                  <a:pt x="67083" y="0"/>
                </a:moveTo>
                <a:lnTo>
                  <a:pt x="1232615" y="0"/>
                </a:lnTo>
                <a:cubicBezTo>
                  <a:pt x="1269663" y="0"/>
                  <a:pt x="1299697" y="30034"/>
                  <a:pt x="1299697" y="67083"/>
                </a:cubicBezTo>
                <a:lnTo>
                  <a:pt x="1299697" y="368945"/>
                </a:lnTo>
                <a:cubicBezTo>
                  <a:pt x="1299697" y="405994"/>
                  <a:pt x="1269663" y="436028"/>
                  <a:pt x="1232615" y="436028"/>
                </a:cubicBezTo>
                <a:lnTo>
                  <a:pt x="67083" y="436028"/>
                </a:lnTo>
                <a:cubicBezTo>
                  <a:pt x="30034" y="436028"/>
                  <a:pt x="0" y="405994"/>
                  <a:pt x="0" y="368945"/>
                </a:cubicBezTo>
                <a:lnTo>
                  <a:pt x="0" y="67083"/>
                </a:lnTo>
                <a:cubicBezTo>
                  <a:pt x="0" y="30059"/>
                  <a:pt x="30059" y="0"/>
                  <a:pt x="6708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6352664" y="5182019"/>
            <a:ext cx="122423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1-2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56857" y="5349722"/>
            <a:ext cx="1215846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&amp; Validation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683937" y="5114938"/>
            <a:ext cx="1299697" cy="436028"/>
          </a:xfrm>
          <a:custGeom>
            <a:avLst/>
            <a:gdLst/>
            <a:ahLst/>
            <a:cxnLst/>
            <a:rect l="l" t="t" r="r" b="b"/>
            <a:pathLst>
              <a:path w="1299697" h="436028">
                <a:moveTo>
                  <a:pt x="67083" y="0"/>
                </a:moveTo>
                <a:lnTo>
                  <a:pt x="1232615" y="0"/>
                </a:lnTo>
                <a:cubicBezTo>
                  <a:pt x="1269663" y="0"/>
                  <a:pt x="1299697" y="30034"/>
                  <a:pt x="1299697" y="67083"/>
                </a:cubicBezTo>
                <a:lnTo>
                  <a:pt x="1299697" y="368945"/>
                </a:lnTo>
                <a:cubicBezTo>
                  <a:pt x="1299697" y="405994"/>
                  <a:pt x="1269663" y="436028"/>
                  <a:pt x="1232615" y="436028"/>
                </a:cubicBezTo>
                <a:lnTo>
                  <a:pt x="67083" y="436028"/>
                </a:lnTo>
                <a:cubicBezTo>
                  <a:pt x="30034" y="436028"/>
                  <a:pt x="0" y="405994"/>
                  <a:pt x="0" y="368945"/>
                </a:cubicBezTo>
                <a:lnTo>
                  <a:pt x="0" y="67083"/>
                </a:lnTo>
                <a:cubicBezTo>
                  <a:pt x="0" y="30059"/>
                  <a:pt x="30059" y="0"/>
                  <a:pt x="6708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7721670" y="5182019"/>
            <a:ext cx="122423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3-4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725862" y="5349722"/>
            <a:ext cx="1215846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Beta Testing (10K users)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053074" y="5114938"/>
            <a:ext cx="1299697" cy="436028"/>
          </a:xfrm>
          <a:custGeom>
            <a:avLst/>
            <a:gdLst/>
            <a:ahLst/>
            <a:cxnLst/>
            <a:rect l="l" t="t" r="r" b="b"/>
            <a:pathLst>
              <a:path w="1299697" h="436028">
                <a:moveTo>
                  <a:pt x="67083" y="0"/>
                </a:moveTo>
                <a:lnTo>
                  <a:pt x="1232615" y="0"/>
                </a:lnTo>
                <a:cubicBezTo>
                  <a:pt x="1269663" y="0"/>
                  <a:pt x="1299697" y="30034"/>
                  <a:pt x="1299697" y="67083"/>
                </a:cubicBezTo>
                <a:lnTo>
                  <a:pt x="1299697" y="368945"/>
                </a:lnTo>
                <a:cubicBezTo>
                  <a:pt x="1299697" y="405994"/>
                  <a:pt x="1269663" y="436028"/>
                  <a:pt x="1232615" y="436028"/>
                </a:cubicBezTo>
                <a:lnTo>
                  <a:pt x="67083" y="436028"/>
                </a:lnTo>
                <a:cubicBezTo>
                  <a:pt x="30034" y="436028"/>
                  <a:pt x="0" y="405994"/>
                  <a:pt x="0" y="368945"/>
                </a:cubicBezTo>
                <a:lnTo>
                  <a:pt x="0" y="67083"/>
                </a:lnTo>
                <a:cubicBezTo>
                  <a:pt x="0" y="30059"/>
                  <a:pt x="30059" y="0"/>
                  <a:pt x="6708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9090807" y="5182019"/>
            <a:ext cx="122423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5-6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094999" y="5349722"/>
            <a:ext cx="1215846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 Improvements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0422210" y="5114938"/>
            <a:ext cx="1299697" cy="436028"/>
          </a:xfrm>
          <a:custGeom>
            <a:avLst/>
            <a:gdLst/>
            <a:ahLst/>
            <a:cxnLst/>
            <a:rect l="l" t="t" r="r" b="b"/>
            <a:pathLst>
              <a:path w="1299697" h="436028">
                <a:moveTo>
                  <a:pt x="67083" y="0"/>
                </a:moveTo>
                <a:lnTo>
                  <a:pt x="1232615" y="0"/>
                </a:lnTo>
                <a:cubicBezTo>
                  <a:pt x="1269663" y="0"/>
                  <a:pt x="1299697" y="30034"/>
                  <a:pt x="1299697" y="67083"/>
                </a:cubicBezTo>
                <a:lnTo>
                  <a:pt x="1299697" y="368945"/>
                </a:lnTo>
                <a:cubicBezTo>
                  <a:pt x="1299697" y="405994"/>
                  <a:pt x="1269663" y="436028"/>
                  <a:pt x="1232615" y="436028"/>
                </a:cubicBezTo>
                <a:lnTo>
                  <a:pt x="67083" y="436028"/>
                </a:lnTo>
                <a:cubicBezTo>
                  <a:pt x="30034" y="436028"/>
                  <a:pt x="0" y="405994"/>
                  <a:pt x="0" y="368945"/>
                </a:cubicBezTo>
                <a:lnTo>
                  <a:pt x="0" y="67083"/>
                </a:lnTo>
                <a:cubicBezTo>
                  <a:pt x="0" y="30059"/>
                  <a:pt x="30059" y="0"/>
                  <a:pt x="6708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0459944" y="5182019"/>
            <a:ext cx="122423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7+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464136" y="5349722"/>
            <a:ext cx="1215846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Market Launch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335406" y="6456561"/>
            <a:ext cx="11521188" cy="402487"/>
          </a:xfrm>
          <a:custGeom>
            <a:avLst/>
            <a:gdLst/>
            <a:ahLst/>
            <a:cxnLst/>
            <a:rect l="l" t="t" r="r" b="b"/>
            <a:pathLst>
              <a:path w="11521188" h="402487">
                <a:moveTo>
                  <a:pt x="67082" y="0"/>
                </a:moveTo>
                <a:lnTo>
                  <a:pt x="11454106" y="0"/>
                </a:lnTo>
                <a:cubicBezTo>
                  <a:pt x="11491155" y="0"/>
                  <a:pt x="11521188" y="30034"/>
                  <a:pt x="11521188" y="67082"/>
                </a:cubicBezTo>
                <a:lnTo>
                  <a:pt x="11521188" y="335404"/>
                </a:lnTo>
                <a:cubicBezTo>
                  <a:pt x="11521188" y="372453"/>
                  <a:pt x="11491155" y="402487"/>
                  <a:pt x="11454106" y="402487"/>
                </a:cubicBezTo>
                <a:lnTo>
                  <a:pt x="67082" y="402487"/>
                </a:lnTo>
                <a:cubicBezTo>
                  <a:pt x="30034" y="402487"/>
                  <a:pt x="0" y="372453"/>
                  <a:pt x="0" y="335404"/>
                </a:cubicBezTo>
                <a:lnTo>
                  <a:pt x="0" y="67082"/>
                </a:lnTo>
                <a:cubicBezTo>
                  <a:pt x="0" y="30059"/>
                  <a:pt x="30059" y="0"/>
                  <a:pt x="6708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726">
                  <a:alpha val="10000"/>
                </a:srgbClr>
              </a:gs>
              <a:gs pos="100000">
                <a:srgbClr val="387ED1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85" name="Shape 83"/>
          <p:cNvSpPr/>
          <p:nvPr/>
        </p:nvSpPr>
        <p:spPr>
          <a:xfrm>
            <a:off x="2482265" y="6590724"/>
            <a:ext cx="134162" cy="134162"/>
          </a:xfrm>
          <a:custGeom>
            <a:avLst/>
            <a:gdLst/>
            <a:ahLst/>
            <a:cxnLst/>
            <a:rect l="l" t="t" r="r" b="b"/>
            <a:pathLst>
              <a:path w="134162" h="134162">
                <a:moveTo>
                  <a:pt x="67081" y="0"/>
                </a:moveTo>
                <a:cubicBezTo>
                  <a:pt x="68287" y="0"/>
                  <a:pt x="69492" y="262"/>
                  <a:pt x="70592" y="760"/>
                </a:cubicBezTo>
                <a:lnTo>
                  <a:pt x="119960" y="21697"/>
                </a:lnTo>
                <a:cubicBezTo>
                  <a:pt x="125725" y="24133"/>
                  <a:pt x="130022" y="29820"/>
                  <a:pt x="129996" y="36685"/>
                </a:cubicBezTo>
                <a:cubicBezTo>
                  <a:pt x="129865" y="62679"/>
                  <a:pt x="119174" y="110238"/>
                  <a:pt x="74025" y="131856"/>
                </a:cubicBezTo>
                <a:cubicBezTo>
                  <a:pt x="69649" y="133953"/>
                  <a:pt x="64566" y="133953"/>
                  <a:pt x="60190" y="131856"/>
                </a:cubicBezTo>
                <a:cubicBezTo>
                  <a:pt x="15015" y="110238"/>
                  <a:pt x="4350" y="62679"/>
                  <a:pt x="4219" y="36685"/>
                </a:cubicBezTo>
                <a:cubicBezTo>
                  <a:pt x="4193" y="29820"/>
                  <a:pt x="8490" y="24133"/>
                  <a:pt x="14255" y="21697"/>
                </a:cubicBezTo>
                <a:lnTo>
                  <a:pt x="63596" y="760"/>
                </a:lnTo>
                <a:cubicBezTo>
                  <a:pt x="64697" y="262"/>
                  <a:pt x="65876" y="0"/>
                  <a:pt x="67081" y="0"/>
                </a:cubicBezTo>
                <a:close/>
                <a:moveTo>
                  <a:pt x="67081" y="17504"/>
                </a:moveTo>
                <a:lnTo>
                  <a:pt x="67081" y="116580"/>
                </a:lnTo>
                <a:cubicBezTo>
                  <a:pt x="103242" y="99076"/>
                  <a:pt x="112964" y="60294"/>
                  <a:pt x="113199" y="37078"/>
                </a:cubicBezTo>
                <a:lnTo>
                  <a:pt x="67081" y="17530"/>
                </a:lnTo>
                <a:lnTo>
                  <a:pt x="67081" y="17530"/>
                </a:lnTo>
                <a:close/>
              </a:path>
            </a:pathLst>
          </a:custGeom>
          <a:solidFill>
            <a:srgbClr val="00D09C"/>
          </a:solidFill>
          <a:ln/>
        </p:spPr>
      </p:sp>
      <p:sp>
        <p:nvSpPr>
          <p:cNvPr id="86" name="Text 84"/>
          <p:cNvSpPr/>
          <p:nvPr/>
        </p:nvSpPr>
        <p:spPr>
          <a:xfrm>
            <a:off x="614480" y="6557183"/>
            <a:ext cx="11175033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6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Risk Mitigation:</a:t>
            </a:r>
            <a:pPr algn="ctr">
              <a:lnSpc>
                <a:spcPct val="130000"/>
              </a:lnSpc>
            </a:pPr>
            <a:r>
              <a:rPr lang="en-US" sz="105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Proactive identification and mitigation of potential pitfalls ensures smooth product launch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Zerodha Product Strategy</dc:title>
  <dc:subject>Zerodha Product Strategy</dc:subject>
  <dc:creator>Kimi</dc:creator>
  <cp:lastModifiedBy>Kimi</cp:lastModifiedBy>
  <cp:revision>1</cp:revision>
  <dcterms:created xsi:type="dcterms:W3CDTF">2026-02-11T01:44:40Z</dcterms:created>
  <dcterms:modified xsi:type="dcterms:W3CDTF">2026-02-11T01:44:40Z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{"Label":"Zerodha Product Strategy","ContentProducer":"001191110108MACG2KBH8F10000","ProduceID":"19c48c23-a192-89c7-8000-000000401ac5","ReservedCode1":"","ContentPropagator":"001191110108MACG2KBH8F20000","PropagateID":"19c48c23-a192-89c7-8000-000000401ac5","ReservedCode2":""}</vt:lpwstr>
  </property>
</Properties>
</file>